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0" d="100"/>
          <a:sy n="90" d="100"/>
        </p:scale>
        <p:origin x="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9892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96E"/>
          </a:solidFill>
          <a:ln w="12700">
            <a:solidFill>
              <a:srgbClr val="C9A96E"/>
            </a:solidFill>
            <a:prstDash val="solid"/>
          </a:ln>
        </p:spPr>
        <p:txBody>
          <a:bodyPr/>
          <a:lstStyle/>
          <a:p>
            <a:endParaRPr lang="en-US"/>
          </a:p>
        </p:txBody>
      </p:sp>
      <p:sp>
        <p:nvSpPr>
          <p:cNvPr id="3" name="Shape 1"/>
          <p:cNvSpPr/>
          <p:nvPr/>
        </p:nvSpPr>
        <p:spPr>
          <a:xfrm>
            <a:off x="6858000" y="-1371600"/>
            <a:ext cx="6400800" cy="6400800"/>
          </a:xfrm>
          <a:prstGeom prst="ellipse">
            <a:avLst/>
          </a:prstGeom>
          <a:solidFill>
            <a:srgbClr val="1A1A22">
              <a:alpha val="40000"/>
            </a:srgbClr>
          </a:solidFill>
          <a:ln w="12700">
            <a:solidFill>
              <a:srgbClr val="2A2A38"/>
            </a:solidFill>
            <a:prstDash val="solid"/>
          </a:ln>
        </p:spPr>
        <p:txBody>
          <a:bodyPr/>
          <a:lstStyle/>
          <a:p>
            <a:endParaRPr lang="en-US"/>
          </a:p>
        </p:txBody>
      </p:sp>
      <p:sp>
        <p:nvSpPr>
          <p:cNvPr id="4" name="Shape 2"/>
          <p:cNvSpPr/>
          <p:nvPr/>
        </p:nvSpPr>
        <p:spPr>
          <a:xfrm>
            <a:off x="8961120" y="822960"/>
            <a:ext cx="2743200" cy="256032"/>
          </a:xfrm>
          <a:prstGeom prst="rect">
            <a:avLst/>
          </a:prstGeom>
          <a:solidFill>
            <a:srgbClr val="22222E"/>
          </a:solidFill>
          <a:ln w="6350">
            <a:solidFill>
              <a:srgbClr val="2A2A38"/>
            </a:solidFill>
            <a:prstDash val="solid"/>
          </a:ln>
        </p:spPr>
        <p:txBody>
          <a:bodyPr/>
          <a:lstStyle/>
          <a:p>
            <a:endParaRPr lang="en-US"/>
          </a:p>
        </p:txBody>
      </p:sp>
      <p:sp>
        <p:nvSpPr>
          <p:cNvPr id="5" name="Text 3"/>
          <p:cNvSpPr/>
          <p:nvPr/>
        </p:nvSpPr>
        <p:spPr>
          <a:xfrm>
            <a:off x="8961120" y="822960"/>
            <a:ext cx="2743200" cy="256032"/>
          </a:xfrm>
          <a:prstGeom prst="rect">
            <a:avLst/>
          </a:prstGeom>
          <a:noFill/>
          <a:ln/>
        </p:spPr>
        <p:txBody>
          <a:bodyPr wrap="square" lIns="0" tIns="0" rIns="0" bIns="0" rtlCol="0" anchor="ctr"/>
          <a:lstStyle/>
          <a:p>
            <a:pPr marL="0" indent="0" algn="ctr">
              <a:buNone/>
            </a:pPr>
            <a:r>
              <a:rPr lang="en-US" sz="800" kern="0" spc="200" dirty="0">
                <a:solidFill>
                  <a:srgbClr val="C9A96E"/>
                </a:solidFill>
                <a:latin typeface="Consolas" pitchFamily="34" charset="0"/>
                <a:ea typeface="Consolas" pitchFamily="34" charset="-122"/>
                <a:cs typeface="Consolas" pitchFamily="34" charset="-120"/>
              </a:rPr>
              <a:t>AVANT-GARDE</a:t>
            </a:r>
            <a:endParaRPr lang="en-US" sz="800" dirty="0"/>
          </a:p>
        </p:txBody>
      </p:sp>
      <p:sp>
        <p:nvSpPr>
          <p:cNvPr id="6" name="Shape 4"/>
          <p:cNvSpPr/>
          <p:nvPr/>
        </p:nvSpPr>
        <p:spPr>
          <a:xfrm>
            <a:off x="8961120" y="1170432"/>
            <a:ext cx="2743200" cy="256032"/>
          </a:xfrm>
          <a:prstGeom prst="rect">
            <a:avLst/>
          </a:prstGeom>
          <a:solidFill>
            <a:srgbClr val="22222E"/>
          </a:solidFill>
          <a:ln w="6350">
            <a:solidFill>
              <a:srgbClr val="2A2A38"/>
            </a:solidFill>
            <a:prstDash val="solid"/>
          </a:ln>
        </p:spPr>
        <p:txBody>
          <a:bodyPr/>
          <a:lstStyle/>
          <a:p>
            <a:endParaRPr lang="en-US"/>
          </a:p>
        </p:txBody>
      </p:sp>
      <p:sp>
        <p:nvSpPr>
          <p:cNvPr id="7" name="Text 5"/>
          <p:cNvSpPr/>
          <p:nvPr/>
        </p:nvSpPr>
        <p:spPr>
          <a:xfrm>
            <a:off x="8961120" y="1170432"/>
            <a:ext cx="2743200" cy="256032"/>
          </a:xfrm>
          <a:prstGeom prst="rect">
            <a:avLst/>
          </a:prstGeom>
          <a:noFill/>
          <a:ln/>
        </p:spPr>
        <p:txBody>
          <a:bodyPr wrap="square" lIns="0" tIns="0" rIns="0" bIns="0" rtlCol="0" anchor="ctr"/>
          <a:lstStyle/>
          <a:p>
            <a:pPr marL="0" indent="0" algn="ctr">
              <a:buNone/>
            </a:pPr>
            <a:r>
              <a:rPr lang="en-US" sz="800" kern="0" spc="200" dirty="0">
                <a:solidFill>
                  <a:srgbClr val="6E9EC9"/>
                </a:solidFill>
                <a:latin typeface="Consolas" pitchFamily="34" charset="0"/>
                <a:ea typeface="Consolas" pitchFamily="34" charset="-122"/>
                <a:cs typeface="Consolas" pitchFamily="34" charset="-120"/>
              </a:rPr>
              <a:t>MAINSTREAM LUXURY</a:t>
            </a:r>
            <a:endParaRPr lang="en-US" sz="800" dirty="0"/>
          </a:p>
        </p:txBody>
      </p:sp>
      <p:sp>
        <p:nvSpPr>
          <p:cNvPr id="8" name="Shape 6"/>
          <p:cNvSpPr/>
          <p:nvPr/>
        </p:nvSpPr>
        <p:spPr>
          <a:xfrm>
            <a:off x="8961120" y="1517904"/>
            <a:ext cx="2743200" cy="256032"/>
          </a:xfrm>
          <a:prstGeom prst="rect">
            <a:avLst/>
          </a:prstGeom>
          <a:solidFill>
            <a:srgbClr val="22222E"/>
          </a:solidFill>
          <a:ln w="6350">
            <a:solidFill>
              <a:srgbClr val="2A2A38"/>
            </a:solidFill>
            <a:prstDash val="solid"/>
          </a:ln>
        </p:spPr>
        <p:txBody>
          <a:bodyPr/>
          <a:lstStyle/>
          <a:p>
            <a:endParaRPr lang="en-US"/>
          </a:p>
        </p:txBody>
      </p:sp>
      <p:sp>
        <p:nvSpPr>
          <p:cNvPr id="9" name="Text 7"/>
          <p:cNvSpPr/>
          <p:nvPr/>
        </p:nvSpPr>
        <p:spPr>
          <a:xfrm>
            <a:off x="8961120" y="1517904"/>
            <a:ext cx="2743200" cy="256032"/>
          </a:xfrm>
          <a:prstGeom prst="rect">
            <a:avLst/>
          </a:prstGeom>
          <a:noFill/>
          <a:ln/>
        </p:spPr>
        <p:txBody>
          <a:bodyPr wrap="square" lIns="0" tIns="0" rIns="0" bIns="0" rtlCol="0" anchor="ctr"/>
          <a:lstStyle/>
          <a:p>
            <a:pPr marL="0" indent="0" algn="ctr">
              <a:buNone/>
            </a:pPr>
            <a:r>
              <a:rPr lang="en-US" sz="800" kern="0" spc="200" dirty="0">
                <a:solidFill>
                  <a:srgbClr val="C96E6E"/>
                </a:solidFill>
                <a:latin typeface="Consolas" pitchFamily="34" charset="0"/>
                <a:ea typeface="Consolas" pitchFamily="34" charset="-122"/>
                <a:cs typeface="Consolas" pitchFamily="34" charset="-120"/>
              </a:rPr>
              <a:t>FAST FASHION</a:t>
            </a:r>
            <a:endParaRPr lang="en-US" sz="800" dirty="0"/>
          </a:p>
        </p:txBody>
      </p:sp>
      <p:sp>
        <p:nvSpPr>
          <p:cNvPr id="10" name="Text 8"/>
          <p:cNvSpPr/>
          <p:nvPr/>
        </p:nvSpPr>
        <p:spPr>
          <a:xfrm>
            <a:off x="502920" y="1280160"/>
            <a:ext cx="8229600" cy="1005840"/>
          </a:xfrm>
          <a:prstGeom prst="rect">
            <a:avLst/>
          </a:prstGeom>
          <a:noFill/>
          <a:ln/>
        </p:spPr>
        <p:txBody>
          <a:bodyPr wrap="square" lIns="0" tIns="0" rIns="0" bIns="0" rtlCol="0" anchor="ctr"/>
          <a:lstStyle/>
          <a:p>
            <a:pPr marL="0" indent="0">
              <a:buNone/>
            </a:pPr>
            <a:r>
              <a:rPr lang="en-US" sz="7200" b="1" dirty="0">
                <a:solidFill>
                  <a:srgbClr val="E8E8F0"/>
                </a:solidFill>
                <a:latin typeface="Georgia" pitchFamily="34" charset="0"/>
                <a:ea typeface="Georgia" pitchFamily="34" charset="-122"/>
                <a:cs typeface="Georgia" pitchFamily="34" charset="-120"/>
              </a:rPr>
              <a:t>THE DURABILITY</a:t>
            </a:r>
            <a:endParaRPr lang="en-US" sz="7200" dirty="0"/>
          </a:p>
        </p:txBody>
      </p:sp>
      <p:sp>
        <p:nvSpPr>
          <p:cNvPr id="11" name="Text 9"/>
          <p:cNvSpPr/>
          <p:nvPr/>
        </p:nvSpPr>
        <p:spPr>
          <a:xfrm>
            <a:off x="502920" y="2194560"/>
            <a:ext cx="8229600" cy="1005840"/>
          </a:xfrm>
          <a:prstGeom prst="rect">
            <a:avLst/>
          </a:prstGeom>
          <a:noFill/>
          <a:ln/>
        </p:spPr>
        <p:txBody>
          <a:bodyPr wrap="square" lIns="0" tIns="0" rIns="0" bIns="0" rtlCol="0" anchor="ctr"/>
          <a:lstStyle/>
          <a:p>
            <a:pPr marL="0" indent="0">
              <a:buNone/>
            </a:pPr>
            <a:r>
              <a:rPr lang="en-US" sz="7200" b="1" dirty="0">
                <a:solidFill>
                  <a:srgbClr val="C9A96E"/>
                </a:solidFill>
                <a:latin typeface="Georgia" pitchFamily="34" charset="0"/>
                <a:ea typeface="Georgia" pitchFamily="34" charset="-122"/>
                <a:cs typeface="Georgia" pitchFamily="34" charset="-120"/>
              </a:rPr>
              <a:t>PARADOX</a:t>
            </a:r>
            <a:endParaRPr lang="en-US" sz="7200" dirty="0"/>
          </a:p>
        </p:txBody>
      </p:sp>
      <p:sp>
        <p:nvSpPr>
          <p:cNvPr id="12" name="Text 10"/>
          <p:cNvSpPr/>
          <p:nvPr/>
        </p:nvSpPr>
        <p:spPr>
          <a:xfrm>
            <a:off x="502920" y="3337560"/>
            <a:ext cx="7772400" cy="548640"/>
          </a:xfrm>
          <a:prstGeom prst="rect">
            <a:avLst/>
          </a:prstGeom>
          <a:noFill/>
          <a:ln/>
        </p:spPr>
        <p:txBody>
          <a:bodyPr wrap="square" lIns="0" tIns="0" rIns="0" bIns="0" rtlCol="0" anchor="ctr"/>
          <a:lstStyle/>
          <a:p>
            <a:pPr marL="0" indent="0">
              <a:buNone/>
            </a:pPr>
            <a:r>
              <a:rPr lang="en-US" sz="1600" i="1" dirty="0">
                <a:solidFill>
                  <a:srgbClr val="9898B0"/>
                </a:solidFill>
                <a:latin typeface="Calibri" pitchFamily="34" charset="0"/>
                <a:ea typeface="Calibri" pitchFamily="34" charset="-122"/>
                <a:cs typeface="Calibri" pitchFamily="34" charset="-120"/>
              </a:rPr>
              <a:t>How Avant-Garde Fashion Brands Outlast the Brands That Outspend Them</a:t>
            </a:r>
            <a:endParaRPr lang="en-US" sz="1600" dirty="0"/>
          </a:p>
        </p:txBody>
      </p:sp>
      <p:sp>
        <p:nvSpPr>
          <p:cNvPr id="13" name="Shape 11"/>
          <p:cNvSpPr/>
          <p:nvPr/>
        </p:nvSpPr>
        <p:spPr>
          <a:xfrm>
            <a:off x="502920" y="3977640"/>
            <a:ext cx="5029200" cy="27432"/>
          </a:xfrm>
          <a:prstGeom prst="rect">
            <a:avLst/>
          </a:prstGeom>
          <a:solidFill>
            <a:srgbClr val="2A2A38"/>
          </a:solidFill>
          <a:ln w="12700">
            <a:solidFill>
              <a:srgbClr val="2A2A38"/>
            </a:solidFill>
            <a:prstDash val="solid"/>
          </a:ln>
        </p:spPr>
        <p:txBody>
          <a:bodyPr/>
          <a:lstStyle/>
          <a:p>
            <a:endParaRPr lang="en-US"/>
          </a:p>
        </p:txBody>
      </p:sp>
      <p:sp>
        <p:nvSpPr>
          <p:cNvPr id="14" name="Text 12"/>
          <p:cNvSpPr/>
          <p:nvPr/>
        </p:nvSpPr>
        <p:spPr>
          <a:xfrm>
            <a:off x="502920" y="4114800"/>
            <a:ext cx="9144000" cy="320040"/>
          </a:xfrm>
          <a:prstGeom prst="rect">
            <a:avLst/>
          </a:prstGeom>
          <a:noFill/>
          <a:ln/>
        </p:spPr>
        <p:txBody>
          <a:bodyPr wrap="square" lIns="0" tIns="0" rIns="0" bIns="0" rtlCol="0" anchor="ctr"/>
          <a:lstStyle/>
          <a:p>
            <a:pPr marL="0" indent="0">
              <a:buNone/>
            </a:pPr>
            <a:r>
              <a:rPr lang="en-US" sz="1100" b="1" dirty="0">
                <a:solidFill>
                  <a:srgbClr val="E8E8F0"/>
                </a:solidFill>
                <a:latin typeface="Calibri" pitchFamily="34" charset="0"/>
                <a:ea typeface="Calibri" pitchFamily="34" charset="-122"/>
                <a:cs typeface="Calibri" pitchFamily="34" charset="-120"/>
              </a:rPr>
              <a:t>Omar Oudrari</a:t>
            </a:r>
            <a:r>
              <a:rPr lang="en-US" sz="1100" dirty="0">
                <a:solidFill>
                  <a:srgbClr val="9898B0"/>
                </a:solidFill>
                <a:latin typeface="Calibri" pitchFamily="34" charset="0"/>
                <a:ea typeface="Calibri" pitchFamily="34" charset="-122"/>
                <a:cs typeface="Calibri" pitchFamily="34" charset="-120"/>
              </a:rPr>
              <a:t>   ·   JMU College of Business</a:t>
            </a:r>
            <a:endParaRPr lang="en-US" sz="1100" dirty="0"/>
          </a:p>
        </p:txBody>
      </p:sp>
      <p:sp>
        <p:nvSpPr>
          <p:cNvPr id="15" name="Text 13"/>
          <p:cNvSpPr/>
          <p:nvPr/>
        </p:nvSpPr>
        <p:spPr>
          <a:xfrm>
            <a:off x="502920" y="4663440"/>
            <a:ext cx="10972800" cy="274320"/>
          </a:xfrm>
          <a:prstGeom prst="rect">
            <a:avLst/>
          </a:prstGeom>
          <a:noFill/>
          <a:ln/>
        </p:spPr>
        <p:txBody>
          <a:bodyPr wrap="square" lIns="0" tIns="0" rIns="0" bIns="0" rtlCol="0" anchor="ctr"/>
          <a:lstStyle/>
          <a:p>
            <a:pPr marL="0" indent="0">
              <a:buNone/>
            </a:pPr>
            <a:r>
              <a:rPr lang="en-US" sz="850" i="1" dirty="0">
                <a:solidFill>
                  <a:srgbClr val="5A5A72"/>
                </a:solidFill>
                <a:latin typeface="Calibri" pitchFamily="34" charset="0"/>
                <a:ea typeface="Calibri" pitchFamily="34" charset="-122"/>
                <a:cs typeface="Calibri" pitchFamily="34" charset="-120"/>
              </a:rPr>
              <a:t>Dataset: 12 brands · 18 variables · Sources: OTB Group, Owenscorp, LVMH, Kering, Business of Fashion, Fashion Revolution FTI, Vestiaire Collective, Grailed</a:t>
            </a:r>
            <a:endParaRPr lang="en-US" sz="850" dirty="0"/>
          </a:p>
        </p:txBody>
      </p:sp>
      <p:sp>
        <p:nvSpPr>
          <p:cNvPr id="16" name="Text 14"/>
          <p:cNvSpPr/>
          <p:nvPr/>
        </p:nvSpPr>
        <p:spPr>
          <a:xfrm>
            <a:off x="502920" y="6035040"/>
            <a:ext cx="1828800" cy="274320"/>
          </a:xfrm>
          <a:prstGeom prst="rect">
            <a:avLst/>
          </a:prstGeom>
          <a:noFill/>
          <a:ln/>
        </p:spPr>
        <p:txBody>
          <a:bodyPr wrap="square" lIns="0" tIns="0" rIns="0" bIns="0" rtlCol="0" anchor="ctr"/>
          <a:lstStyle/>
          <a:p>
            <a:pPr marL="0" indent="0" algn="l">
              <a:buNone/>
            </a:pPr>
            <a:r>
              <a:rPr lang="en-US" sz="800" dirty="0">
                <a:solidFill>
                  <a:srgbClr val="C9A96E"/>
                </a:solidFill>
                <a:latin typeface="Calibri" pitchFamily="34" charset="0"/>
                <a:ea typeface="Calibri" pitchFamily="34" charset="-122"/>
                <a:cs typeface="Calibri" pitchFamily="34" charset="-120"/>
              </a:rPr>
              <a:t>Rick Owens</a:t>
            </a:r>
            <a:endParaRPr lang="en-US" sz="800" dirty="0"/>
          </a:p>
        </p:txBody>
      </p:sp>
      <p:sp>
        <p:nvSpPr>
          <p:cNvPr id="17" name="Text 15"/>
          <p:cNvSpPr/>
          <p:nvPr/>
        </p:nvSpPr>
        <p:spPr>
          <a:xfrm>
            <a:off x="2423160" y="6035040"/>
            <a:ext cx="1828800" cy="274320"/>
          </a:xfrm>
          <a:prstGeom prst="rect">
            <a:avLst/>
          </a:prstGeom>
          <a:noFill/>
          <a:ln/>
        </p:spPr>
        <p:txBody>
          <a:bodyPr wrap="square" lIns="0" tIns="0" rIns="0" bIns="0" rtlCol="0" anchor="ctr"/>
          <a:lstStyle/>
          <a:p>
            <a:pPr marL="0" indent="0" algn="l">
              <a:buNone/>
            </a:pPr>
            <a:r>
              <a:rPr lang="en-US" sz="800" dirty="0">
                <a:solidFill>
                  <a:srgbClr val="C9A96E"/>
                </a:solidFill>
                <a:latin typeface="Calibri" pitchFamily="34" charset="0"/>
                <a:ea typeface="Calibri" pitchFamily="34" charset="-122"/>
                <a:cs typeface="Calibri" pitchFamily="34" charset="-120"/>
              </a:rPr>
              <a:t>Maison Margiela</a:t>
            </a:r>
            <a:endParaRPr lang="en-US" sz="800" dirty="0"/>
          </a:p>
        </p:txBody>
      </p:sp>
      <p:sp>
        <p:nvSpPr>
          <p:cNvPr id="18" name="Text 16"/>
          <p:cNvSpPr/>
          <p:nvPr/>
        </p:nvSpPr>
        <p:spPr>
          <a:xfrm>
            <a:off x="4343400" y="6035040"/>
            <a:ext cx="1828800" cy="274320"/>
          </a:xfrm>
          <a:prstGeom prst="rect">
            <a:avLst/>
          </a:prstGeom>
          <a:noFill/>
          <a:ln/>
        </p:spPr>
        <p:txBody>
          <a:bodyPr wrap="square" lIns="0" tIns="0" rIns="0" bIns="0" rtlCol="0" anchor="ctr"/>
          <a:lstStyle/>
          <a:p>
            <a:pPr marL="0" indent="0" algn="l">
              <a:buNone/>
            </a:pPr>
            <a:r>
              <a:rPr lang="en-US" sz="800" dirty="0">
                <a:solidFill>
                  <a:srgbClr val="C9A96E"/>
                </a:solidFill>
                <a:latin typeface="Calibri" pitchFamily="34" charset="0"/>
                <a:ea typeface="Calibri" pitchFamily="34" charset="-122"/>
                <a:cs typeface="Calibri" pitchFamily="34" charset="-120"/>
              </a:rPr>
              <a:t>Comme des Garçons</a:t>
            </a:r>
            <a:endParaRPr lang="en-US" sz="800" dirty="0"/>
          </a:p>
        </p:txBody>
      </p:sp>
      <p:sp>
        <p:nvSpPr>
          <p:cNvPr id="19" name="Text 17"/>
          <p:cNvSpPr/>
          <p:nvPr/>
        </p:nvSpPr>
        <p:spPr>
          <a:xfrm>
            <a:off x="6263640" y="6035040"/>
            <a:ext cx="1828800" cy="274320"/>
          </a:xfrm>
          <a:prstGeom prst="rect">
            <a:avLst/>
          </a:prstGeom>
          <a:noFill/>
          <a:ln/>
        </p:spPr>
        <p:txBody>
          <a:bodyPr wrap="square" lIns="0" tIns="0" rIns="0" bIns="0" rtlCol="0" anchor="ctr"/>
          <a:lstStyle/>
          <a:p>
            <a:pPr marL="0" indent="0" algn="l">
              <a:buNone/>
            </a:pPr>
            <a:r>
              <a:rPr lang="en-US" sz="800" dirty="0">
                <a:solidFill>
                  <a:srgbClr val="C9A96E"/>
                </a:solidFill>
                <a:latin typeface="Calibri" pitchFamily="34" charset="0"/>
                <a:ea typeface="Calibri" pitchFamily="34" charset="-122"/>
                <a:cs typeface="Calibri" pitchFamily="34" charset="-120"/>
              </a:rPr>
              <a:t>Yohji Yamamoto</a:t>
            </a:r>
            <a:endParaRPr lang="en-US" sz="800" dirty="0"/>
          </a:p>
        </p:txBody>
      </p:sp>
      <p:sp>
        <p:nvSpPr>
          <p:cNvPr id="20" name="Text 18"/>
          <p:cNvSpPr/>
          <p:nvPr/>
        </p:nvSpPr>
        <p:spPr>
          <a:xfrm>
            <a:off x="8183880" y="6035040"/>
            <a:ext cx="1828800" cy="274320"/>
          </a:xfrm>
          <a:prstGeom prst="rect">
            <a:avLst/>
          </a:prstGeom>
          <a:noFill/>
          <a:ln/>
        </p:spPr>
        <p:txBody>
          <a:bodyPr wrap="square" lIns="0" tIns="0" rIns="0" bIns="0" rtlCol="0" anchor="ctr"/>
          <a:lstStyle/>
          <a:p>
            <a:pPr marL="0" indent="0" algn="l">
              <a:buNone/>
            </a:pPr>
            <a:r>
              <a:rPr lang="en-US" sz="800" dirty="0">
                <a:solidFill>
                  <a:srgbClr val="C9A96E"/>
                </a:solidFill>
                <a:latin typeface="Calibri" pitchFamily="34" charset="0"/>
                <a:ea typeface="Calibri" pitchFamily="34" charset="-122"/>
                <a:cs typeface="Calibri" pitchFamily="34" charset="-120"/>
              </a:rPr>
              <a:t>Ann Demeulemeester</a:t>
            </a:r>
            <a:endParaRPr lang="en-US" sz="800" dirty="0"/>
          </a:p>
        </p:txBody>
      </p:sp>
      <p:sp>
        <p:nvSpPr>
          <p:cNvPr id="21" name="Text 19"/>
          <p:cNvSpPr/>
          <p:nvPr/>
        </p:nvSpPr>
        <p:spPr>
          <a:xfrm>
            <a:off x="10104120" y="6035040"/>
            <a:ext cx="1828800" cy="274320"/>
          </a:xfrm>
          <a:prstGeom prst="rect">
            <a:avLst/>
          </a:prstGeom>
          <a:noFill/>
          <a:ln/>
        </p:spPr>
        <p:txBody>
          <a:bodyPr wrap="square" lIns="0" tIns="0" rIns="0" bIns="0" rtlCol="0" anchor="ctr"/>
          <a:lstStyle/>
          <a:p>
            <a:pPr marL="0" indent="0" algn="l">
              <a:buNone/>
            </a:pPr>
            <a:r>
              <a:rPr lang="en-US" sz="800" dirty="0">
                <a:solidFill>
                  <a:srgbClr val="C9A96E"/>
                </a:solidFill>
                <a:latin typeface="Calibri" pitchFamily="34" charset="0"/>
                <a:ea typeface="Calibri" pitchFamily="34" charset="-122"/>
                <a:cs typeface="Calibri" pitchFamily="34" charset="-120"/>
              </a:rPr>
              <a:t>Helmut Lang</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365760"/>
            <a:ext cx="4572000" cy="457200"/>
          </a:xfrm>
          <a:prstGeom prst="rect">
            <a:avLst/>
          </a:prstGeom>
          <a:noFill/>
          <a:ln/>
        </p:spPr>
        <p:txBody>
          <a:bodyPr wrap="square" lIns="0" tIns="0" rIns="0" bIns="0" rtlCol="0" anchor="ctr"/>
          <a:lstStyle/>
          <a:p>
            <a:pPr marL="0" indent="0">
              <a:buNone/>
            </a:pPr>
            <a:r>
              <a:rPr lang="en-US" sz="1100" kern="0" spc="400" dirty="0">
                <a:solidFill>
                  <a:srgbClr val="C9A96E"/>
                </a:solidFill>
                <a:latin typeface="Consolas" pitchFamily="34" charset="0"/>
                <a:ea typeface="Consolas" pitchFamily="34" charset="-122"/>
                <a:cs typeface="Consolas" pitchFamily="34" charset="-120"/>
              </a:rPr>
              <a:t>CONTENTS</a:t>
            </a:r>
            <a:endParaRPr lang="en-US" sz="1100" dirty="0"/>
          </a:p>
        </p:txBody>
      </p:sp>
      <p:sp>
        <p:nvSpPr>
          <p:cNvPr id="4" name="Shape 2"/>
          <p:cNvSpPr/>
          <p:nvPr/>
        </p:nvSpPr>
        <p:spPr>
          <a:xfrm>
            <a:off x="502920" y="1097280"/>
            <a:ext cx="10789920" cy="530352"/>
          </a:xfrm>
          <a:prstGeom prst="rect">
            <a:avLst/>
          </a:prstGeom>
          <a:solidFill>
            <a:srgbClr val="1A1A22"/>
          </a:solidFill>
          <a:ln w="6350">
            <a:solidFill>
              <a:srgbClr val="2A2A38"/>
            </a:solidFill>
            <a:prstDash val="solid"/>
          </a:ln>
        </p:spPr>
        <p:txBody>
          <a:bodyPr/>
          <a:lstStyle/>
          <a:p>
            <a:endParaRPr lang="en-US"/>
          </a:p>
        </p:txBody>
      </p:sp>
      <p:sp>
        <p:nvSpPr>
          <p:cNvPr id="5" name="Text 3"/>
          <p:cNvSpPr/>
          <p:nvPr/>
        </p:nvSpPr>
        <p:spPr>
          <a:xfrm>
            <a:off x="640080" y="1097280"/>
            <a:ext cx="548640" cy="530352"/>
          </a:xfrm>
          <a:prstGeom prst="rect">
            <a:avLst/>
          </a:prstGeom>
          <a:noFill/>
          <a:ln/>
        </p:spPr>
        <p:txBody>
          <a:bodyPr wrap="square" lIns="0" tIns="0" rIns="0" bIns="0" rtlCol="0" anchor="ctr"/>
          <a:lstStyle/>
          <a:p>
            <a:pPr marL="0" indent="0">
              <a:buNone/>
            </a:pPr>
            <a:r>
              <a:rPr lang="en-US" sz="1800" b="1" dirty="0">
                <a:solidFill>
                  <a:srgbClr val="C9A96E"/>
                </a:solidFill>
                <a:latin typeface="Consolas" pitchFamily="34" charset="0"/>
                <a:ea typeface="Consolas" pitchFamily="34" charset="-122"/>
                <a:cs typeface="Consolas" pitchFamily="34" charset="-120"/>
              </a:rPr>
              <a:t>01</a:t>
            </a:r>
            <a:endParaRPr lang="en-US" sz="1800" dirty="0"/>
          </a:p>
        </p:txBody>
      </p:sp>
      <p:sp>
        <p:nvSpPr>
          <p:cNvPr id="6" name="Text 4"/>
          <p:cNvSpPr/>
          <p:nvPr/>
        </p:nvSpPr>
        <p:spPr>
          <a:xfrm>
            <a:off x="1371600" y="1097280"/>
            <a:ext cx="5029200" cy="320040"/>
          </a:xfrm>
          <a:prstGeom prst="rect">
            <a:avLst/>
          </a:prstGeom>
          <a:noFill/>
          <a:ln/>
        </p:spPr>
        <p:txBody>
          <a:bodyPr wrap="square" lIns="0" tIns="0" rIns="0" bIns="0" rtlCol="0" anchor="b"/>
          <a:lstStyle/>
          <a:p>
            <a:pPr marL="0" indent="0">
              <a:buNone/>
            </a:pPr>
            <a:r>
              <a:rPr lang="en-US" sz="1300" b="1" dirty="0">
                <a:solidFill>
                  <a:srgbClr val="E8E8F0"/>
                </a:solidFill>
                <a:latin typeface="Georgia" pitchFamily="34" charset="0"/>
                <a:ea typeface="Georgia" pitchFamily="34" charset="-122"/>
                <a:cs typeface="Georgia" pitchFamily="34" charset="-120"/>
              </a:rPr>
              <a:t>Thesis &amp; Argument</a:t>
            </a:r>
            <a:endParaRPr lang="en-US" sz="1300" dirty="0"/>
          </a:p>
        </p:txBody>
      </p:sp>
      <p:sp>
        <p:nvSpPr>
          <p:cNvPr id="7" name="Text 5"/>
          <p:cNvSpPr/>
          <p:nvPr/>
        </p:nvSpPr>
        <p:spPr>
          <a:xfrm>
            <a:off x="1371600" y="1371600"/>
            <a:ext cx="6400800" cy="237744"/>
          </a:xfrm>
          <a:prstGeom prst="rect">
            <a:avLst/>
          </a:prstGeom>
          <a:noFill/>
          <a:ln/>
        </p:spPr>
        <p:txBody>
          <a:bodyPr wrap="square" lIns="0" tIns="0" rIns="0" bIns="0" rtlCol="0" anchor="t"/>
          <a:lstStyle/>
          <a:p>
            <a:pPr marL="0" indent="0">
              <a:buNone/>
            </a:pPr>
            <a:r>
              <a:rPr lang="en-US" sz="950" dirty="0">
                <a:solidFill>
                  <a:srgbClr val="9898B0"/>
                </a:solidFill>
                <a:latin typeface="Calibri" pitchFamily="34" charset="0"/>
                <a:ea typeface="Calibri" pitchFamily="34" charset="-122"/>
                <a:cs typeface="Calibri" pitchFamily="34" charset="-120"/>
              </a:rPr>
              <a:t>The core claim and why it matters</a:t>
            </a:r>
            <a:endParaRPr lang="en-US" sz="950" dirty="0"/>
          </a:p>
        </p:txBody>
      </p:sp>
      <p:sp>
        <p:nvSpPr>
          <p:cNvPr id="8" name="Shape 6"/>
          <p:cNvSpPr/>
          <p:nvPr/>
        </p:nvSpPr>
        <p:spPr>
          <a:xfrm>
            <a:off x="502920" y="1755648"/>
            <a:ext cx="10789920" cy="530352"/>
          </a:xfrm>
          <a:prstGeom prst="rect">
            <a:avLst/>
          </a:prstGeom>
          <a:solidFill>
            <a:srgbClr val="0A0A0F"/>
          </a:solidFill>
          <a:ln w="6350">
            <a:solidFill>
              <a:srgbClr val="2A2A38"/>
            </a:solidFill>
            <a:prstDash val="solid"/>
          </a:ln>
        </p:spPr>
        <p:txBody>
          <a:bodyPr/>
          <a:lstStyle/>
          <a:p>
            <a:endParaRPr lang="en-US"/>
          </a:p>
        </p:txBody>
      </p:sp>
      <p:sp>
        <p:nvSpPr>
          <p:cNvPr id="9" name="Text 7"/>
          <p:cNvSpPr/>
          <p:nvPr/>
        </p:nvSpPr>
        <p:spPr>
          <a:xfrm>
            <a:off x="640080" y="1755648"/>
            <a:ext cx="548640" cy="530352"/>
          </a:xfrm>
          <a:prstGeom prst="rect">
            <a:avLst/>
          </a:prstGeom>
          <a:noFill/>
          <a:ln/>
        </p:spPr>
        <p:txBody>
          <a:bodyPr wrap="square" lIns="0" tIns="0" rIns="0" bIns="0" rtlCol="0" anchor="ctr"/>
          <a:lstStyle/>
          <a:p>
            <a:pPr marL="0" indent="0">
              <a:buNone/>
            </a:pPr>
            <a:r>
              <a:rPr lang="en-US" sz="1800" b="1" dirty="0">
                <a:solidFill>
                  <a:srgbClr val="C9A96E"/>
                </a:solidFill>
                <a:latin typeface="Consolas" pitchFamily="34" charset="0"/>
                <a:ea typeface="Consolas" pitchFamily="34" charset="-122"/>
                <a:cs typeface="Consolas" pitchFamily="34" charset="-120"/>
              </a:rPr>
              <a:t>02</a:t>
            </a:r>
            <a:endParaRPr lang="en-US" sz="1800" dirty="0"/>
          </a:p>
        </p:txBody>
      </p:sp>
      <p:sp>
        <p:nvSpPr>
          <p:cNvPr id="10" name="Text 8"/>
          <p:cNvSpPr/>
          <p:nvPr/>
        </p:nvSpPr>
        <p:spPr>
          <a:xfrm>
            <a:off x="1371600" y="1755648"/>
            <a:ext cx="5029200" cy="320040"/>
          </a:xfrm>
          <a:prstGeom prst="rect">
            <a:avLst/>
          </a:prstGeom>
          <a:noFill/>
          <a:ln/>
        </p:spPr>
        <p:txBody>
          <a:bodyPr wrap="square" lIns="0" tIns="0" rIns="0" bIns="0" rtlCol="0" anchor="b"/>
          <a:lstStyle/>
          <a:p>
            <a:pPr marL="0" indent="0">
              <a:buNone/>
            </a:pPr>
            <a:r>
              <a:rPr lang="en-US" sz="1300" b="1" dirty="0">
                <a:solidFill>
                  <a:srgbClr val="E8E8F0"/>
                </a:solidFill>
                <a:latin typeface="Georgia" pitchFamily="34" charset="0"/>
                <a:ea typeface="Georgia" pitchFamily="34" charset="-122"/>
                <a:cs typeface="Georgia" pitchFamily="34" charset="-120"/>
              </a:rPr>
              <a:t>Industry Context</a:t>
            </a:r>
            <a:endParaRPr lang="en-US" sz="1300" dirty="0"/>
          </a:p>
        </p:txBody>
      </p:sp>
      <p:sp>
        <p:nvSpPr>
          <p:cNvPr id="11" name="Text 9"/>
          <p:cNvSpPr/>
          <p:nvPr/>
        </p:nvSpPr>
        <p:spPr>
          <a:xfrm>
            <a:off x="1371600" y="2029968"/>
            <a:ext cx="6400800" cy="237744"/>
          </a:xfrm>
          <a:prstGeom prst="rect">
            <a:avLst/>
          </a:prstGeom>
          <a:noFill/>
          <a:ln/>
        </p:spPr>
        <p:txBody>
          <a:bodyPr wrap="square" lIns="0" tIns="0" rIns="0" bIns="0" rtlCol="0" anchor="t"/>
          <a:lstStyle/>
          <a:p>
            <a:pPr marL="0" indent="0">
              <a:buNone/>
            </a:pPr>
            <a:r>
              <a:rPr lang="en-US" sz="950" dirty="0">
                <a:solidFill>
                  <a:srgbClr val="9898B0"/>
                </a:solidFill>
                <a:latin typeface="Calibri" pitchFamily="34" charset="0"/>
                <a:ea typeface="Calibri" pitchFamily="34" charset="-122"/>
                <a:cs typeface="Calibri" pitchFamily="34" charset="-120"/>
              </a:rPr>
              <a:t>Three-tier landscape: avant-garde, mainstream luxury, fast fashion</a:t>
            </a:r>
            <a:endParaRPr lang="en-US" sz="950" dirty="0"/>
          </a:p>
        </p:txBody>
      </p:sp>
      <p:sp>
        <p:nvSpPr>
          <p:cNvPr id="12" name="Shape 10"/>
          <p:cNvSpPr/>
          <p:nvPr/>
        </p:nvSpPr>
        <p:spPr>
          <a:xfrm>
            <a:off x="502920" y="2414016"/>
            <a:ext cx="10789920" cy="530352"/>
          </a:xfrm>
          <a:prstGeom prst="rect">
            <a:avLst/>
          </a:prstGeom>
          <a:solidFill>
            <a:srgbClr val="1A1A22"/>
          </a:solidFill>
          <a:ln w="6350">
            <a:solidFill>
              <a:srgbClr val="2A2A38"/>
            </a:solidFill>
            <a:prstDash val="solid"/>
          </a:ln>
        </p:spPr>
        <p:txBody>
          <a:bodyPr/>
          <a:lstStyle/>
          <a:p>
            <a:endParaRPr lang="en-US"/>
          </a:p>
        </p:txBody>
      </p:sp>
      <p:sp>
        <p:nvSpPr>
          <p:cNvPr id="13" name="Text 11"/>
          <p:cNvSpPr/>
          <p:nvPr/>
        </p:nvSpPr>
        <p:spPr>
          <a:xfrm>
            <a:off x="640080" y="2414016"/>
            <a:ext cx="548640" cy="530352"/>
          </a:xfrm>
          <a:prstGeom prst="rect">
            <a:avLst/>
          </a:prstGeom>
          <a:noFill/>
          <a:ln/>
        </p:spPr>
        <p:txBody>
          <a:bodyPr wrap="square" lIns="0" tIns="0" rIns="0" bIns="0" rtlCol="0" anchor="ctr"/>
          <a:lstStyle/>
          <a:p>
            <a:pPr marL="0" indent="0">
              <a:buNone/>
            </a:pPr>
            <a:r>
              <a:rPr lang="en-US" sz="1800" b="1" dirty="0">
                <a:solidFill>
                  <a:srgbClr val="C9A96E"/>
                </a:solidFill>
                <a:latin typeface="Consolas" pitchFamily="34" charset="0"/>
                <a:ea typeface="Consolas" pitchFamily="34" charset="-122"/>
                <a:cs typeface="Consolas" pitchFamily="34" charset="-120"/>
              </a:rPr>
              <a:t>03</a:t>
            </a:r>
            <a:endParaRPr lang="en-US" sz="1800" dirty="0"/>
          </a:p>
        </p:txBody>
      </p:sp>
      <p:sp>
        <p:nvSpPr>
          <p:cNvPr id="14" name="Text 12"/>
          <p:cNvSpPr/>
          <p:nvPr/>
        </p:nvSpPr>
        <p:spPr>
          <a:xfrm>
            <a:off x="1371600" y="2414016"/>
            <a:ext cx="5029200" cy="320040"/>
          </a:xfrm>
          <a:prstGeom prst="rect">
            <a:avLst/>
          </a:prstGeom>
          <a:noFill/>
          <a:ln/>
        </p:spPr>
        <p:txBody>
          <a:bodyPr wrap="square" lIns="0" tIns="0" rIns="0" bIns="0" rtlCol="0" anchor="b"/>
          <a:lstStyle/>
          <a:p>
            <a:pPr marL="0" indent="0">
              <a:buNone/>
            </a:pPr>
            <a:r>
              <a:rPr lang="en-US" sz="1300" b="1" dirty="0">
                <a:solidFill>
                  <a:srgbClr val="E8E8F0"/>
                </a:solidFill>
                <a:latin typeface="Georgia" pitchFamily="34" charset="0"/>
                <a:ea typeface="Georgia" pitchFamily="34" charset="-122"/>
                <a:cs typeface="Georgia" pitchFamily="34" charset="-120"/>
              </a:rPr>
              <a:t>The Anti-Virality Paradox</a:t>
            </a:r>
            <a:endParaRPr lang="en-US" sz="1300" dirty="0"/>
          </a:p>
        </p:txBody>
      </p:sp>
      <p:sp>
        <p:nvSpPr>
          <p:cNvPr id="15" name="Text 13"/>
          <p:cNvSpPr/>
          <p:nvPr/>
        </p:nvSpPr>
        <p:spPr>
          <a:xfrm>
            <a:off x="1371600" y="2688336"/>
            <a:ext cx="6400800" cy="237744"/>
          </a:xfrm>
          <a:prstGeom prst="rect">
            <a:avLst/>
          </a:prstGeom>
          <a:noFill/>
          <a:ln/>
        </p:spPr>
        <p:txBody>
          <a:bodyPr wrap="square" lIns="0" tIns="0" rIns="0" bIns="0" rtlCol="0" anchor="t"/>
          <a:lstStyle/>
          <a:p>
            <a:pPr marL="0" indent="0">
              <a:buNone/>
            </a:pPr>
            <a:r>
              <a:rPr lang="en-US" sz="950" dirty="0">
                <a:solidFill>
                  <a:srgbClr val="9898B0"/>
                </a:solidFill>
                <a:latin typeface="Calibri" pitchFamily="34" charset="0"/>
                <a:ea typeface="Calibri" pitchFamily="34" charset="-122"/>
                <a:cs typeface="Calibri" pitchFamily="34" charset="-120"/>
              </a:rPr>
              <a:t>Revenue vs. social media scale</a:t>
            </a:r>
            <a:endParaRPr lang="en-US" sz="950" dirty="0"/>
          </a:p>
        </p:txBody>
      </p:sp>
      <p:sp>
        <p:nvSpPr>
          <p:cNvPr id="16" name="Shape 14"/>
          <p:cNvSpPr/>
          <p:nvPr/>
        </p:nvSpPr>
        <p:spPr>
          <a:xfrm>
            <a:off x="502920" y="3072384"/>
            <a:ext cx="10789920" cy="530352"/>
          </a:xfrm>
          <a:prstGeom prst="rect">
            <a:avLst/>
          </a:prstGeom>
          <a:solidFill>
            <a:srgbClr val="0A0A0F"/>
          </a:solidFill>
          <a:ln w="6350">
            <a:solidFill>
              <a:srgbClr val="2A2A38"/>
            </a:solidFill>
            <a:prstDash val="solid"/>
          </a:ln>
        </p:spPr>
        <p:txBody>
          <a:bodyPr/>
          <a:lstStyle/>
          <a:p>
            <a:endParaRPr lang="en-US"/>
          </a:p>
        </p:txBody>
      </p:sp>
      <p:sp>
        <p:nvSpPr>
          <p:cNvPr id="17" name="Text 15"/>
          <p:cNvSpPr/>
          <p:nvPr/>
        </p:nvSpPr>
        <p:spPr>
          <a:xfrm>
            <a:off x="640080" y="3072384"/>
            <a:ext cx="548640" cy="530352"/>
          </a:xfrm>
          <a:prstGeom prst="rect">
            <a:avLst/>
          </a:prstGeom>
          <a:noFill/>
          <a:ln/>
        </p:spPr>
        <p:txBody>
          <a:bodyPr wrap="square" lIns="0" tIns="0" rIns="0" bIns="0" rtlCol="0" anchor="ctr"/>
          <a:lstStyle/>
          <a:p>
            <a:pPr marL="0" indent="0">
              <a:buNone/>
            </a:pPr>
            <a:r>
              <a:rPr lang="en-US" sz="1800" b="1" dirty="0">
                <a:solidFill>
                  <a:srgbClr val="C9A96E"/>
                </a:solidFill>
                <a:latin typeface="Consolas" pitchFamily="34" charset="0"/>
                <a:ea typeface="Consolas" pitchFamily="34" charset="-122"/>
                <a:cs typeface="Consolas" pitchFamily="34" charset="-120"/>
              </a:rPr>
              <a:t>04</a:t>
            </a:r>
            <a:endParaRPr lang="en-US" sz="1800" dirty="0"/>
          </a:p>
        </p:txBody>
      </p:sp>
      <p:sp>
        <p:nvSpPr>
          <p:cNvPr id="18" name="Text 16"/>
          <p:cNvSpPr/>
          <p:nvPr/>
        </p:nvSpPr>
        <p:spPr>
          <a:xfrm>
            <a:off x="1371600" y="3072384"/>
            <a:ext cx="5029200" cy="320040"/>
          </a:xfrm>
          <a:prstGeom prst="rect">
            <a:avLst/>
          </a:prstGeom>
          <a:noFill/>
          <a:ln/>
        </p:spPr>
        <p:txBody>
          <a:bodyPr wrap="square" lIns="0" tIns="0" rIns="0" bIns="0" rtlCol="0" anchor="b"/>
          <a:lstStyle/>
          <a:p>
            <a:pPr marL="0" indent="0">
              <a:buNone/>
            </a:pPr>
            <a:r>
              <a:rPr lang="en-US" sz="1300" b="1" dirty="0">
                <a:solidFill>
                  <a:srgbClr val="E8E8F0"/>
                </a:solidFill>
                <a:latin typeface="Georgia" pitchFamily="34" charset="0"/>
                <a:ea typeface="Georgia" pitchFamily="34" charset="-122"/>
                <a:cs typeface="Georgia" pitchFamily="34" charset="-120"/>
              </a:rPr>
              <a:t>The Resale Signal</a:t>
            </a:r>
            <a:endParaRPr lang="en-US" sz="1300" dirty="0"/>
          </a:p>
        </p:txBody>
      </p:sp>
      <p:sp>
        <p:nvSpPr>
          <p:cNvPr id="19" name="Text 17"/>
          <p:cNvSpPr/>
          <p:nvPr/>
        </p:nvSpPr>
        <p:spPr>
          <a:xfrm>
            <a:off x="1371600" y="3346704"/>
            <a:ext cx="6400800" cy="237744"/>
          </a:xfrm>
          <a:prstGeom prst="rect">
            <a:avLst/>
          </a:prstGeom>
          <a:noFill/>
          <a:ln/>
        </p:spPr>
        <p:txBody>
          <a:bodyPr wrap="square" lIns="0" tIns="0" rIns="0" bIns="0" rtlCol="0" anchor="t"/>
          <a:lstStyle/>
          <a:p>
            <a:pPr marL="0" indent="0">
              <a:buNone/>
            </a:pPr>
            <a:r>
              <a:rPr lang="en-US" sz="950" dirty="0">
                <a:solidFill>
                  <a:srgbClr val="9898B0"/>
                </a:solidFill>
                <a:latin typeface="Calibri" pitchFamily="34" charset="0"/>
                <a:ea typeface="Calibri" pitchFamily="34" charset="-122"/>
                <a:cs typeface="Calibri" pitchFamily="34" charset="-120"/>
              </a:rPr>
              <a:t>Secondary market as brand durability proxy</a:t>
            </a:r>
            <a:endParaRPr lang="en-US" sz="950" dirty="0"/>
          </a:p>
        </p:txBody>
      </p:sp>
      <p:sp>
        <p:nvSpPr>
          <p:cNvPr id="20" name="Shape 18"/>
          <p:cNvSpPr/>
          <p:nvPr/>
        </p:nvSpPr>
        <p:spPr>
          <a:xfrm>
            <a:off x="502920" y="3730752"/>
            <a:ext cx="10789920" cy="530352"/>
          </a:xfrm>
          <a:prstGeom prst="rect">
            <a:avLst/>
          </a:prstGeom>
          <a:solidFill>
            <a:srgbClr val="1A1A22"/>
          </a:solidFill>
          <a:ln w="6350">
            <a:solidFill>
              <a:srgbClr val="2A2A38"/>
            </a:solidFill>
            <a:prstDash val="solid"/>
          </a:ln>
        </p:spPr>
        <p:txBody>
          <a:bodyPr/>
          <a:lstStyle/>
          <a:p>
            <a:endParaRPr lang="en-US"/>
          </a:p>
        </p:txBody>
      </p:sp>
      <p:sp>
        <p:nvSpPr>
          <p:cNvPr id="21" name="Text 19"/>
          <p:cNvSpPr/>
          <p:nvPr/>
        </p:nvSpPr>
        <p:spPr>
          <a:xfrm>
            <a:off x="640080" y="3730752"/>
            <a:ext cx="548640" cy="530352"/>
          </a:xfrm>
          <a:prstGeom prst="rect">
            <a:avLst/>
          </a:prstGeom>
          <a:noFill/>
          <a:ln/>
        </p:spPr>
        <p:txBody>
          <a:bodyPr wrap="square" lIns="0" tIns="0" rIns="0" bIns="0" rtlCol="0" anchor="ctr"/>
          <a:lstStyle/>
          <a:p>
            <a:pPr marL="0" indent="0">
              <a:buNone/>
            </a:pPr>
            <a:r>
              <a:rPr lang="en-US" sz="1800" b="1" dirty="0">
                <a:solidFill>
                  <a:srgbClr val="C9A96E"/>
                </a:solidFill>
                <a:latin typeface="Consolas" pitchFamily="34" charset="0"/>
                <a:ea typeface="Consolas" pitchFamily="34" charset="-122"/>
                <a:cs typeface="Consolas" pitchFamily="34" charset="-120"/>
              </a:rPr>
              <a:t>05</a:t>
            </a:r>
            <a:endParaRPr lang="en-US" sz="1800" dirty="0"/>
          </a:p>
        </p:txBody>
      </p:sp>
      <p:sp>
        <p:nvSpPr>
          <p:cNvPr id="22" name="Text 20"/>
          <p:cNvSpPr/>
          <p:nvPr/>
        </p:nvSpPr>
        <p:spPr>
          <a:xfrm>
            <a:off x="1371600" y="3730752"/>
            <a:ext cx="5029200" cy="320040"/>
          </a:xfrm>
          <a:prstGeom prst="rect">
            <a:avLst/>
          </a:prstGeom>
          <a:noFill/>
          <a:ln/>
        </p:spPr>
        <p:txBody>
          <a:bodyPr wrap="square" lIns="0" tIns="0" rIns="0" bIns="0" rtlCol="0" anchor="b"/>
          <a:lstStyle/>
          <a:p>
            <a:pPr marL="0" indent="0">
              <a:buNone/>
            </a:pPr>
            <a:r>
              <a:rPr lang="en-US" sz="1300" b="1" dirty="0">
                <a:solidFill>
                  <a:srgbClr val="E8E8F0"/>
                </a:solidFill>
                <a:latin typeface="Georgia" pitchFamily="34" charset="0"/>
                <a:ea typeface="Georgia" pitchFamily="34" charset="-122"/>
                <a:cs typeface="Georgia" pitchFamily="34" charset="-120"/>
              </a:rPr>
              <a:t>Revenue &amp; Business Model</a:t>
            </a:r>
            <a:endParaRPr lang="en-US" sz="1300" dirty="0"/>
          </a:p>
        </p:txBody>
      </p:sp>
      <p:sp>
        <p:nvSpPr>
          <p:cNvPr id="23" name="Text 21"/>
          <p:cNvSpPr/>
          <p:nvPr/>
        </p:nvSpPr>
        <p:spPr>
          <a:xfrm>
            <a:off x="1371600" y="4005072"/>
            <a:ext cx="6400800" cy="237744"/>
          </a:xfrm>
          <a:prstGeom prst="rect">
            <a:avLst/>
          </a:prstGeom>
          <a:noFill/>
          <a:ln/>
        </p:spPr>
        <p:txBody>
          <a:bodyPr wrap="square" lIns="0" tIns="0" rIns="0" bIns="0" rtlCol="0" anchor="t"/>
          <a:lstStyle/>
          <a:p>
            <a:pPr marL="0" indent="0">
              <a:buNone/>
            </a:pPr>
            <a:r>
              <a:rPr lang="en-US" sz="950" dirty="0">
                <a:solidFill>
                  <a:srgbClr val="9898B0"/>
                </a:solidFill>
                <a:latin typeface="Calibri" pitchFamily="34" charset="0"/>
                <a:ea typeface="Calibri" pitchFamily="34" charset="-122"/>
                <a:cs typeface="Calibri" pitchFamily="34" charset="-120"/>
              </a:rPr>
              <a:t>Growth, DTC strategy, and ownership structure</a:t>
            </a:r>
            <a:endParaRPr lang="en-US" sz="950" dirty="0"/>
          </a:p>
        </p:txBody>
      </p:sp>
      <p:sp>
        <p:nvSpPr>
          <p:cNvPr id="24" name="Shape 22"/>
          <p:cNvSpPr/>
          <p:nvPr/>
        </p:nvSpPr>
        <p:spPr>
          <a:xfrm>
            <a:off x="502920" y="4389120"/>
            <a:ext cx="10789920" cy="530352"/>
          </a:xfrm>
          <a:prstGeom prst="rect">
            <a:avLst/>
          </a:prstGeom>
          <a:solidFill>
            <a:srgbClr val="0A0A0F"/>
          </a:solidFill>
          <a:ln w="6350">
            <a:solidFill>
              <a:srgbClr val="2A2A38"/>
            </a:solidFill>
            <a:prstDash val="solid"/>
          </a:ln>
        </p:spPr>
        <p:txBody>
          <a:bodyPr/>
          <a:lstStyle/>
          <a:p>
            <a:endParaRPr lang="en-US"/>
          </a:p>
        </p:txBody>
      </p:sp>
      <p:sp>
        <p:nvSpPr>
          <p:cNvPr id="25" name="Text 23"/>
          <p:cNvSpPr/>
          <p:nvPr/>
        </p:nvSpPr>
        <p:spPr>
          <a:xfrm>
            <a:off x="640080" y="4389120"/>
            <a:ext cx="548640" cy="530352"/>
          </a:xfrm>
          <a:prstGeom prst="rect">
            <a:avLst/>
          </a:prstGeom>
          <a:noFill/>
          <a:ln/>
        </p:spPr>
        <p:txBody>
          <a:bodyPr wrap="square" lIns="0" tIns="0" rIns="0" bIns="0" rtlCol="0" anchor="ctr"/>
          <a:lstStyle/>
          <a:p>
            <a:pPr marL="0" indent="0">
              <a:buNone/>
            </a:pPr>
            <a:r>
              <a:rPr lang="en-US" sz="1800" b="1" dirty="0">
                <a:solidFill>
                  <a:srgbClr val="C9A96E"/>
                </a:solidFill>
                <a:latin typeface="Consolas" pitchFamily="34" charset="0"/>
                <a:ea typeface="Consolas" pitchFamily="34" charset="-122"/>
                <a:cs typeface="Consolas" pitchFamily="34" charset="-120"/>
              </a:rPr>
              <a:t>06</a:t>
            </a:r>
            <a:endParaRPr lang="en-US" sz="1800" dirty="0"/>
          </a:p>
        </p:txBody>
      </p:sp>
      <p:sp>
        <p:nvSpPr>
          <p:cNvPr id="26" name="Text 24"/>
          <p:cNvSpPr/>
          <p:nvPr/>
        </p:nvSpPr>
        <p:spPr>
          <a:xfrm>
            <a:off x="1371600" y="4389120"/>
            <a:ext cx="5029200" cy="320040"/>
          </a:xfrm>
          <a:prstGeom prst="rect">
            <a:avLst/>
          </a:prstGeom>
          <a:noFill/>
          <a:ln/>
        </p:spPr>
        <p:txBody>
          <a:bodyPr wrap="square" lIns="0" tIns="0" rIns="0" bIns="0" rtlCol="0" anchor="b"/>
          <a:lstStyle/>
          <a:p>
            <a:pPr marL="0" indent="0">
              <a:buNone/>
            </a:pPr>
            <a:r>
              <a:rPr lang="en-US" sz="1300" b="1" dirty="0">
                <a:solidFill>
                  <a:srgbClr val="E8E8F0"/>
                </a:solidFill>
                <a:latin typeface="Georgia" pitchFamily="34" charset="0"/>
                <a:ea typeface="Georgia" pitchFamily="34" charset="-122"/>
                <a:cs typeface="Georgia" pitchFamily="34" charset="-120"/>
              </a:rPr>
              <a:t>Ethics, Transparency &amp; The Regulatory Illusion</a:t>
            </a:r>
            <a:endParaRPr lang="en-US" sz="1300" dirty="0"/>
          </a:p>
        </p:txBody>
      </p:sp>
      <p:sp>
        <p:nvSpPr>
          <p:cNvPr id="27" name="Text 25"/>
          <p:cNvSpPr/>
          <p:nvPr/>
        </p:nvSpPr>
        <p:spPr>
          <a:xfrm>
            <a:off x="1371600" y="4663440"/>
            <a:ext cx="6400800" cy="237744"/>
          </a:xfrm>
          <a:prstGeom prst="rect">
            <a:avLst/>
          </a:prstGeom>
          <a:noFill/>
          <a:ln/>
        </p:spPr>
        <p:txBody>
          <a:bodyPr wrap="square" lIns="0" tIns="0" rIns="0" bIns="0" rtlCol="0" anchor="t"/>
          <a:lstStyle/>
          <a:p>
            <a:pPr marL="0" indent="0">
              <a:buNone/>
            </a:pPr>
            <a:r>
              <a:rPr lang="en-US" sz="950" dirty="0">
                <a:solidFill>
                  <a:srgbClr val="9898B0"/>
                </a:solidFill>
                <a:latin typeface="Calibri" pitchFamily="34" charset="0"/>
                <a:ea typeface="Calibri" pitchFamily="34" charset="-122"/>
                <a:cs typeface="Calibri" pitchFamily="34" charset="-120"/>
              </a:rPr>
              <a:t>Why disclosure scores don't measure ethics</a:t>
            </a:r>
            <a:endParaRPr lang="en-US" sz="950" dirty="0"/>
          </a:p>
        </p:txBody>
      </p:sp>
      <p:sp>
        <p:nvSpPr>
          <p:cNvPr id="28" name="Shape 26"/>
          <p:cNvSpPr/>
          <p:nvPr/>
        </p:nvSpPr>
        <p:spPr>
          <a:xfrm>
            <a:off x="502920" y="5047488"/>
            <a:ext cx="10789920" cy="530352"/>
          </a:xfrm>
          <a:prstGeom prst="rect">
            <a:avLst/>
          </a:prstGeom>
          <a:solidFill>
            <a:srgbClr val="1A1A22"/>
          </a:solidFill>
          <a:ln w="6350">
            <a:solidFill>
              <a:srgbClr val="2A2A38"/>
            </a:solidFill>
            <a:prstDash val="solid"/>
          </a:ln>
        </p:spPr>
        <p:txBody>
          <a:bodyPr/>
          <a:lstStyle/>
          <a:p>
            <a:endParaRPr lang="en-US"/>
          </a:p>
        </p:txBody>
      </p:sp>
      <p:sp>
        <p:nvSpPr>
          <p:cNvPr id="29" name="Text 27"/>
          <p:cNvSpPr/>
          <p:nvPr/>
        </p:nvSpPr>
        <p:spPr>
          <a:xfrm>
            <a:off x="640080" y="5047488"/>
            <a:ext cx="548640" cy="530352"/>
          </a:xfrm>
          <a:prstGeom prst="rect">
            <a:avLst/>
          </a:prstGeom>
          <a:noFill/>
          <a:ln/>
        </p:spPr>
        <p:txBody>
          <a:bodyPr wrap="square" lIns="0" tIns="0" rIns="0" bIns="0" rtlCol="0" anchor="ctr"/>
          <a:lstStyle/>
          <a:p>
            <a:pPr marL="0" indent="0">
              <a:buNone/>
            </a:pPr>
            <a:r>
              <a:rPr lang="en-US" sz="1800" b="1" dirty="0">
                <a:solidFill>
                  <a:srgbClr val="C9A96E"/>
                </a:solidFill>
                <a:latin typeface="Consolas" pitchFamily="34" charset="0"/>
                <a:ea typeface="Consolas" pitchFamily="34" charset="-122"/>
                <a:cs typeface="Consolas" pitchFamily="34" charset="-120"/>
              </a:rPr>
              <a:t>07</a:t>
            </a:r>
            <a:endParaRPr lang="en-US" sz="1800" dirty="0"/>
          </a:p>
        </p:txBody>
      </p:sp>
      <p:sp>
        <p:nvSpPr>
          <p:cNvPr id="30" name="Text 28"/>
          <p:cNvSpPr/>
          <p:nvPr/>
        </p:nvSpPr>
        <p:spPr>
          <a:xfrm>
            <a:off x="1371600" y="5047488"/>
            <a:ext cx="5029200" cy="320040"/>
          </a:xfrm>
          <a:prstGeom prst="rect">
            <a:avLst/>
          </a:prstGeom>
          <a:noFill/>
          <a:ln/>
        </p:spPr>
        <p:txBody>
          <a:bodyPr wrap="square" lIns="0" tIns="0" rIns="0" bIns="0" rtlCol="0" anchor="b"/>
          <a:lstStyle/>
          <a:p>
            <a:pPr marL="0" indent="0">
              <a:buNone/>
            </a:pPr>
            <a:r>
              <a:rPr lang="en-US" sz="1300" b="1" dirty="0">
                <a:solidFill>
                  <a:srgbClr val="E8E8F0"/>
                </a:solidFill>
                <a:latin typeface="Georgia" pitchFamily="34" charset="0"/>
                <a:ea typeface="Georgia" pitchFamily="34" charset="-122"/>
                <a:cs typeface="Georgia" pitchFamily="34" charset="-120"/>
              </a:rPr>
              <a:t>The Archive Premium</a:t>
            </a:r>
            <a:endParaRPr lang="en-US" sz="1300" dirty="0"/>
          </a:p>
        </p:txBody>
      </p:sp>
      <p:sp>
        <p:nvSpPr>
          <p:cNvPr id="31" name="Text 29"/>
          <p:cNvSpPr/>
          <p:nvPr/>
        </p:nvSpPr>
        <p:spPr>
          <a:xfrm>
            <a:off x="1371600" y="5321808"/>
            <a:ext cx="6400800" cy="237744"/>
          </a:xfrm>
          <a:prstGeom prst="rect">
            <a:avLst/>
          </a:prstGeom>
          <a:noFill/>
          <a:ln/>
        </p:spPr>
        <p:txBody>
          <a:bodyPr wrap="square" lIns="0" tIns="0" rIns="0" bIns="0" rtlCol="0" anchor="t"/>
          <a:lstStyle/>
          <a:p>
            <a:pPr marL="0" indent="0">
              <a:buNone/>
            </a:pPr>
            <a:r>
              <a:rPr lang="en-US" sz="950" dirty="0">
                <a:solidFill>
                  <a:srgbClr val="9898B0"/>
                </a:solidFill>
                <a:latin typeface="Calibri" pitchFamily="34" charset="0"/>
                <a:ea typeface="Calibri" pitchFamily="34" charset="-122"/>
                <a:cs typeface="Calibri" pitchFamily="34" charset="-120"/>
              </a:rPr>
              <a:t>When a brand's past is worth more than its present</a:t>
            </a:r>
            <a:endParaRPr lang="en-US" sz="950" dirty="0"/>
          </a:p>
        </p:txBody>
      </p:sp>
      <p:sp>
        <p:nvSpPr>
          <p:cNvPr id="32" name="Shape 30"/>
          <p:cNvSpPr/>
          <p:nvPr/>
        </p:nvSpPr>
        <p:spPr>
          <a:xfrm>
            <a:off x="502920" y="5705856"/>
            <a:ext cx="10789920" cy="530352"/>
          </a:xfrm>
          <a:prstGeom prst="rect">
            <a:avLst/>
          </a:prstGeom>
          <a:solidFill>
            <a:srgbClr val="0A0A0F"/>
          </a:solidFill>
          <a:ln w="6350">
            <a:solidFill>
              <a:srgbClr val="2A2A38"/>
            </a:solidFill>
            <a:prstDash val="solid"/>
          </a:ln>
        </p:spPr>
        <p:txBody>
          <a:bodyPr/>
          <a:lstStyle/>
          <a:p>
            <a:endParaRPr lang="en-US"/>
          </a:p>
        </p:txBody>
      </p:sp>
      <p:sp>
        <p:nvSpPr>
          <p:cNvPr id="33" name="Text 31"/>
          <p:cNvSpPr/>
          <p:nvPr/>
        </p:nvSpPr>
        <p:spPr>
          <a:xfrm>
            <a:off x="640080" y="5705856"/>
            <a:ext cx="548640" cy="530352"/>
          </a:xfrm>
          <a:prstGeom prst="rect">
            <a:avLst/>
          </a:prstGeom>
          <a:noFill/>
          <a:ln/>
        </p:spPr>
        <p:txBody>
          <a:bodyPr wrap="square" lIns="0" tIns="0" rIns="0" bIns="0" rtlCol="0" anchor="ctr"/>
          <a:lstStyle/>
          <a:p>
            <a:pPr marL="0" indent="0">
              <a:buNone/>
            </a:pPr>
            <a:r>
              <a:rPr lang="en-US" sz="1800" b="1" dirty="0">
                <a:solidFill>
                  <a:srgbClr val="C9A96E"/>
                </a:solidFill>
                <a:latin typeface="Consolas" pitchFamily="34" charset="0"/>
                <a:ea typeface="Consolas" pitchFamily="34" charset="-122"/>
                <a:cs typeface="Consolas" pitchFamily="34" charset="-120"/>
              </a:rPr>
              <a:t>08</a:t>
            </a:r>
            <a:endParaRPr lang="en-US" sz="1800" dirty="0"/>
          </a:p>
        </p:txBody>
      </p:sp>
      <p:sp>
        <p:nvSpPr>
          <p:cNvPr id="34" name="Text 32"/>
          <p:cNvSpPr/>
          <p:nvPr/>
        </p:nvSpPr>
        <p:spPr>
          <a:xfrm>
            <a:off x="1371600" y="5705856"/>
            <a:ext cx="5029200" cy="320040"/>
          </a:xfrm>
          <a:prstGeom prst="rect">
            <a:avLst/>
          </a:prstGeom>
          <a:noFill/>
          <a:ln/>
        </p:spPr>
        <p:txBody>
          <a:bodyPr wrap="square" lIns="0" tIns="0" rIns="0" bIns="0" rtlCol="0" anchor="b"/>
          <a:lstStyle/>
          <a:p>
            <a:pPr marL="0" indent="0">
              <a:buNone/>
            </a:pPr>
            <a:r>
              <a:rPr lang="en-US" sz="1300" b="1" dirty="0">
                <a:solidFill>
                  <a:srgbClr val="E8E8F0"/>
                </a:solidFill>
                <a:latin typeface="Georgia" pitchFamily="34" charset="0"/>
                <a:ea typeface="Georgia" pitchFamily="34" charset="-122"/>
                <a:cs typeface="Georgia" pitchFamily="34" charset="-120"/>
              </a:rPr>
              <a:t>Synthesis &amp; Implications</a:t>
            </a:r>
            <a:endParaRPr lang="en-US" sz="1300" dirty="0"/>
          </a:p>
        </p:txBody>
      </p:sp>
      <p:sp>
        <p:nvSpPr>
          <p:cNvPr id="35" name="Text 33"/>
          <p:cNvSpPr/>
          <p:nvPr/>
        </p:nvSpPr>
        <p:spPr>
          <a:xfrm>
            <a:off x="1371600" y="5980176"/>
            <a:ext cx="6400800" cy="237744"/>
          </a:xfrm>
          <a:prstGeom prst="rect">
            <a:avLst/>
          </a:prstGeom>
          <a:noFill/>
          <a:ln/>
        </p:spPr>
        <p:txBody>
          <a:bodyPr wrap="square" lIns="0" tIns="0" rIns="0" bIns="0" rtlCol="0" anchor="t"/>
          <a:lstStyle/>
          <a:p>
            <a:pPr marL="0" indent="0">
              <a:buNone/>
            </a:pPr>
            <a:r>
              <a:rPr lang="en-US" sz="950" dirty="0">
                <a:solidFill>
                  <a:srgbClr val="9898B0"/>
                </a:solidFill>
                <a:latin typeface="Calibri" pitchFamily="34" charset="0"/>
                <a:ea typeface="Calibri" pitchFamily="34" charset="-122"/>
                <a:cs typeface="Calibri" pitchFamily="34" charset="-120"/>
              </a:rPr>
              <a:t>What the data proves about scarcity as strategy</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274320"/>
            <a:ext cx="9144000" cy="320040"/>
          </a:xfrm>
          <a:prstGeom prst="rect">
            <a:avLst/>
          </a:prstGeom>
          <a:noFill/>
          <a:ln/>
        </p:spPr>
        <p:txBody>
          <a:bodyPr wrap="square" lIns="0" tIns="0" rIns="0" bIns="0" rtlCol="0" anchor="ctr"/>
          <a:lstStyle/>
          <a:p>
            <a:pPr marL="0" indent="0">
              <a:buNone/>
            </a:pPr>
            <a:r>
              <a:rPr lang="en-US" sz="900" kern="0" spc="200" dirty="0">
                <a:solidFill>
                  <a:srgbClr val="C9A96E"/>
                </a:solidFill>
                <a:latin typeface="Consolas" pitchFamily="34" charset="0"/>
                <a:ea typeface="Consolas" pitchFamily="34" charset="-122"/>
                <a:cs typeface="Consolas" pitchFamily="34" charset="-120"/>
              </a:rPr>
              <a:t>01  ·  THESIS &amp; ARGUMENT</a:t>
            </a:r>
            <a:endParaRPr lang="en-US" sz="900" dirty="0"/>
          </a:p>
        </p:txBody>
      </p:sp>
      <p:sp>
        <p:nvSpPr>
          <p:cNvPr id="4" name="Shape 2"/>
          <p:cNvSpPr/>
          <p:nvPr/>
        </p:nvSpPr>
        <p:spPr>
          <a:xfrm>
            <a:off x="502920" y="777240"/>
            <a:ext cx="11155680" cy="1645920"/>
          </a:xfrm>
          <a:prstGeom prst="rect">
            <a:avLst/>
          </a:prstGeom>
          <a:solidFill>
            <a:srgbClr val="1A1A22"/>
          </a:solidFill>
          <a:ln w="12700">
            <a:solidFill>
              <a:srgbClr val="C9A96E"/>
            </a:solidFill>
            <a:prstDash val="solid"/>
          </a:ln>
        </p:spPr>
        <p:txBody>
          <a:bodyPr/>
          <a:lstStyle/>
          <a:p>
            <a:endParaRPr lang="en-US"/>
          </a:p>
        </p:txBody>
      </p:sp>
      <p:sp>
        <p:nvSpPr>
          <p:cNvPr id="5" name="Shape 3"/>
          <p:cNvSpPr/>
          <p:nvPr/>
        </p:nvSpPr>
        <p:spPr>
          <a:xfrm>
            <a:off x="502920" y="777240"/>
            <a:ext cx="109728" cy="1645920"/>
          </a:xfrm>
          <a:prstGeom prst="rect">
            <a:avLst/>
          </a:prstGeom>
          <a:solidFill>
            <a:srgbClr val="C9A96E"/>
          </a:solidFill>
          <a:ln w="12700">
            <a:solidFill>
              <a:srgbClr val="C9A96E"/>
            </a:solidFill>
            <a:prstDash val="solid"/>
          </a:ln>
        </p:spPr>
        <p:txBody>
          <a:bodyPr/>
          <a:lstStyle/>
          <a:p>
            <a:endParaRPr lang="en-US"/>
          </a:p>
        </p:txBody>
      </p:sp>
      <p:sp>
        <p:nvSpPr>
          <p:cNvPr id="6" name="Text 4"/>
          <p:cNvSpPr/>
          <p:nvPr/>
        </p:nvSpPr>
        <p:spPr>
          <a:xfrm>
            <a:off x="777240" y="868680"/>
            <a:ext cx="10698480" cy="1463040"/>
          </a:xfrm>
          <a:prstGeom prst="rect">
            <a:avLst/>
          </a:prstGeom>
          <a:noFill/>
          <a:ln/>
        </p:spPr>
        <p:txBody>
          <a:bodyPr wrap="square" lIns="0" tIns="0" rIns="0" bIns="0" rtlCol="0" anchor="ctr"/>
          <a:lstStyle/>
          <a:p>
            <a:pPr marL="0" indent="0">
              <a:buNone/>
            </a:pPr>
            <a:r>
              <a:rPr lang="en-US" sz="1600" i="1" dirty="0">
                <a:solidFill>
                  <a:srgbClr val="E8E8F0"/>
                </a:solidFill>
                <a:latin typeface="Georgia" pitchFamily="34" charset="0"/>
                <a:ea typeface="Georgia" pitchFamily="34" charset="-122"/>
                <a:cs typeface="Georgia" pitchFamily="34" charset="-120"/>
              </a:rPr>
              <a:t>Scarcity, mystique, and designer authorship create brand moats that volume-dependent luxury and trend-dependent fast fashion structurally cannot replicate — making avant-garde brands some of the most durable businesses in fashion despite never chasing scale.</a:t>
            </a:r>
            <a:endParaRPr lang="en-US" sz="1600" dirty="0"/>
          </a:p>
        </p:txBody>
      </p:sp>
      <p:sp>
        <p:nvSpPr>
          <p:cNvPr id="7" name="Shape 5"/>
          <p:cNvSpPr/>
          <p:nvPr/>
        </p:nvSpPr>
        <p:spPr>
          <a:xfrm>
            <a:off x="502920" y="2743200"/>
            <a:ext cx="3566160" cy="3474720"/>
          </a:xfrm>
          <a:prstGeom prst="rect">
            <a:avLst/>
          </a:prstGeom>
          <a:solidFill>
            <a:srgbClr val="1A1A22"/>
          </a:solidFill>
          <a:ln w="6350">
            <a:solidFill>
              <a:srgbClr val="2A2A38"/>
            </a:solidFill>
            <a:prstDash val="solid"/>
          </a:ln>
        </p:spPr>
        <p:txBody>
          <a:bodyPr/>
          <a:lstStyle/>
          <a:p>
            <a:endParaRPr lang="en-US"/>
          </a:p>
        </p:txBody>
      </p:sp>
      <p:sp>
        <p:nvSpPr>
          <p:cNvPr id="8" name="Shape 6"/>
          <p:cNvSpPr/>
          <p:nvPr/>
        </p:nvSpPr>
        <p:spPr>
          <a:xfrm>
            <a:off x="502920" y="2743200"/>
            <a:ext cx="3566160" cy="73152"/>
          </a:xfrm>
          <a:prstGeom prst="rect">
            <a:avLst/>
          </a:prstGeom>
          <a:solidFill>
            <a:srgbClr val="C9A96E"/>
          </a:solidFill>
          <a:ln w="12700">
            <a:solidFill>
              <a:srgbClr val="C9A96E"/>
            </a:solidFill>
            <a:prstDash val="solid"/>
          </a:ln>
        </p:spPr>
        <p:txBody>
          <a:bodyPr/>
          <a:lstStyle/>
          <a:p>
            <a:endParaRPr lang="en-US"/>
          </a:p>
        </p:txBody>
      </p:sp>
      <p:sp>
        <p:nvSpPr>
          <p:cNvPr id="9" name="Text 7"/>
          <p:cNvSpPr/>
          <p:nvPr/>
        </p:nvSpPr>
        <p:spPr>
          <a:xfrm>
            <a:off x="640080" y="2880360"/>
            <a:ext cx="3291840" cy="320040"/>
          </a:xfrm>
          <a:prstGeom prst="rect">
            <a:avLst/>
          </a:prstGeom>
          <a:noFill/>
          <a:ln/>
        </p:spPr>
        <p:txBody>
          <a:bodyPr wrap="square" lIns="0" tIns="0" rIns="0" bIns="0" rtlCol="0" anchor="ctr"/>
          <a:lstStyle/>
          <a:p>
            <a:pPr marL="0" indent="0">
              <a:buNone/>
            </a:pPr>
            <a:r>
              <a:rPr lang="en-US" sz="800" kern="0" spc="300" dirty="0">
                <a:solidFill>
                  <a:srgbClr val="C9A96E"/>
                </a:solidFill>
                <a:latin typeface="Consolas" pitchFamily="34" charset="0"/>
                <a:ea typeface="Consolas" pitchFamily="34" charset="-122"/>
                <a:cs typeface="Consolas" pitchFamily="34" charset="-120"/>
              </a:rPr>
              <a:t>SCARCITY</a:t>
            </a:r>
            <a:endParaRPr lang="en-US" sz="800" dirty="0"/>
          </a:p>
        </p:txBody>
      </p:sp>
      <p:sp>
        <p:nvSpPr>
          <p:cNvPr id="10" name="Text 8"/>
          <p:cNvSpPr/>
          <p:nvPr/>
        </p:nvSpPr>
        <p:spPr>
          <a:xfrm>
            <a:off x="640080" y="3246120"/>
            <a:ext cx="3291840" cy="411480"/>
          </a:xfrm>
          <a:prstGeom prst="rect">
            <a:avLst/>
          </a:prstGeom>
          <a:noFill/>
          <a:ln/>
        </p:spPr>
        <p:txBody>
          <a:bodyPr wrap="square" lIns="0" tIns="0" rIns="0" bIns="0" rtlCol="0" anchor="ctr"/>
          <a:lstStyle/>
          <a:p>
            <a:pPr marL="0" indent="0">
              <a:buNone/>
            </a:pPr>
            <a:r>
              <a:rPr lang="en-US" sz="1400" b="1" dirty="0">
                <a:solidFill>
                  <a:srgbClr val="E8E8F0"/>
                </a:solidFill>
                <a:latin typeface="Georgia" pitchFamily="34" charset="0"/>
                <a:ea typeface="Georgia" pitchFamily="34" charset="-122"/>
                <a:cs typeface="Georgia" pitchFamily="34" charset="-120"/>
              </a:rPr>
              <a:t>Scarcity by Design</a:t>
            </a:r>
            <a:endParaRPr lang="en-US" sz="1400" dirty="0"/>
          </a:p>
        </p:txBody>
      </p:sp>
      <p:sp>
        <p:nvSpPr>
          <p:cNvPr id="11" name="Text 9"/>
          <p:cNvSpPr/>
          <p:nvPr/>
        </p:nvSpPr>
        <p:spPr>
          <a:xfrm>
            <a:off x="640080" y="3749040"/>
            <a:ext cx="3291840" cy="2286000"/>
          </a:xfrm>
          <a:prstGeom prst="rect">
            <a:avLst/>
          </a:prstGeom>
          <a:noFill/>
          <a:ln/>
        </p:spPr>
        <p:txBody>
          <a:bodyPr wrap="square" lIns="0" tIns="0" rIns="0" bIns="0" rtlCol="0" anchor="ctr"/>
          <a:lstStyle/>
          <a:p>
            <a:pPr marL="0" indent="0">
              <a:buNone/>
            </a:pPr>
            <a:r>
              <a:rPr lang="en-US" sz="1050" dirty="0">
                <a:solidFill>
                  <a:srgbClr val="9898B0"/>
                </a:solidFill>
                <a:latin typeface="Calibri" pitchFamily="34" charset="0"/>
                <a:ea typeface="Calibri" pitchFamily="34" charset="-122"/>
                <a:cs typeface="Calibri" pitchFamily="34" charset="-120"/>
              </a:rPr>
              <a:t>Limited distribution, no licensing, no diffusion lines that dilute the brand. Rick Owens refuses department store placement. Comme des Garçons sells primarily through Dover Street Market — its own retail.</a:t>
            </a:r>
            <a:endParaRPr lang="en-US" sz="1050" dirty="0"/>
          </a:p>
        </p:txBody>
      </p:sp>
      <p:sp>
        <p:nvSpPr>
          <p:cNvPr id="12" name="Shape 10"/>
          <p:cNvSpPr/>
          <p:nvPr/>
        </p:nvSpPr>
        <p:spPr>
          <a:xfrm>
            <a:off x="4297680" y="2743200"/>
            <a:ext cx="3566160" cy="3474720"/>
          </a:xfrm>
          <a:prstGeom prst="rect">
            <a:avLst/>
          </a:prstGeom>
          <a:solidFill>
            <a:srgbClr val="1A1A22"/>
          </a:solidFill>
          <a:ln w="6350">
            <a:solidFill>
              <a:srgbClr val="2A2A38"/>
            </a:solidFill>
            <a:prstDash val="solid"/>
          </a:ln>
        </p:spPr>
        <p:txBody>
          <a:bodyPr/>
          <a:lstStyle/>
          <a:p>
            <a:endParaRPr lang="en-US"/>
          </a:p>
        </p:txBody>
      </p:sp>
      <p:sp>
        <p:nvSpPr>
          <p:cNvPr id="13" name="Shape 11"/>
          <p:cNvSpPr/>
          <p:nvPr/>
        </p:nvSpPr>
        <p:spPr>
          <a:xfrm>
            <a:off x="4297680" y="2743200"/>
            <a:ext cx="3566160" cy="73152"/>
          </a:xfrm>
          <a:prstGeom prst="rect">
            <a:avLst/>
          </a:prstGeom>
          <a:solidFill>
            <a:srgbClr val="C9A96E"/>
          </a:solidFill>
          <a:ln w="12700">
            <a:solidFill>
              <a:srgbClr val="C9A96E"/>
            </a:solidFill>
            <a:prstDash val="solid"/>
          </a:ln>
        </p:spPr>
        <p:txBody>
          <a:bodyPr/>
          <a:lstStyle/>
          <a:p>
            <a:endParaRPr lang="en-US"/>
          </a:p>
        </p:txBody>
      </p:sp>
      <p:sp>
        <p:nvSpPr>
          <p:cNvPr id="14" name="Text 12"/>
          <p:cNvSpPr/>
          <p:nvPr/>
        </p:nvSpPr>
        <p:spPr>
          <a:xfrm>
            <a:off x="4434840" y="2880360"/>
            <a:ext cx="3291840" cy="320040"/>
          </a:xfrm>
          <a:prstGeom prst="rect">
            <a:avLst/>
          </a:prstGeom>
          <a:noFill/>
          <a:ln/>
        </p:spPr>
        <p:txBody>
          <a:bodyPr wrap="square" lIns="0" tIns="0" rIns="0" bIns="0" rtlCol="0" anchor="ctr"/>
          <a:lstStyle/>
          <a:p>
            <a:pPr marL="0" indent="0">
              <a:buNone/>
            </a:pPr>
            <a:r>
              <a:rPr lang="en-US" sz="800" kern="0" spc="300" dirty="0">
                <a:solidFill>
                  <a:srgbClr val="C9A96E"/>
                </a:solidFill>
                <a:latin typeface="Consolas" pitchFamily="34" charset="0"/>
                <a:ea typeface="Consolas" pitchFamily="34" charset="-122"/>
                <a:cs typeface="Consolas" pitchFamily="34" charset="-120"/>
              </a:rPr>
              <a:t>MYSTIQUE</a:t>
            </a:r>
            <a:endParaRPr lang="en-US" sz="800" dirty="0"/>
          </a:p>
        </p:txBody>
      </p:sp>
      <p:sp>
        <p:nvSpPr>
          <p:cNvPr id="15" name="Text 13"/>
          <p:cNvSpPr/>
          <p:nvPr/>
        </p:nvSpPr>
        <p:spPr>
          <a:xfrm>
            <a:off x="4434840" y="3246120"/>
            <a:ext cx="3291840" cy="411480"/>
          </a:xfrm>
          <a:prstGeom prst="rect">
            <a:avLst/>
          </a:prstGeom>
          <a:noFill/>
          <a:ln/>
        </p:spPr>
        <p:txBody>
          <a:bodyPr wrap="square" lIns="0" tIns="0" rIns="0" bIns="0" rtlCol="0" anchor="ctr"/>
          <a:lstStyle/>
          <a:p>
            <a:pPr marL="0" indent="0">
              <a:buNone/>
            </a:pPr>
            <a:r>
              <a:rPr lang="en-US" sz="1400" b="1" dirty="0">
                <a:solidFill>
                  <a:srgbClr val="E8E8F0"/>
                </a:solidFill>
                <a:latin typeface="Georgia" pitchFamily="34" charset="0"/>
                <a:ea typeface="Georgia" pitchFamily="34" charset="-122"/>
                <a:cs typeface="Georgia" pitchFamily="34" charset="-120"/>
              </a:rPr>
              <a:t>Mystique as Moat</a:t>
            </a:r>
            <a:endParaRPr lang="en-US" sz="1400" dirty="0"/>
          </a:p>
        </p:txBody>
      </p:sp>
      <p:sp>
        <p:nvSpPr>
          <p:cNvPr id="16" name="Text 14"/>
          <p:cNvSpPr/>
          <p:nvPr/>
        </p:nvSpPr>
        <p:spPr>
          <a:xfrm>
            <a:off x="4434840" y="3749040"/>
            <a:ext cx="3291840" cy="2286000"/>
          </a:xfrm>
          <a:prstGeom prst="rect">
            <a:avLst/>
          </a:prstGeom>
          <a:noFill/>
          <a:ln/>
        </p:spPr>
        <p:txBody>
          <a:bodyPr wrap="square" lIns="0" tIns="0" rIns="0" bIns="0" rtlCol="0" anchor="ctr"/>
          <a:lstStyle/>
          <a:p>
            <a:pPr marL="0" indent="0">
              <a:buNone/>
            </a:pPr>
            <a:r>
              <a:rPr lang="en-US" sz="1050" dirty="0">
                <a:solidFill>
                  <a:srgbClr val="9898B0"/>
                </a:solidFill>
                <a:latin typeface="Calibri" pitchFamily="34" charset="0"/>
                <a:ea typeface="Calibri" pitchFamily="34" charset="-122"/>
                <a:cs typeface="Calibri" pitchFamily="34" charset="-120"/>
              </a:rPr>
              <a:t>The designer is the brand. Martin Margiela never showed his face. Rei Kawakubo rarely speaks. Yohji Yamamoto gives almost no interviews. This opacity creates irreplaceable identity.</a:t>
            </a:r>
            <a:endParaRPr lang="en-US" sz="1050" dirty="0"/>
          </a:p>
        </p:txBody>
      </p:sp>
      <p:sp>
        <p:nvSpPr>
          <p:cNvPr id="17" name="Shape 15"/>
          <p:cNvSpPr/>
          <p:nvPr/>
        </p:nvSpPr>
        <p:spPr>
          <a:xfrm>
            <a:off x="8092440" y="2743200"/>
            <a:ext cx="3566160" cy="3474720"/>
          </a:xfrm>
          <a:prstGeom prst="rect">
            <a:avLst/>
          </a:prstGeom>
          <a:solidFill>
            <a:srgbClr val="1A1A22"/>
          </a:solidFill>
          <a:ln w="6350">
            <a:solidFill>
              <a:srgbClr val="2A2A38"/>
            </a:solidFill>
            <a:prstDash val="solid"/>
          </a:ln>
        </p:spPr>
        <p:txBody>
          <a:bodyPr/>
          <a:lstStyle/>
          <a:p>
            <a:endParaRPr lang="en-US"/>
          </a:p>
        </p:txBody>
      </p:sp>
      <p:sp>
        <p:nvSpPr>
          <p:cNvPr id="18" name="Shape 16"/>
          <p:cNvSpPr/>
          <p:nvPr/>
        </p:nvSpPr>
        <p:spPr>
          <a:xfrm>
            <a:off x="8092440" y="2743200"/>
            <a:ext cx="3566160" cy="73152"/>
          </a:xfrm>
          <a:prstGeom prst="rect">
            <a:avLst/>
          </a:prstGeom>
          <a:solidFill>
            <a:srgbClr val="C9A96E"/>
          </a:solidFill>
          <a:ln w="12700">
            <a:solidFill>
              <a:srgbClr val="C9A96E"/>
            </a:solidFill>
            <a:prstDash val="solid"/>
          </a:ln>
        </p:spPr>
        <p:txBody>
          <a:bodyPr/>
          <a:lstStyle/>
          <a:p>
            <a:endParaRPr lang="en-US"/>
          </a:p>
        </p:txBody>
      </p:sp>
      <p:sp>
        <p:nvSpPr>
          <p:cNvPr id="19" name="Text 17"/>
          <p:cNvSpPr/>
          <p:nvPr/>
        </p:nvSpPr>
        <p:spPr>
          <a:xfrm>
            <a:off x="8229600" y="2880360"/>
            <a:ext cx="3291840" cy="320040"/>
          </a:xfrm>
          <a:prstGeom prst="rect">
            <a:avLst/>
          </a:prstGeom>
          <a:noFill/>
          <a:ln/>
        </p:spPr>
        <p:txBody>
          <a:bodyPr wrap="square" lIns="0" tIns="0" rIns="0" bIns="0" rtlCol="0" anchor="ctr"/>
          <a:lstStyle/>
          <a:p>
            <a:pPr marL="0" indent="0">
              <a:buNone/>
            </a:pPr>
            <a:r>
              <a:rPr lang="en-US" sz="800" kern="0" spc="300" dirty="0">
                <a:solidFill>
                  <a:srgbClr val="C9A96E"/>
                </a:solidFill>
                <a:latin typeface="Consolas" pitchFamily="34" charset="0"/>
                <a:ea typeface="Consolas" pitchFamily="34" charset="-122"/>
                <a:cs typeface="Consolas" pitchFamily="34" charset="-120"/>
              </a:rPr>
              <a:t>AUTHORSHIP</a:t>
            </a:r>
            <a:endParaRPr lang="en-US" sz="800" dirty="0"/>
          </a:p>
        </p:txBody>
      </p:sp>
      <p:sp>
        <p:nvSpPr>
          <p:cNvPr id="20" name="Text 18"/>
          <p:cNvSpPr/>
          <p:nvPr/>
        </p:nvSpPr>
        <p:spPr>
          <a:xfrm>
            <a:off x="8229600" y="3246120"/>
            <a:ext cx="3291840" cy="411480"/>
          </a:xfrm>
          <a:prstGeom prst="rect">
            <a:avLst/>
          </a:prstGeom>
          <a:noFill/>
          <a:ln/>
        </p:spPr>
        <p:txBody>
          <a:bodyPr wrap="square" lIns="0" tIns="0" rIns="0" bIns="0" rtlCol="0" anchor="ctr"/>
          <a:lstStyle/>
          <a:p>
            <a:pPr marL="0" indent="0">
              <a:buNone/>
            </a:pPr>
            <a:r>
              <a:rPr lang="en-US" sz="1400" b="1" dirty="0">
                <a:solidFill>
                  <a:srgbClr val="E8E8F0"/>
                </a:solidFill>
                <a:latin typeface="Georgia" pitchFamily="34" charset="0"/>
                <a:ea typeface="Georgia" pitchFamily="34" charset="-122"/>
                <a:cs typeface="Georgia" pitchFamily="34" charset="-120"/>
              </a:rPr>
              <a:t>Authorship as Durability</a:t>
            </a:r>
            <a:endParaRPr lang="en-US" sz="1400" dirty="0"/>
          </a:p>
        </p:txBody>
      </p:sp>
      <p:sp>
        <p:nvSpPr>
          <p:cNvPr id="21" name="Text 19"/>
          <p:cNvSpPr/>
          <p:nvPr/>
        </p:nvSpPr>
        <p:spPr>
          <a:xfrm>
            <a:off x="8229600" y="3749040"/>
            <a:ext cx="3291840" cy="2286000"/>
          </a:xfrm>
          <a:prstGeom prst="rect">
            <a:avLst/>
          </a:prstGeom>
          <a:noFill/>
          <a:ln/>
        </p:spPr>
        <p:txBody>
          <a:bodyPr wrap="square" lIns="0" tIns="0" rIns="0" bIns="0" rtlCol="0" anchor="ctr"/>
          <a:lstStyle/>
          <a:p>
            <a:pPr marL="0" indent="0">
              <a:buNone/>
            </a:pPr>
            <a:r>
              <a:rPr lang="en-US" sz="1050" dirty="0">
                <a:solidFill>
                  <a:srgbClr val="9898B0"/>
                </a:solidFill>
                <a:latin typeface="Calibri" pitchFamily="34" charset="0"/>
                <a:ea typeface="Calibri" pitchFamily="34" charset="-122"/>
                <a:cs typeface="Calibri" pitchFamily="34" charset="-120"/>
              </a:rPr>
              <a:t>These brands aren't run by committees or trend forecasters. They're the sustained vision of a single creative mind — which creates collector markets, archive premiums, and cultural permanence.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274320"/>
            <a:ext cx="9144000" cy="320040"/>
          </a:xfrm>
          <a:prstGeom prst="rect">
            <a:avLst/>
          </a:prstGeom>
          <a:noFill/>
          <a:ln/>
        </p:spPr>
        <p:txBody>
          <a:bodyPr wrap="square" lIns="0" tIns="0" rIns="0" bIns="0" rtlCol="0" anchor="ctr"/>
          <a:lstStyle/>
          <a:p>
            <a:pPr marL="0" indent="0">
              <a:buNone/>
            </a:pPr>
            <a:r>
              <a:rPr lang="en-US" sz="900" kern="0" spc="200" dirty="0">
                <a:solidFill>
                  <a:srgbClr val="C9A96E"/>
                </a:solidFill>
                <a:latin typeface="Consolas" pitchFamily="34" charset="0"/>
                <a:ea typeface="Consolas" pitchFamily="34" charset="-122"/>
                <a:cs typeface="Consolas" pitchFamily="34" charset="-120"/>
              </a:rPr>
              <a:t>02  ·  INDUSTRY CONTEXT</a:t>
            </a:r>
            <a:endParaRPr lang="en-US" sz="900" dirty="0"/>
          </a:p>
        </p:txBody>
      </p:sp>
      <p:sp>
        <p:nvSpPr>
          <p:cNvPr id="4" name="Text 2"/>
          <p:cNvSpPr/>
          <p:nvPr/>
        </p:nvSpPr>
        <p:spPr>
          <a:xfrm>
            <a:off x="502920" y="640080"/>
            <a:ext cx="10058400" cy="365760"/>
          </a:xfrm>
          <a:prstGeom prst="rect">
            <a:avLst/>
          </a:prstGeom>
          <a:noFill/>
          <a:ln/>
        </p:spPr>
        <p:txBody>
          <a:bodyPr wrap="square" lIns="0" tIns="0" rIns="0" bIns="0" rtlCol="0" anchor="ctr"/>
          <a:lstStyle/>
          <a:p>
            <a:pPr marL="0" indent="0">
              <a:buNone/>
            </a:pPr>
            <a:r>
              <a:rPr lang="en-US" sz="1500" i="1" dirty="0">
                <a:solidFill>
                  <a:srgbClr val="E8E8F0"/>
                </a:solidFill>
                <a:latin typeface="Georgia" pitchFamily="34" charset="0"/>
                <a:ea typeface="Georgia" pitchFamily="34" charset="-122"/>
                <a:cs typeface="Georgia" pitchFamily="34" charset="-120"/>
              </a:rPr>
              <a:t>Three distinct business models, three distinct durability profiles</a:t>
            </a:r>
            <a:endParaRPr lang="en-US" sz="1500" dirty="0"/>
          </a:p>
        </p:txBody>
      </p:sp>
      <p:sp>
        <p:nvSpPr>
          <p:cNvPr id="5" name="Shape 3"/>
          <p:cNvSpPr/>
          <p:nvPr/>
        </p:nvSpPr>
        <p:spPr>
          <a:xfrm>
            <a:off x="502920" y="1234440"/>
            <a:ext cx="3566160" cy="5212080"/>
          </a:xfrm>
          <a:prstGeom prst="rect">
            <a:avLst/>
          </a:prstGeom>
          <a:solidFill>
            <a:srgbClr val="1A1A22"/>
          </a:solidFill>
          <a:ln w="6350">
            <a:solidFill>
              <a:srgbClr val="2A2A38"/>
            </a:solidFill>
            <a:prstDash val="solid"/>
          </a:ln>
        </p:spPr>
        <p:txBody>
          <a:bodyPr/>
          <a:lstStyle/>
          <a:p>
            <a:endParaRPr lang="en-US"/>
          </a:p>
        </p:txBody>
      </p:sp>
      <p:sp>
        <p:nvSpPr>
          <p:cNvPr id="6" name="Shape 4"/>
          <p:cNvSpPr/>
          <p:nvPr/>
        </p:nvSpPr>
        <p:spPr>
          <a:xfrm>
            <a:off x="502920" y="1234440"/>
            <a:ext cx="3566160" cy="411480"/>
          </a:xfrm>
          <a:prstGeom prst="rect">
            <a:avLst/>
          </a:prstGeom>
          <a:solidFill>
            <a:srgbClr val="C9A96E"/>
          </a:solidFill>
          <a:ln w="12700">
            <a:solidFill>
              <a:srgbClr val="C9A96E"/>
            </a:solidFill>
            <a:prstDash val="solid"/>
          </a:ln>
        </p:spPr>
        <p:txBody>
          <a:bodyPr/>
          <a:lstStyle/>
          <a:p>
            <a:endParaRPr lang="en-US"/>
          </a:p>
        </p:txBody>
      </p:sp>
      <p:sp>
        <p:nvSpPr>
          <p:cNvPr id="7" name="Text 5"/>
          <p:cNvSpPr/>
          <p:nvPr/>
        </p:nvSpPr>
        <p:spPr>
          <a:xfrm>
            <a:off x="640080" y="1234440"/>
            <a:ext cx="3291840" cy="411480"/>
          </a:xfrm>
          <a:prstGeom prst="rect">
            <a:avLst/>
          </a:prstGeom>
          <a:noFill/>
          <a:ln/>
        </p:spPr>
        <p:txBody>
          <a:bodyPr wrap="square" lIns="0" tIns="0" rIns="0" bIns="0" rtlCol="0" anchor="ctr"/>
          <a:lstStyle/>
          <a:p>
            <a:pPr marL="0" indent="0">
              <a:buNone/>
            </a:pPr>
            <a:r>
              <a:rPr lang="en-US" sz="1600" b="1" kern="0" spc="200" dirty="0">
                <a:solidFill>
                  <a:srgbClr val="0A0A0F"/>
                </a:solidFill>
                <a:latin typeface="Consolas" pitchFamily="34" charset="0"/>
                <a:ea typeface="Consolas" pitchFamily="34" charset="-122"/>
                <a:cs typeface="Consolas" pitchFamily="34" charset="-120"/>
              </a:rPr>
              <a:t>AVANT-GARDE</a:t>
            </a:r>
            <a:endParaRPr lang="en-US" sz="1600" dirty="0"/>
          </a:p>
        </p:txBody>
      </p:sp>
      <p:sp>
        <p:nvSpPr>
          <p:cNvPr id="8" name="Text 6"/>
          <p:cNvSpPr/>
          <p:nvPr/>
        </p:nvSpPr>
        <p:spPr>
          <a:xfrm>
            <a:off x="640080" y="1737360"/>
            <a:ext cx="3291840" cy="640080"/>
          </a:xfrm>
          <a:prstGeom prst="rect">
            <a:avLst/>
          </a:prstGeom>
          <a:noFill/>
          <a:ln/>
        </p:spPr>
        <p:txBody>
          <a:bodyPr wrap="square" lIns="0" tIns="0" rIns="0" bIns="0" rtlCol="0" anchor="ctr"/>
          <a:lstStyle/>
          <a:p>
            <a:pPr marL="0" indent="0">
              <a:buNone/>
            </a:pPr>
            <a:r>
              <a:rPr lang="en-US" sz="950" i="1" dirty="0">
                <a:solidFill>
                  <a:srgbClr val="E8E8F0"/>
                </a:solidFill>
                <a:latin typeface="Calibri" pitchFamily="34" charset="0"/>
                <a:ea typeface="Calibri" pitchFamily="34" charset="-122"/>
                <a:cs typeface="Calibri" pitchFamily="34" charset="-120"/>
              </a:rPr>
              <a:t>Rick Owens · Maison Margiela · Comme des Garçons</a:t>
            </a:r>
            <a:endParaRPr lang="en-US" sz="950" dirty="0"/>
          </a:p>
          <a:p>
            <a:pPr marL="0" indent="0">
              <a:buNone/>
            </a:pPr>
            <a:r>
              <a:rPr lang="en-US" sz="950" i="1" dirty="0">
                <a:solidFill>
                  <a:srgbClr val="E8E8F0"/>
                </a:solidFill>
                <a:latin typeface="Calibri" pitchFamily="34" charset="0"/>
                <a:ea typeface="Calibri" pitchFamily="34" charset="-122"/>
                <a:cs typeface="Calibri" pitchFamily="34" charset="-120"/>
              </a:rPr>
              <a:t>Yohji Yamamoto · Ann Demeulemeester · Helmut Lang</a:t>
            </a:r>
            <a:endParaRPr lang="en-US" sz="950" dirty="0"/>
          </a:p>
        </p:txBody>
      </p:sp>
      <p:sp>
        <p:nvSpPr>
          <p:cNvPr id="9" name="Shape 7"/>
          <p:cNvSpPr/>
          <p:nvPr/>
        </p:nvSpPr>
        <p:spPr>
          <a:xfrm>
            <a:off x="594360" y="2468880"/>
            <a:ext cx="3383280" cy="27432"/>
          </a:xfrm>
          <a:prstGeom prst="rect">
            <a:avLst/>
          </a:prstGeom>
          <a:solidFill>
            <a:srgbClr val="2A2A38"/>
          </a:solidFill>
          <a:ln w="12700">
            <a:solidFill>
              <a:srgbClr val="2A2A38"/>
            </a:solidFill>
            <a:prstDash val="solid"/>
          </a:ln>
        </p:spPr>
        <p:txBody>
          <a:bodyPr/>
          <a:lstStyle/>
          <a:p>
            <a:endParaRPr lang="en-US"/>
          </a:p>
        </p:txBody>
      </p:sp>
      <p:sp>
        <p:nvSpPr>
          <p:cNvPr id="10" name="Text 8"/>
          <p:cNvSpPr/>
          <p:nvPr/>
        </p:nvSpPr>
        <p:spPr>
          <a:xfrm>
            <a:off x="640080" y="2578608"/>
            <a:ext cx="3291840" cy="228600"/>
          </a:xfrm>
          <a:prstGeom prst="rect">
            <a:avLst/>
          </a:prstGeom>
          <a:noFill/>
          <a:ln/>
        </p:spPr>
        <p:txBody>
          <a:bodyPr wrap="square" lIns="0" tIns="0" rIns="0" bIns="0" rtlCol="0" anchor="ctr"/>
          <a:lstStyle/>
          <a:p>
            <a:pPr marL="0" indent="0">
              <a:buNone/>
            </a:pPr>
            <a:r>
              <a:rPr lang="en-US" sz="1200" b="1" kern="0" spc="100" dirty="0">
                <a:solidFill>
                  <a:srgbClr val="C9A96E"/>
                </a:solidFill>
                <a:latin typeface="Consolas" pitchFamily="34" charset="0"/>
                <a:ea typeface="Consolas" pitchFamily="34" charset="-122"/>
                <a:cs typeface="Consolas" pitchFamily="34" charset="-120"/>
              </a:rPr>
              <a:t>Business Model</a:t>
            </a:r>
            <a:endParaRPr lang="en-US" sz="1200" b="1" dirty="0"/>
          </a:p>
        </p:txBody>
      </p:sp>
      <p:sp>
        <p:nvSpPr>
          <p:cNvPr id="11" name="Text 9"/>
          <p:cNvSpPr/>
          <p:nvPr/>
        </p:nvSpPr>
        <p:spPr>
          <a:xfrm>
            <a:off x="640080" y="2834640"/>
            <a:ext cx="3291840" cy="1097280"/>
          </a:xfrm>
          <a:prstGeom prst="rect">
            <a:avLst/>
          </a:prstGeom>
          <a:noFill/>
          <a:ln/>
        </p:spPr>
        <p:txBody>
          <a:bodyPr wrap="square" lIns="0" tIns="0" rIns="0" bIns="0" rtlCol="0" anchor="ctr"/>
          <a:lstStyle/>
          <a:p>
            <a:pPr marL="0" indent="0">
              <a:buNone/>
            </a:pPr>
            <a:r>
              <a:rPr lang="en-US" sz="950" dirty="0">
                <a:solidFill>
                  <a:srgbClr val="9898B0"/>
                </a:solidFill>
                <a:latin typeface="Calibri" pitchFamily="34" charset="0"/>
                <a:ea typeface="Calibri" pitchFamily="34" charset="-122"/>
                <a:cs typeface="Calibri" pitchFamily="34" charset="-120"/>
              </a:rPr>
              <a:t>Independent or small-group ownership. Intentionally limited distribution. Revenue $35M–$310M. Designer as sole creative authority.</a:t>
            </a:r>
            <a:endParaRPr lang="en-US" sz="950" dirty="0"/>
          </a:p>
        </p:txBody>
      </p:sp>
      <p:sp>
        <p:nvSpPr>
          <p:cNvPr id="12" name="Text 10"/>
          <p:cNvSpPr/>
          <p:nvPr/>
        </p:nvSpPr>
        <p:spPr>
          <a:xfrm>
            <a:off x="640080" y="4069080"/>
            <a:ext cx="3291840" cy="228600"/>
          </a:xfrm>
          <a:prstGeom prst="rect">
            <a:avLst/>
          </a:prstGeom>
          <a:noFill/>
          <a:ln/>
        </p:spPr>
        <p:txBody>
          <a:bodyPr wrap="square" lIns="0" tIns="0" rIns="0" bIns="0" rtlCol="0" anchor="ctr"/>
          <a:lstStyle/>
          <a:p>
            <a:pPr marL="0" indent="0">
              <a:buNone/>
            </a:pPr>
            <a:r>
              <a:rPr lang="en-US" sz="1100" kern="0" spc="100" dirty="0">
                <a:solidFill>
                  <a:srgbClr val="C9A96E"/>
                </a:solidFill>
                <a:latin typeface="Consolas" pitchFamily="34" charset="0"/>
                <a:ea typeface="Consolas" pitchFamily="34" charset="-122"/>
                <a:cs typeface="Consolas" pitchFamily="34" charset="-120"/>
              </a:rPr>
              <a:t>Strength</a:t>
            </a:r>
            <a:endParaRPr lang="en-US" sz="1100" dirty="0"/>
          </a:p>
        </p:txBody>
      </p:sp>
      <p:sp>
        <p:nvSpPr>
          <p:cNvPr id="13" name="Text 11"/>
          <p:cNvSpPr/>
          <p:nvPr/>
        </p:nvSpPr>
        <p:spPr>
          <a:xfrm>
            <a:off x="640080" y="4315968"/>
            <a:ext cx="3291840" cy="502920"/>
          </a:xfrm>
          <a:prstGeom prst="rect">
            <a:avLst/>
          </a:prstGeom>
          <a:noFill/>
          <a:ln/>
        </p:spPr>
        <p:txBody>
          <a:bodyPr wrap="square" lIns="0" tIns="0" rIns="0" bIns="0" rtlCol="0" anchor="ctr"/>
          <a:lstStyle/>
          <a:p>
            <a:pPr marL="0" indent="0">
              <a:buNone/>
            </a:pPr>
            <a:r>
              <a:rPr lang="en-US" sz="950" dirty="0">
                <a:solidFill>
                  <a:srgbClr val="9898B0"/>
                </a:solidFill>
                <a:latin typeface="Calibri" pitchFamily="34" charset="0"/>
                <a:ea typeface="Calibri" pitchFamily="34" charset="-122"/>
                <a:cs typeface="Calibri" pitchFamily="34" charset="-120"/>
              </a:rPr>
              <a:t>Identity moat — impossible to replicate the designer's vision</a:t>
            </a:r>
            <a:endParaRPr lang="en-US" sz="950" dirty="0"/>
          </a:p>
        </p:txBody>
      </p:sp>
      <p:sp>
        <p:nvSpPr>
          <p:cNvPr id="14" name="Text 12"/>
          <p:cNvSpPr/>
          <p:nvPr/>
        </p:nvSpPr>
        <p:spPr>
          <a:xfrm>
            <a:off x="640080" y="4892040"/>
            <a:ext cx="3291840" cy="228600"/>
          </a:xfrm>
          <a:prstGeom prst="rect">
            <a:avLst/>
          </a:prstGeom>
          <a:noFill/>
          <a:ln/>
        </p:spPr>
        <p:txBody>
          <a:bodyPr wrap="square" lIns="0" tIns="0" rIns="0" bIns="0" rtlCol="0" anchor="ctr"/>
          <a:lstStyle/>
          <a:p>
            <a:pPr marL="0" indent="0">
              <a:buNone/>
            </a:pPr>
            <a:r>
              <a:rPr lang="en-US" sz="1100" kern="0" spc="100" dirty="0">
                <a:solidFill>
                  <a:srgbClr val="C96E6E"/>
                </a:solidFill>
                <a:latin typeface="Consolas" pitchFamily="34" charset="0"/>
                <a:ea typeface="Consolas" pitchFamily="34" charset="-122"/>
                <a:cs typeface="Consolas" pitchFamily="34" charset="-120"/>
              </a:rPr>
              <a:t>Risk</a:t>
            </a:r>
            <a:endParaRPr lang="en-US" sz="1100" dirty="0"/>
          </a:p>
        </p:txBody>
      </p:sp>
      <p:sp>
        <p:nvSpPr>
          <p:cNvPr id="15" name="Text 13"/>
          <p:cNvSpPr/>
          <p:nvPr/>
        </p:nvSpPr>
        <p:spPr>
          <a:xfrm>
            <a:off x="640080" y="5138928"/>
            <a:ext cx="3291840" cy="548640"/>
          </a:xfrm>
          <a:prstGeom prst="rect">
            <a:avLst/>
          </a:prstGeom>
          <a:noFill/>
          <a:ln/>
        </p:spPr>
        <p:txBody>
          <a:bodyPr wrap="square" lIns="0" tIns="0" rIns="0" bIns="0" rtlCol="0" anchor="ctr"/>
          <a:lstStyle/>
          <a:p>
            <a:pPr marL="0" indent="0">
              <a:buNone/>
            </a:pPr>
            <a:r>
              <a:rPr lang="en-US" sz="950" dirty="0">
                <a:solidFill>
                  <a:srgbClr val="9898B0"/>
                </a:solidFill>
                <a:latin typeface="Calibri" pitchFamily="34" charset="0"/>
                <a:ea typeface="Calibri" pitchFamily="34" charset="-122"/>
                <a:cs typeface="Calibri" pitchFamily="34" charset="-120"/>
              </a:rPr>
              <a:t>Succession risk — what happens when the designer leaves?</a:t>
            </a:r>
            <a:endParaRPr lang="en-US" sz="950" dirty="0"/>
          </a:p>
        </p:txBody>
      </p:sp>
      <p:sp>
        <p:nvSpPr>
          <p:cNvPr id="16" name="Shape 14"/>
          <p:cNvSpPr/>
          <p:nvPr/>
        </p:nvSpPr>
        <p:spPr>
          <a:xfrm>
            <a:off x="4297680" y="1234440"/>
            <a:ext cx="3566160" cy="5212080"/>
          </a:xfrm>
          <a:prstGeom prst="rect">
            <a:avLst/>
          </a:prstGeom>
          <a:solidFill>
            <a:srgbClr val="1A1A22"/>
          </a:solidFill>
          <a:ln w="6350">
            <a:solidFill>
              <a:srgbClr val="2A2A38"/>
            </a:solidFill>
            <a:prstDash val="solid"/>
          </a:ln>
        </p:spPr>
        <p:txBody>
          <a:bodyPr/>
          <a:lstStyle/>
          <a:p>
            <a:endParaRPr lang="en-US"/>
          </a:p>
        </p:txBody>
      </p:sp>
      <p:sp>
        <p:nvSpPr>
          <p:cNvPr id="17" name="Shape 15"/>
          <p:cNvSpPr/>
          <p:nvPr/>
        </p:nvSpPr>
        <p:spPr>
          <a:xfrm>
            <a:off x="4297680" y="1234440"/>
            <a:ext cx="3566160" cy="411480"/>
          </a:xfrm>
          <a:prstGeom prst="rect">
            <a:avLst/>
          </a:prstGeom>
          <a:solidFill>
            <a:srgbClr val="6E9EC9"/>
          </a:solidFill>
          <a:ln w="12700">
            <a:solidFill>
              <a:srgbClr val="6E9EC9"/>
            </a:solidFill>
            <a:prstDash val="solid"/>
          </a:ln>
        </p:spPr>
        <p:txBody>
          <a:bodyPr/>
          <a:lstStyle/>
          <a:p>
            <a:endParaRPr lang="en-US"/>
          </a:p>
        </p:txBody>
      </p:sp>
      <p:sp>
        <p:nvSpPr>
          <p:cNvPr id="18" name="Text 16"/>
          <p:cNvSpPr/>
          <p:nvPr/>
        </p:nvSpPr>
        <p:spPr>
          <a:xfrm>
            <a:off x="4434840" y="1234440"/>
            <a:ext cx="3291840" cy="411480"/>
          </a:xfrm>
          <a:prstGeom prst="rect">
            <a:avLst/>
          </a:prstGeom>
          <a:noFill/>
          <a:ln/>
        </p:spPr>
        <p:txBody>
          <a:bodyPr wrap="square" lIns="0" tIns="0" rIns="0" bIns="0" rtlCol="0" anchor="ctr"/>
          <a:lstStyle/>
          <a:p>
            <a:pPr marL="0" indent="0">
              <a:buNone/>
            </a:pPr>
            <a:r>
              <a:rPr lang="en-US" sz="1600" b="1" kern="0" spc="200" dirty="0">
                <a:solidFill>
                  <a:srgbClr val="0A0A0F"/>
                </a:solidFill>
                <a:latin typeface="Consolas" pitchFamily="34" charset="0"/>
                <a:ea typeface="Consolas" pitchFamily="34" charset="-122"/>
                <a:cs typeface="Consolas" pitchFamily="34" charset="-120"/>
              </a:rPr>
              <a:t>MAINSTREAM LUXURY</a:t>
            </a:r>
            <a:endParaRPr lang="en-US" sz="1600" dirty="0"/>
          </a:p>
        </p:txBody>
      </p:sp>
      <p:sp>
        <p:nvSpPr>
          <p:cNvPr id="19" name="Text 17"/>
          <p:cNvSpPr/>
          <p:nvPr/>
        </p:nvSpPr>
        <p:spPr>
          <a:xfrm>
            <a:off x="4434840" y="1737360"/>
            <a:ext cx="3291840" cy="640080"/>
          </a:xfrm>
          <a:prstGeom prst="rect">
            <a:avLst/>
          </a:prstGeom>
          <a:noFill/>
          <a:ln/>
        </p:spPr>
        <p:txBody>
          <a:bodyPr wrap="square" lIns="0" tIns="0" rIns="0" bIns="0" rtlCol="0" anchor="ctr"/>
          <a:lstStyle/>
          <a:p>
            <a:pPr marL="0" indent="0">
              <a:buNone/>
            </a:pPr>
            <a:r>
              <a:rPr lang="en-US" sz="950" i="1" dirty="0">
                <a:solidFill>
                  <a:srgbClr val="E8E8F0"/>
                </a:solidFill>
                <a:latin typeface="Calibri" pitchFamily="34" charset="0"/>
                <a:ea typeface="Calibri" pitchFamily="34" charset="-122"/>
                <a:cs typeface="Calibri" pitchFamily="34" charset="-120"/>
              </a:rPr>
              <a:t>Louis Vuitton (LVMH) · Gucci (Kering) · Balenciaga (Kering)</a:t>
            </a:r>
            <a:endParaRPr lang="en-US" sz="950" dirty="0"/>
          </a:p>
        </p:txBody>
      </p:sp>
      <p:sp>
        <p:nvSpPr>
          <p:cNvPr id="20" name="Shape 18"/>
          <p:cNvSpPr/>
          <p:nvPr/>
        </p:nvSpPr>
        <p:spPr>
          <a:xfrm>
            <a:off x="4389120" y="2468880"/>
            <a:ext cx="3383280" cy="27432"/>
          </a:xfrm>
          <a:prstGeom prst="rect">
            <a:avLst/>
          </a:prstGeom>
          <a:solidFill>
            <a:srgbClr val="2A2A38"/>
          </a:solidFill>
          <a:ln w="12700">
            <a:solidFill>
              <a:srgbClr val="2A2A38"/>
            </a:solidFill>
            <a:prstDash val="solid"/>
          </a:ln>
        </p:spPr>
        <p:txBody>
          <a:bodyPr/>
          <a:lstStyle/>
          <a:p>
            <a:endParaRPr lang="en-US"/>
          </a:p>
        </p:txBody>
      </p:sp>
      <p:sp>
        <p:nvSpPr>
          <p:cNvPr id="21" name="Text 19"/>
          <p:cNvSpPr/>
          <p:nvPr/>
        </p:nvSpPr>
        <p:spPr>
          <a:xfrm>
            <a:off x="4434840" y="2578608"/>
            <a:ext cx="3291840" cy="228600"/>
          </a:xfrm>
          <a:prstGeom prst="rect">
            <a:avLst/>
          </a:prstGeom>
          <a:noFill/>
          <a:ln/>
        </p:spPr>
        <p:txBody>
          <a:bodyPr wrap="square" lIns="0" tIns="0" rIns="0" bIns="0" rtlCol="0" anchor="ctr"/>
          <a:lstStyle/>
          <a:p>
            <a:pPr marL="0" indent="0">
              <a:buNone/>
            </a:pPr>
            <a:r>
              <a:rPr lang="en-US" sz="1200" b="1" kern="0" spc="100" dirty="0">
                <a:solidFill>
                  <a:srgbClr val="6E9EC9"/>
                </a:solidFill>
                <a:latin typeface="Consolas" pitchFamily="34" charset="0"/>
                <a:ea typeface="Consolas" pitchFamily="34" charset="-122"/>
                <a:cs typeface="Consolas" pitchFamily="34" charset="-120"/>
              </a:rPr>
              <a:t>Business Model</a:t>
            </a:r>
            <a:endParaRPr lang="en-US" sz="1200" b="1" dirty="0"/>
          </a:p>
        </p:txBody>
      </p:sp>
      <p:sp>
        <p:nvSpPr>
          <p:cNvPr id="22" name="Text 20"/>
          <p:cNvSpPr/>
          <p:nvPr/>
        </p:nvSpPr>
        <p:spPr>
          <a:xfrm>
            <a:off x="4434840" y="2834640"/>
            <a:ext cx="3291840" cy="1097280"/>
          </a:xfrm>
          <a:prstGeom prst="rect">
            <a:avLst/>
          </a:prstGeom>
          <a:noFill/>
          <a:ln/>
        </p:spPr>
        <p:txBody>
          <a:bodyPr wrap="square" lIns="0" tIns="0" rIns="0" bIns="0" rtlCol="0" anchor="ctr"/>
          <a:lstStyle/>
          <a:p>
            <a:pPr marL="0" indent="0">
              <a:buNone/>
            </a:pPr>
            <a:r>
              <a:rPr lang="en-US" sz="950" dirty="0">
                <a:solidFill>
                  <a:srgbClr val="9898B0"/>
                </a:solidFill>
                <a:latin typeface="Calibri" pitchFamily="34" charset="0"/>
                <a:ea typeface="Calibri" pitchFamily="34" charset="-122"/>
                <a:cs typeface="Calibri" pitchFamily="34" charset="-120"/>
              </a:rPr>
              <a:t>Conglomerate-owned. Global retail networks. Revenue €1.5B–€20B. Creative directors are replaceable employees.</a:t>
            </a:r>
            <a:endParaRPr lang="en-US" sz="950" dirty="0"/>
          </a:p>
        </p:txBody>
      </p:sp>
      <p:sp>
        <p:nvSpPr>
          <p:cNvPr id="23" name="Text 21"/>
          <p:cNvSpPr/>
          <p:nvPr/>
        </p:nvSpPr>
        <p:spPr>
          <a:xfrm>
            <a:off x="4434840" y="4069080"/>
            <a:ext cx="3291840" cy="228600"/>
          </a:xfrm>
          <a:prstGeom prst="rect">
            <a:avLst/>
          </a:prstGeom>
          <a:noFill/>
          <a:ln/>
        </p:spPr>
        <p:txBody>
          <a:bodyPr wrap="square" lIns="0" tIns="0" rIns="0" bIns="0" rtlCol="0" anchor="ctr"/>
          <a:lstStyle/>
          <a:p>
            <a:pPr marL="0" indent="0">
              <a:buNone/>
            </a:pPr>
            <a:r>
              <a:rPr lang="en-US" sz="1100" kern="0" spc="100" dirty="0">
                <a:solidFill>
                  <a:srgbClr val="C9A96E"/>
                </a:solidFill>
                <a:latin typeface="Consolas" pitchFamily="34" charset="0"/>
                <a:ea typeface="Consolas" pitchFamily="34" charset="-122"/>
                <a:cs typeface="Consolas" pitchFamily="34" charset="-120"/>
              </a:rPr>
              <a:t>Strength</a:t>
            </a:r>
            <a:endParaRPr lang="en-US" sz="1100" dirty="0"/>
          </a:p>
        </p:txBody>
      </p:sp>
      <p:sp>
        <p:nvSpPr>
          <p:cNvPr id="24" name="Text 22"/>
          <p:cNvSpPr/>
          <p:nvPr/>
        </p:nvSpPr>
        <p:spPr>
          <a:xfrm>
            <a:off x="4434840" y="4315968"/>
            <a:ext cx="3291840" cy="502920"/>
          </a:xfrm>
          <a:prstGeom prst="rect">
            <a:avLst/>
          </a:prstGeom>
          <a:noFill/>
          <a:ln/>
        </p:spPr>
        <p:txBody>
          <a:bodyPr wrap="square" lIns="0" tIns="0" rIns="0" bIns="0" rtlCol="0" anchor="ctr"/>
          <a:lstStyle/>
          <a:p>
            <a:pPr marL="0" indent="0">
              <a:buNone/>
            </a:pPr>
            <a:r>
              <a:rPr lang="en-US" sz="950" dirty="0">
                <a:solidFill>
                  <a:srgbClr val="9898B0"/>
                </a:solidFill>
                <a:latin typeface="Calibri" pitchFamily="34" charset="0"/>
                <a:ea typeface="Calibri" pitchFamily="34" charset="-122"/>
                <a:cs typeface="Calibri" pitchFamily="34" charset="-120"/>
              </a:rPr>
              <a:t>Scale and capital — can absorb a bad creative director</a:t>
            </a:r>
            <a:endParaRPr lang="en-US" sz="950" dirty="0"/>
          </a:p>
        </p:txBody>
      </p:sp>
      <p:sp>
        <p:nvSpPr>
          <p:cNvPr id="25" name="Text 23"/>
          <p:cNvSpPr/>
          <p:nvPr/>
        </p:nvSpPr>
        <p:spPr>
          <a:xfrm>
            <a:off x="4434840" y="4892040"/>
            <a:ext cx="3291840" cy="228600"/>
          </a:xfrm>
          <a:prstGeom prst="rect">
            <a:avLst/>
          </a:prstGeom>
          <a:noFill/>
          <a:ln/>
        </p:spPr>
        <p:txBody>
          <a:bodyPr wrap="square" lIns="0" tIns="0" rIns="0" bIns="0" rtlCol="0" anchor="ctr"/>
          <a:lstStyle/>
          <a:p>
            <a:pPr marL="0" indent="0">
              <a:buNone/>
            </a:pPr>
            <a:r>
              <a:rPr lang="en-US" sz="1100" kern="0" spc="100" dirty="0">
                <a:solidFill>
                  <a:srgbClr val="C96E6E"/>
                </a:solidFill>
                <a:latin typeface="Consolas" pitchFamily="34" charset="0"/>
                <a:ea typeface="Consolas" pitchFamily="34" charset="-122"/>
                <a:cs typeface="Consolas" pitchFamily="34" charset="-120"/>
              </a:rPr>
              <a:t>Risk</a:t>
            </a:r>
            <a:endParaRPr lang="en-US" sz="1100" dirty="0"/>
          </a:p>
        </p:txBody>
      </p:sp>
      <p:sp>
        <p:nvSpPr>
          <p:cNvPr id="26" name="Text 24"/>
          <p:cNvSpPr/>
          <p:nvPr/>
        </p:nvSpPr>
        <p:spPr>
          <a:xfrm>
            <a:off x="4434840" y="5138928"/>
            <a:ext cx="3291840" cy="548640"/>
          </a:xfrm>
          <a:prstGeom prst="rect">
            <a:avLst/>
          </a:prstGeom>
          <a:noFill/>
          <a:ln/>
        </p:spPr>
        <p:txBody>
          <a:bodyPr wrap="square" lIns="0" tIns="0" rIns="0" bIns="0" rtlCol="0" anchor="ctr"/>
          <a:lstStyle/>
          <a:p>
            <a:pPr marL="0" indent="0">
              <a:buNone/>
            </a:pPr>
            <a:r>
              <a:rPr lang="en-US" sz="950" dirty="0">
                <a:solidFill>
                  <a:srgbClr val="9898B0"/>
                </a:solidFill>
                <a:latin typeface="Calibri" pitchFamily="34" charset="0"/>
                <a:ea typeface="Calibri" pitchFamily="34" charset="-122"/>
                <a:cs typeface="Calibri" pitchFamily="34" charset="-120"/>
              </a:rPr>
              <a:t>Brand dilution — too many product lines, too much accessibility</a:t>
            </a:r>
            <a:endParaRPr lang="en-US" sz="950" dirty="0"/>
          </a:p>
        </p:txBody>
      </p:sp>
      <p:sp>
        <p:nvSpPr>
          <p:cNvPr id="27" name="Shape 25"/>
          <p:cNvSpPr/>
          <p:nvPr/>
        </p:nvSpPr>
        <p:spPr>
          <a:xfrm>
            <a:off x="8092440" y="1234440"/>
            <a:ext cx="3566160" cy="5212080"/>
          </a:xfrm>
          <a:prstGeom prst="rect">
            <a:avLst/>
          </a:prstGeom>
          <a:solidFill>
            <a:srgbClr val="1A1A22"/>
          </a:solidFill>
          <a:ln w="6350">
            <a:solidFill>
              <a:srgbClr val="2A2A38"/>
            </a:solidFill>
            <a:prstDash val="solid"/>
          </a:ln>
        </p:spPr>
        <p:txBody>
          <a:bodyPr/>
          <a:lstStyle/>
          <a:p>
            <a:endParaRPr lang="en-US"/>
          </a:p>
        </p:txBody>
      </p:sp>
      <p:sp>
        <p:nvSpPr>
          <p:cNvPr id="28" name="Shape 26"/>
          <p:cNvSpPr/>
          <p:nvPr/>
        </p:nvSpPr>
        <p:spPr>
          <a:xfrm>
            <a:off x="8092440" y="1234440"/>
            <a:ext cx="3566160" cy="411480"/>
          </a:xfrm>
          <a:prstGeom prst="rect">
            <a:avLst/>
          </a:prstGeom>
          <a:solidFill>
            <a:srgbClr val="C96E6E"/>
          </a:solidFill>
          <a:ln w="12700">
            <a:solidFill>
              <a:srgbClr val="C96E6E"/>
            </a:solidFill>
            <a:prstDash val="solid"/>
          </a:ln>
        </p:spPr>
        <p:txBody>
          <a:bodyPr/>
          <a:lstStyle/>
          <a:p>
            <a:endParaRPr lang="en-US"/>
          </a:p>
        </p:txBody>
      </p:sp>
      <p:sp>
        <p:nvSpPr>
          <p:cNvPr id="29" name="Text 27"/>
          <p:cNvSpPr/>
          <p:nvPr/>
        </p:nvSpPr>
        <p:spPr>
          <a:xfrm>
            <a:off x="8229600" y="1234440"/>
            <a:ext cx="3291840" cy="411480"/>
          </a:xfrm>
          <a:prstGeom prst="rect">
            <a:avLst/>
          </a:prstGeom>
          <a:noFill/>
          <a:ln/>
        </p:spPr>
        <p:txBody>
          <a:bodyPr wrap="square" lIns="0" tIns="0" rIns="0" bIns="0" rtlCol="0" anchor="ctr"/>
          <a:lstStyle/>
          <a:p>
            <a:pPr marL="0" indent="0">
              <a:buNone/>
            </a:pPr>
            <a:r>
              <a:rPr lang="en-US" sz="1600" b="1" kern="0" spc="200" dirty="0">
                <a:solidFill>
                  <a:srgbClr val="0A0A0F"/>
                </a:solidFill>
                <a:latin typeface="Consolas" pitchFamily="34" charset="0"/>
                <a:ea typeface="Consolas" pitchFamily="34" charset="-122"/>
                <a:cs typeface="Consolas" pitchFamily="34" charset="-120"/>
              </a:rPr>
              <a:t>FAST FASHION</a:t>
            </a:r>
            <a:endParaRPr lang="en-US" sz="1600" dirty="0"/>
          </a:p>
        </p:txBody>
      </p:sp>
      <p:sp>
        <p:nvSpPr>
          <p:cNvPr id="30" name="Text 28"/>
          <p:cNvSpPr/>
          <p:nvPr/>
        </p:nvSpPr>
        <p:spPr>
          <a:xfrm>
            <a:off x="8229600" y="1737360"/>
            <a:ext cx="3291840" cy="640080"/>
          </a:xfrm>
          <a:prstGeom prst="rect">
            <a:avLst/>
          </a:prstGeom>
          <a:noFill/>
          <a:ln/>
        </p:spPr>
        <p:txBody>
          <a:bodyPr wrap="square" lIns="0" tIns="0" rIns="0" bIns="0" rtlCol="0" anchor="ctr"/>
          <a:lstStyle/>
          <a:p>
            <a:pPr marL="0" indent="0">
              <a:buNone/>
            </a:pPr>
            <a:r>
              <a:rPr lang="en-US" sz="950" i="1" dirty="0">
                <a:solidFill>
                  <a:srgbClr val="E8E8F0"/>
                </a:solidFill>
                <a:latin typeface="Calibri" pitchFamily="34" charset="0"/>
                <a:ea typeface="Calibri" pitchFamily="34" charset="-122"/>
                <a:cs typeface="Calibri" pitchFamily="34" charset="-120"/>
              </a:rPr>
              <a:t>Zara (Inditex) · H&amp;M (H&amp;M Group) · Shein (Private)</a:t>
            </a:r>
            <a:endParaRPr lang="en-US" sz="950" dirty="0"/>
          </a:p>
        </p:txBody>
      </p:sp>
      <p:sp>
        <p:nvSpPr>
          <p:cNvPr id="31" name="Shape 29"/>
          <p:cNvSpPr/>
          <p:nvPr/>
        </p:nvSpPr>
        <p:spPr>
          <a:xfrm>
            <a:off x="8183880" y="2468880"/>
            <a:ext cx="3383280" cy="27432"/>
          </a:xfrm>
          <a:prstGeom prst="rect">
            <a:avLst/>
          </a:prstGeom>
          <a:solidFill>
            <a:srgbClr val="2A2A38"/>
          </a:solidFill>
          <a:ln w="12700">
            <a:solidFill>
              <a:srgbClr val="2A2A38"/>
            </a:solidFill>
            <a:prstDash val="solid"/>
          </a:ln>
        </p:spPr>
        <p:txBody>
          <a:bodyPr/>
          <a:lstStyle/>
          <a:p>
            <a:endParaRPr lang="en-US"/>
          </a:p>
        </p:txBody>
      </p:sp>
      <p:sp>
        <p:nvSpPr>
          <p:cNvPr id="32" name="Text 30"/>
          <p:cNvSpPr/>
          <p:nvPr/>
        </p:nvSpPr>
        <p:spPr>
          <a:xfrm>
            <a:off x="8229600" y="2578608"/>
            <a:ext cx="3291840" cy="228600"/>
          </a:xfrm>
          <a:prstGeom prst="rect">
            <a:avLst/>
          </a:prstGeom>
          <a:noFill/>
          <a:ln/>
        </p:spPr>
        <p:txBody>
          <a:bodyPr wrap="square" lIns="0" tIns="0" rIns="0" bIns="0" rtlCol="0" anchor="ctr"/>
          <a:lstStyle/>
          <a:p>
            <a:pPr marL="0" indent="0">
              <a:buNone/>
            </a:pPr>
            <a:r>
              <a:rPr lang="en-US" sz="1200" b="1" kern="0" spc="100" dirty="0">
                <a:solidFill>
                  <a:srgbClr val="C96E6E"/>
                </a:solidFill>
                <a:latin typeface="Consolas" pitchFamily="34" charset="0"/>
                <a:ea typeface="Consolas" pitchFamily="34" charset="-122"/>
                <a:cs typeface="Consolas" pitchFamily="34" charset="-120"/>
              </a:rPr>
              <a:t>Business Model</a:t>
            </a:r>
            <a:endParaRPr lang="en-US" sz="1200" b="1" dirty="0"/>
          </a:p>
        </p:txBody>
      </p:sp>
      <p:sp>
        <p:nvSpPr>
          <p:cNvPr id="33" name="Text 31"/>
          <p:cNvSpPr/>
          <p:nvPr/>
        </p:nvSpPr>
        <p:spPr>
          <a:xfrm>
            <a:off x="8229600" y="2834640"/>
            <a:ext cx="3291840" cy="1097280"/>
          </a:xfrm>
          <a:prstGeom prst="rect">
            <a:avLst/>
          </a:prstGeom>
          <a:noFill/>
          <a:ln/>
        </p:spPr>
        <p:txBody>
          <a:bodyPr wrap="square" lIns="0" tIns="0" rIns="0" bIns="0" rtlCol="0" anchor="ctr"/>
          <a:lstStyle/>
          <a:p>
            <a:pPr marL="0" indent="0">
              <a:buNone/>
            </a:pPr>
            <a:r>
              <a:rPr lang="en-US" sz="950" dirty="0">
                <a:solidFill>
                  <a:srgbClr val="9898B0"/>
                </a:solidFill>
                <a:latin typeface="Calibri" pitchFamily="34" charset="0"/>
                <a:ea typeface="Calibri" pitchFamily="34" charset="-122"/>
                <a:cs typeface="Calibri" pitchFamily="34" charset="-120"/>
              </a:rPr>
              <a:t>Volume-driven. Trend-reactive. Revenue €20B–€30B. No creative authorship. Competing on price and speed.</a:t>
            </a:r>
            <a:endParaRPr lang="en-US" sz="950" dirty="0"/>
          </a:p>
        </p:txBody>
      </p:sp>
      <p:sp>
        <p:nvSpPr>
          <p:cNvPr id="34" name="Text 32"/>
          <p:cNvSpPr/>
          <p:nvPr/>
        </p:nvSpPr>
        <p:spPr>
          <a:xfrm>
            <a:off x="8229600" y="4069080"/>
            <a:ext cx="3291840" cy="228600"/>
          </a:xfrm>
          <a:prstGeom prst="rect">
            <a:avLst/>
          </a:prstGeom>
          <a:noFill/>
          <a:ln/>
        </p:spPr>
        <p:txBody>
          <a:bodyPr wrap="square" lIns="0" tIns="0" rIns="0" bIns="0" rtlCol="0" anchor="ctr"/>
          <a:lstStyle/>
          <a:p>
            <a:pPr marL="0" indent="0">
              <a:buNone/>
            </a:pPr>
            <a:r>
              <a:rPr lang="en-US" sz="1100" kern="0" spc="100" dirty="0">
                <a:solidFill>
                  <a:srgbClr val="C9A96E"/>
                </a:solidFill>
                <a:latin typeface="Consolas" pitchFamily="34" charset="0"/>
                <a:ea typeface="Consolas" pitchFamily="34" charset="-122"/>
                <a:cs typeface="Consolas" pitchFamily="34" charset="-120"/>
              </a:rPr>
              <a:t>Strength</a:t>
            </a:r>
            <a:endParaRPr lang="en-US" sz="1100" dirty="0"/>
          </a:p>
        </p:txBody>
      </p:sp>
      <p:sp>
        <p:nvSpPr>
          <p:cNvPr id="35" name="Text 33"/>
          <p:cNvSpPr/>
          <p:nvPr/>
        </p:nvSpPr>
        <p:spPr>
          <a:xfrm>
            <a:off x="8229600" y="4315968"/>
            <a:ext cx="3291840" cy="502920"/>
          </a:xfrm>
          <a:prstGeom prst="rect">
            <a:avLst/>
          </a:prstGeom>
          <a:noFill/>
          <a:ln/>
        </p:spPr>
        <p:txBody>
          <a:bodyPr wrap="square" lIns="0" tIns="0" rIns="0" bIns="0" rtlCol="0" anchor="ctr"/>
          <a:lstStyle/>
          <a:p>
            <a:pPr marL="0" indent="0">
              <a:buNone/>
            </a:pPr>
            <a:r>
              <a:rPr lang="en-US" sz="950" dirty="0">
                <a:solidFill>
                  <a:srgbClr val="9898B0"/>
                </a:solidFill>
                <a:latin typeface="Calibri" pitchFamily="34" charset="0"/>
                <a:ea typeface="Calibri" pitchFamily="34" charset="-122"/>
                <a:cs typeface="Calibri" pitchFamily="34" charset="-120"/>
              </a:rPr>
              <a:t>Mass market reach — billions of customers</a:t>
            </a:r>
            <a:endParaRPr lang="en-US" sz="950" dirty="0"/>
          </a:p>
        </p:txBody>
      </p:sp>
      <p:sp>
        <p:nvSpPr>
          <p:cNvPr id="36" name="Text 34"/>
          <p:cNvSpPr/>
          <p:nvPr/>
        </p:nvSpPr>
        <p:spPr>
          <a:xfrm>
            <a:off x="8229600" y="4892040"/>
            <a:ext cx="3291840" cy="228600"/>
          </a:xfrm>
          <a:prstGeom prst="rect">
            <a:avLst/>
          </a:prstGeom>
          <a:noFill/>
          <a:ln/>
        </p:spPr>
        <p:txBody>
          <a:bodyPr wrap="square" lIns="0" tIns="0" rIns="0" bIns="0" rtlCol="0" anchor="ctr"/>
          <a:lstStyle/>
          <a:p>
            <a:pPr marL="0" indent="0">
              <a:buNone/>
            </a:pPr>
            <a:r>
              <a:rPr lang="en-US" sz="1100" kern="0" spc="100" dirty="0">
                <a:solidFill>
                  <a:srgbClr val="C96E6E"/>
                </a:solidFill>
                <a:latin typeface="Consolas" pitchFamily="34" charset="0"/>
                <a:ea typeface="Consolas" pitchFamily="34" charset="-122"/>
                <a:cs typeface="Consolas" pitchFamily="34" charset="-120"/>
              </a:rPr>
              <a:t>Risk</a:t>
            </a:r>
            <a:endParaRPr lang="en-US" sz="1100" dirty="0"/>
          </a:p>
        </p:txBody>
      </p:sp>
      <p:sp>
        <p:nvSpPr>
          <p:cNvPr id="37" name="Text 35"/>
          <p:cNvSpPr/>
          <p:nvPr/>
        </p:nvSpPr>
        <p:spPr>
          <a:xfrm>
            <a:off x="8229600" y="5138928"/>
            <a:ext cx="3291840" cy="548640"/>
          </a:xfrm>
          <a:prstGeom prst="rect">
            <a:avLst/>
          </a:prstGeom>
          <a:noFill/>
          <a:ln/>
        </p:spPr>
        <p:txBody>
          <a:bodyPr wrap="square" lIns="0" tIns="0" rIns="0" bIns="0" rtlCol="0" anchor="ctr"/>
          <a:lstStyle/>
          <a:p>
            <a:pPr marL="0" indent="0">
              <a:buNone/>
            </a:pPr>
            <a:r>
              <a:rPr lang="en-US" sz="950" dirty="0">
                <a:solidFill>
                  <a:srgbClr val="9898B0"/>
                </a:solidFill>
                <a:latin typeface="Calibri" pitchFamily="34" charset="0"/>
                <a:ea typeface="Calibri" pitchFamily="34" charset="-122"/>
                <a:cs typeface="Calibri" pitchFamily="34" charset="-120"/>
              </a:rPr>
              <a:t>Zero brand equity — replaceable by the next cheaper competitor</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274320"/>
            <a:ext cx="9144000" cy="320040"/>
          </a:xfrm>
          <a:prstGeom prst="rect">
            <a:avLst/>
          </a:prstGeom>
          <a:noFill/>
          <a:ln/>
        </p:spPr>
        <p:txBody>
          <a:bodyPr wrap="square" lIns="0" tIns="0" rIns="0" bIns="0" rtlCol="0" anchor="ctr"/>
          <a:lstStyle/>
          <a:p>
            <a:pPr marL="0" indent="0">
              <a:buNone/>
            </a:pPr>
            <a:r>
              <a:rPr lang="en-US" sz="900" kern="0" spc="200" dirty="0">
                <a:solidFill>
                  <a:srgbClr val="C9A96E"/>
                </a:solidFill>
                <a:latin typeface="Consolas" pitchFamily="34" charset="0"/>
                <a:ea typeface="Consolas" pitchFamily="34" charset="-122"/>
                <a:cs typeface="Consolas" pitchFamily="34" charset="-120"/>
              </a:rPr>
              <a:t>03  ·  THE ANTI-VIRALITY PARADOX</a:t>
            </a:r>
            <a:endParaRPr lang="en-US" sz="900" dirty="0"/>
          </a:p>
        </p:txBody>
      </p:sp>
      <p:sp>
        <p:nvSpPr>
          <p:cNvPr id="4" name="Text 2"/>
          <p:cNvSpPr/>
          <p:nvPr/>
        </p:nvSpPr>
        <p:spPr>
          <a:xfrm>
            <a:off x="502920" y="640080"/>
            <a:ext cx="8229600" cy="365760"/>
          </a:xfrm>
          <a:prstGeom prst="rect">
            <a:avLst/>
          </a:prstGeom>
          <a:noFill/>
          <a:ln/>
        </p:spPr>
        <p:txBody>
          <a:bodyPr wrap="square" lIns="0" tIns="0" rIns="0" bIns="0" rtlCol="0" anchor="ctr"/>
          <a:lstStyle/>
          <a:p>
            <a:pPr marL="0" indent="0">
              <a:buNone/>
            </a:pPr>
            <a:r>
              <a:rPr lang="en-US" sz="1800" b="1" dirty="0">
                <a:solidFill>
                  <a:srgbClr val="E8E8F0"/>
                </a:solidFill>
                <a:latin typeface="Georgia" pitchFamily="34" charset="0"/>
                <a:ea typeface="Georgia" pitchFamily="34" charset="-122"/>
                <a:cs typeface="Georgia" pitchFamily="34" charset="-120"/>
              </a:rPr>
              <a:t>Revenue vs. Social Media Scale</a:t>
            </a:r>
            <a:endParaRPr lang="en-US" sz="1800" dirty="0"/>
          </a:p>
        </p:txBody>
      </p:sp>
      <p:pic>
        <p:nvPicPr>
          <p:cNvPr id="5" name="Image 0" descr="/home/claude/charts/01_anti_virality_paradox.png"/>
          <p:cNvPicPr>
            <a:picLocks noChangeAspect="1"/>
          </p:cNvPicPr>
          <p:nvPr/>
        </p:nvPicPr>
        <p:blipFill>
          <a:blip r:embed="rId3"/>
          <a:stretch>
            <a:fillRect/>
          </a:stretch>
        </p:blipFill>
        <p:spPr>
          <a:xfrm>
            <a:off x="365760" y="1097280"/>
            <a:ext cx="7772400" cy="4663440"/>
          </a:xfrm>
          <a:prstGeom prst="rect">
            <a:avLst/>
          </a:prstGeom>
        </p:spPr>
      </p:pic>
      <p:sp>
        <p:nvSpPr>
          <p:cNvPr id="6" name="Shape 3"/>
          <p:cNvSpPr/>
          <p:nvPr/>
        </p:nvSpPr>
        <p:spPr>
          <a:xfrm>
            <a:off x="8321040" y="1097280"/>
            <a:ext cx="3566160" cy="2011680"/>
          </a:xfrm>
          <a:prstGeom prst="rect">
            <a:avLst/>
          </a:prstGeom>
          <a:solidFill>
            <a:srgbClr val="1A1A22"/>
          </a:solidFill>
          <a:ln w="10160">
            <a:solidFill>
              <a:srgbClr val="C9A96E"/>
            </a:solidFill>
            <a:prstDash val="solid"/>
          </a:ln>
        </p:spPr>
        <p:txBody>
          <a:bodyPr/>
          <a:lstStyle/>
          <a:p>
            <a:endParaRPr lang="en-US"/>
          </a:p>
        </p:txBody>
      </p:sp>
      <p:sp>
        <p:nvSpPr>
          <p:cNvPr id="7" name="Text 4"/>
          <p:cNvSpPr/>
          <p:nvPr/>
        </p:nvSpPr>
        <p:spPr>
          <a:xfrm>
            <a:off x="8458200" y="1234440"/>
            <a:ext cx="3291840" cy="274320"/>
          </a:xfrm>
          <a:prstGeom prst="rect">
            <a:avLst/>
          </a:prstGeom>
          <a:noFill/>
          <a:ln/>
        </p:spPr>
        <p:txBody>
          <a:bodyPr wrap="square" lIns="0" tIns="0" rIns="0" bIns="0" rtlCol="0" anchor="ctr"/>
          <a:lstStyle/>
          <a:p>
            <a:pPr marL="0" indent="0">
              <a:buNone/>
            </a:pPr>
            <a:r>
              <a:rPr lang="en-US" sz="800" kern="0" spc="200" dirty="0">
                <a:solidFill>
                  <a:srgbClr val="C9A96E"/>
                </a:solidFill>
                <a:latin typeface="Consolas" pitchFamily="34" charset="0"/>
                <a:ea typeface="Consolas" pitchFamily="34" charset="-122"/>
                <a:cs typeface="Consolas" pitchFamily="34" charset="-120"/>
              </a:rPr>
              <a:t>KEY FINDING</a:t>
            </a:r>
            <a:endParaRPr lang="en-US" sz="800" dirty="0"/>
          </a:p>
        </p:txBody>
      </p:sp>
      <p:sp>
        <p:nvSpPr>
          <p:cNvPr id="8" name="Text 5"/>
          <p:cNvSpPr/>
          <p:nvPr/>
        </p:nvSpPr>
        <p:spPr>
          <a:xfrm>
            <a:off x="8458200" y="1572768"/>
            <a:ext cx="3291840" cy="1371600"/>
          </a:xfrm>
          <a:prstGeom prst="rect">
            <a:avLst/>
          </a:prstGeom>
          <a:noFill/>
          <a:ln/>
        </p:spPr>
        <p:txBody>
          <a:bodyPr wrap="square" lIns="0" tIns="0" rIns="0" bIns="0" rtlCol="0" anchor="ctr"/>
          <a:lstStyle/>
          <a:p>
            <a:pPr marL="0" indent="0">
              <a:buNone/>
            </a:pPr>
            <a:r>
              <a:rPr lang="en-US" sz="1050" dirty="0">
                <a:solidFill>
                  <a:srgbClr val="E8E8F0"/>
                </a:solidFill>
                <a:latin typeface="Calibri" pitchFamily="34" charset="0"/>
                <a:ea typeface="Calibri" pitchFamily="34" charset="-122"/>
                <a:cs typeface="Calibri" pitchFamily="34" charset="-120"/>
              </a:rPr>
              <a:t>Rick Owens generates €125M in revenue with 2.1M Instagram followers. Shein has 31M followers. The ratio is inverted — and intentional.</a:t>
            </a:r>
            <a:endParaRPr lang="en-US" sz="1050" dirty="0"/>
          </a:p>
        </p:txBody>
      </p:sp>
      <p:sp>
        <p:nvSpPr>
          <p:cNvPr id="9" name="Shape 6"/>
          <p:cNvSpPr/>
          <p:nvPr/>
        </p:nvSpPr>
        <p:spPr>
          <a:xfrm>
            <a:off x="8321040" y="3291840"/>
            <a:ext cx="3566160" cy="2560320"/>
          </a:xfrm>
          <a:prstGeom prst="rect">
            <a:avLst/>
          </a:prstGeom>
          <a:solidFill>
            <a:srgbClr val="1A1A22"/>
          </a:solidFill>
          <a:ln w="6350">
            <a:solidFill>
              <a:srgbClr val="2A2A38"/>
            </a:solidFill>
            <a:prstDash val="solid"/>
          </a:ln>
        </p:spPr>
        <p:txBody>
          <a:bodyPr/>
          <a:lstStyle/>
          <a:p>
            <a:endParaRPr lang="en-US"/>
          </a:p>
        </p:txBody>
      </p:sp>
      <p:sp>
        <p:nvSpPr>
          <p:cNvPr id="10" name="Text 7"/>
          <p:cNvSpPr/>
          <p:nvPr/>
        </p:nvSpPr>
        <p:spPr>
          <a:xfrm>
            <a:off x="8458200" y="3429000"/>
            <a:ext cx="3291840" cy="274320"/>
          </a:xfrm>
          <a:prstGeom prst="rect">
            <a:avLst/>
          </a:prstGeom>
          <a:noFill/>
          <a:ln/>
        </p:spPr>
        <p:txBody>
          <a:bodyPr wrap="square" lIns="0" tIns="0" rIns="0" bIns="0" rtlCol="0" anchor="ctr"/>
          <a:lstStyle/>
          <a:p>
            <a:pPr marL="0" indent="0">
              <a:buNone/>
            </a:pPr>
            <a:r>
              <a:rPr lang="en-US" sz="800" kern="0" spc="200" dirty="0">
                <a:solidFill>
                  <a:srgbClr val="C9A96E"/>
                </a:solidFill>
                <a:latin typeface="Consolas" pitchFamily="34" charset="0"/>
                <a:ea typeface="Consolas" pitchFamily="34" charset="-122"/>
                <a:cs typeface="Consolas" pitchFamily="34" charset="-120"/>
              </a:rPr>
              <a:t>WHY IT WORKS</a:t>
            </a:r>
            <a:endParaRPr lang="en-US" sz="800" dirty="0"/>
          </a:p>
        </p:txBody>
      </p:sp>
      <p:sp>
        <p:nvSpPr>
          <p:cNvPr id="11" name="Text 8"/>
          <p:cNvSpPr/>
          <p:nvPr/>
        </p:nvSpPr>
        <p:spPr>
          <a:xfrm>
            <a:off x="8458200" y="3767328"/>
            <a:ext cx="3291840" cy="1920240"/>
          </a:xfrm>
          <a:prstGeom prst="rect">
            <a:avLst/>
          </a:prstGeom>
          <a:noFill/>
          <a:ln/>
        </p:spPr>
        <p:txBody>
          <a:bodyPr wrap="square" lIns="0" tIns="0" rIns="0" bIns="0" rtlCol="0" anchor="ctr"/>
          <a:lstStyle/>
          <a:p>
            <a:pPr marL="0" indent="0">
              <a:buNone/>
            </a:pPr>
            <a:r>
              <a:rPr lang="en-US" sz="1050" dirty="0">
                <a:solidFill>
                  <a:srgbClr val="9898B0"/>
                </a:solidFill>
                <a:latin typeface="Calibri" pitchFamily="34" charset="0"/>
                <a:ea typeface="Calibri" pitchFamily="34" charset="-122"/>
                <a:cs typeface="Calibri" pitchFamily="34" charset="-120"/>
              </a:rPr>
              <a:t>Virality is a liability for luxury brands. Mass exposure erodes the perception of scarcity. Avant-garde brands cultivate deliberate obscurity — making the brand feel like a discovery, not an advertisement.</a:t>
            </a:r>
            <a:endParaRPr lang="en-US" sz="1050" dirty="0"/>
          </a:p>
        </p:txBody>
      </p:sp>
      <p:sp>
        <p:nvSpPr>
          <p:cNvPr id="12" name="Text 9"/>
          <p:cNvSpPr/>
          <p:nvPr/>
        </p:nvSpPr>
        <p:spPr>
          <a:xfrm>
            <a:off x="502920" y="6263640"/>
            <a:ext cx="10972800" cy="228600"/>
          </a:xfrm>
          <a:prstGeom prst="rect">
            <a:avLst/>
          </a:prstGeom>
          <a:noFill/>
          <a:ln/>
        </p:spPr>
        <p:txBody>
          <a:bodyPr wrap="square" lIns="0" tIns="0" rIns="0" bIns="0" rtlCol="0" anchor="ctr"/>
          <a:lstStyle/>
          <a:p>
            <a:pPr marL="0" indent="0">
              <a:buNone/>
            </a:pPr>
            <a:r>
              <a:rPr lang="en-US" sz="750" i="1" dirty="0">
                <a:solidFill>
                  <a:srgbClr val="5A5A72"/>
                </a:solidFill>
                <a:latin typeface="Calibri" pitchFamily="34" charset="0"/>
                <a:ea typeface="Calibri" pitchFamily="34" charset="-122"/>
                <a:cs typeface="Calibri" pitchFamily="34" charset="-120"/>
              </a:rPr>
              <a:t>Source: Instagram public data (2024); Owenscorp 2023 filing; OTB 2023 annual report; Business of Fashion; Author estimates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274320"/>
            <a:ext cx="9144000" cy="320040"/>
          </a:xfrm>
          <a:prstGeom prst="rect">
            <a:avLst/>
          </a:prstGeom>
          <a:noFill/>
          <a:ln/>
        </p:spPr>
        <p:txBody>
          <a:bodyPr wrap="square" lIns="0" tIns="0" rIns="0" bIns="0" rtlCol="0" anchor="ctr"/>
          <a:lstStyle/>
          <a:p>
            <a:pPr marL="0" indent="0">
              <a:buNone/>
            </a:pPr>
            <a:r>
              <a:rPr lang="en-US" sz="900" kern="0" spc="200" dirty="0">
                <a:solidFill>
                  <a:srgbClr val="C9A96E"/>
                </a:solidFill>
                <a:latin typeface="Consolas" pitchFamily="34" charset="0"/>
                <a:ea typeface="Consolas" pitchFamily="34" charset="-122"/>
                <a:cs typeface="Consolas" pitchFamily="34" charset="-120"/>
              </a:rPr>
              <a:t>04  ·  THE RESALE SIGNAL</a:t>
            </a:r>
            <a:endParaRPr lang="en-US" sz="900" dirty="0"/>
          </a:p>
        </p:txBody>
      </p:sp>
      <p:sp>
        <p:nvSpPr>
          <p:cNvPr id="4" name="Text 2"/>
          <p:cNvSpPr/>
          <p:nvPr/>
        </p:nvSpPr>
        <p:spPr>
          <a:xfrm>
            <a:off x="502920" y="640080"/>
            <a:ext cx="10058400" cy="365760"/>
          </a:xfrm>
          <a:prstGeom prst="rect">
            <a:avLst/>
          </a:prstGeom>
          <a:noFill/>
          <a:ln/>
        </p:spPr>
        <p:txBody>
          <a:bodyPr wrap="square" lIns="0" tIns="0" rIns="0" bIns="0" rtlCol="0" anchor="ctr"/>
          <a:lstStyle/>
          <a:p>
            <a:pPr marL="0" indent="0">
              <a:buNone/>
            </a:pPr>
            <a:r>
              <a:rPr lang="en-US" sz="1800" b="1" dirty="0">
                <a:solidFill>
                  <a:srgbClr val="E8E8F0"/>
                </a:solidFill>
                <a:latin typeface="Georgia" pitchFamily="34" charset="0"/>
                <a:ea typeface="Georgia" pitchFamily="34" charset="-122"/>
                <a:cs typeface="Georgia" pitchFamily="34" charset="-120"/>
              </a:rPr>
              <a:t>Secondary Market Performance as a Brand Durability Indicator</a:t>
            </a:r>
            <a:endParaRPr lang="en-US" sz="1800" dirty="0"/>
          </a:p>
        </p:txBody>
      </p:sp>
      <p:pic>
        <p:nvPicPr>
          <p:cNvPr id="5" name="Image 0" descr="/home/claude/charts/02_resale_retention.png"/>
          <p:cNvPicPr>
            <a:picLocks noChangeAspect="1"/>
          </p:cNvPicPr>
          <p:nvPr/>
        </p:nvPicPr>
        <p:blipFill>
          <a:blip r:embed="rId3"/>
          <a:stretch>
            <a:fillRect/>
          </a:stretch>
        </p:blipFill>
        <p:spPr>
          <a:xfrm>
            <a:off x="365760" y="1097280"/>
            <a:ext cx="7132320" cy="4389120"/>
          </a:xfrm>
          <a:prstGeom prst="rect">
            <a:avLst/>
          </a:prstGeom>
        </p:spPr>
      </p:pic>
      <p:sp>
        <p:nvSpPr>
          <p:cNvPr id="6" name="Shape 3"/>
          <p:cNvSpPr/>
          <p:nvPr/>
        </p:nvSpPr>
        <p:spPr>
          <a:xfrm>
            <a:off x="7772400" y="1188720"/>
            <a:ext cx="4114800" cy="1417320"/>
          </a:xfrm>
          <a:prstGeom prst="rect">
            <a:avLst/>
          </a:prstGeom>
          <a:solidFill>
            <a:srgbClr val="1A1A22"/>
          </a:solidFill>
          <a:ln w="6350">
            <a:solidFill>
              <a:srgbClr val="2A2A38"/>
            </a:solidFill>
            <a:prstDash val="solid"/>
          </a:ln>
        </p:spPr>
        <p:txBody>
          <a:bodyPr/>
          <a:lstStyle/>
          <a:p>
            <a:endParaRPr lang="en-US"/>
          </a:p>
        </p:txBody>
      </p:sp>
      <p:sp>
        <p:nvSpPr>
          <p:cNvPr id="7" name="Shape 4"/>
          <p:cNvSpPr/>
          <p:nvPr/>
        </p:nvSpPr>
        <p:spPr>
          <a:xfrm>
            <a:off x="7772400" y="1188720"/>
            <a:ext cx="91440" cy="1417320"/>
          </a:xfrm>
          <a:prstGeom prst="rect">
            <a:avLst/>
          </a:prstGeom>
          <a:solidFill>
            <a:srgbClr val="C9A96E"/>
          </a:solidFill>
          <a:ln w="12700">
            <a:solidFill>
              <a:srgbClr val="C9A96E"/>
            </a:solidFill>
            <a:prstDash val="solid"/>
          </a:ln>
        </p:spPr>
        <p:txBody>
          <a:bodyPr/>
          <a:lstStyle/>
          <a:p>
            <a:endParaRPr lang="en-US"/>
          </a:p>
        </p:txBody>
      </p:sp>
      <p:sp>
        <p:nvSpPr>
          <p:cNvPr id="8" name="Text 5"/>
          <p:cNvSpPr/>
          <p:nvPr/>
        </p:nvSpPr>
        <p:spPr>
          <a:xfrm>
            <a:off x="8001000" y="1325880"/>
            <a:ext cx="3749040" cy="685800"/>
          </a:xfrm>
          <a:prstGeom prst="rect">
            <a:avLst/>
          </a:prstGeom>
          <a:noFill/>
          <a:ln/>
        </p:spPr>
        <p:txBody>
          <a:bodyPr wrap="square" lIns="0" tIns="0" rIns="0" bIns="0" rtlCol="0" anchor="ctr"/>
          <a:lstStyle/>
          <a:p>
            <a:pPr marL="0" indent="0">
              <a:buNone/>
            </a:pPr>
            <a:r>
              <a:rPr lang="en-US" sz="3600" b="1" dirty="0">
                <a:solidFill>
                  <a:srgbClr val="C9A96E"/>
                </a:solidFill>
                <a:latin typeface="Consolas" pitchFamily="34" charset="0"/>
                <a:ea typeface="Consolas" pitchFamily="34" charset="-122"/>
                <a:cs typeface="Consolas" pitchFamily="34" charset="-120"/>
              </a:rPr>
              <a:t>82%</a:t>
            </a:r>
            <a:endParaRPr lang="en-US" sz="3600" dirty="0"/>
          </a:p>
        </p:txBody>
      </p:sp>
      <p:sp>
        <p:nvSpPr>
          <p:cNvPr id="9" name="Text 6"/>
          <p:cNvSpPr/>
          <p:nvPr/>
        </p:nvSpPr>
        <p:spPr>
          <a:xfrm>
            <a:off x="8001000" y="1965960"/>
            <a:ext cx="3749040" cy="457200"/>
          </a:xfrm>
          <a:prstGeom prst="rect">
            <a:avLst/>
          </a:prstGeom>
          <a:noFill/>
          <a:ln/>
        </p:spPr>
        <p:txBody>
          <a:bodyPr wrap="square" lIns="0" tIns="0" rIns="0" bIns="0" rtlCol="0" anchor="ctr"/>
          <a:lstStyle/>
          <a:p>
            <a:pPr marL="0" indent="0">
              <a:buNone/>
            </a:pPr>
            <a:r>
              <a:rPr lang="en-US" sz="1000" dirty="0">
                <a:solidFill>
                  <a:srgbClr val="9898B0"/>
                </a:solidFill>
                <a:latin typeface="Calibri" pitchFamily="34" charset="0"/>
                <a:ea typeface="Calibri" pitchFamily="34" charset="-122"/>
                <a:cs typeface="Calibri" pitchFamily="34" charset="-120"/>
              </a:rPr>
              <a:t>Maison Margiela resale retention</a:t>
            </a:r>
            <a:endParaRPr lang="en-US" sz="1000" dirty="0"/>
          </a:p>
        </p:txBody>
      </p:sp>
      <p:sp>
        <p:nvSpPr>
          <p:cNvPr id="10" name="Shape 7"/>
          <p:cNvSpPr/>
          <p:nvPr/>
        </p:nvSpPr>
        <p:spPr>
          <a:xfrm>
            <a:off x="7772400" y="2834640"/>
            <a:ext cx="4114800" cy="1417320"/>
          </a:xfrm>
          <a:prstGeom prst="rect">
            <a:avLst/>
          </a:prstGeom>
          <a:solidFill>
            <a:srgbClr val="1A1A22"/>
          </a:solidFill>
          <a:ln w="6350">
            <a:solidFill>
              <a:srgbClr val="2A2A38"/>
            </a:solidFill>
            <a:prstDash val="solid"/>
          </a:ln>
        </p:spPr>
        <p:txBody>
          <a:bodyPr/>
          <a:lstStyle/>
          <a:p>
            <a:endParaRPr lang="en-US"/>
          </a:p>
        </p:txBody>
      </p:sp>
      <p:sp>
        <p:nvSpPr>
          <p:cNvPr id="11" name="Shape 8"/>
          <p:cNvSpPr/>
          <p:nvPr/>
        </p:nvSpPr>
        <p:spPr>
          <a:xfrm>
            <a:off x="7772400" y="2834640"/>
            <a:ext cx="91440" cy="1417320"/>
          </a:xfrm>
          <a:prstGeom prst="rect">
            <a:avLst/>
          </a:prstGeom>
          <a:solidFill>
            <a:srgbClr val="C9A96E"/>
          </a:solidFill>
          <a:ln w="12700">
            <a:solidFill>
              <a:srgbClr val="C9A96E"/>
            </a:solidFill>
            <a:prstDash val="solid"/>
          </a:ln>
        </p:spPr>
        <p:txBody>
          <a:bodyPr/>
          <a:lstStyle/>
          <a:p>
            <a:endParaRPr lang="en-US"/>
          </a:p>
        </p:txBody>
      </p:sp>
      <p:sp>
        <p:nvSpPr>
          <p:cNvPr id="12" name="Text 9"/>
          <p:cNvSpPr/>
          <p:nvPr/>
        </p:nvSpPr>
        <p:spPr>
          <a:xfrm>
            <a:off x="8001000" y="2971800"/>
            <a:ext cx="3749040" cy="685800"/>
          </a:xfrm>
          <a:prstGeom prst="rect">
            <a:avLst/>
          </a:prstGeom>
          <a:noFill/>
          <a:ln/>
        </p:spPr>
        <p:txBody>
          <a:bodyPr wrap="square" lIns="0" tIns="0" rIns="0" bIns="0" rtlCol="0" anchor="ctr"/>
          <a:lstStyle/>
          <a:p>
            <a:pPr marL="0" indent="0">
              <a:buNone/>
            </a:pPr>
            <a:r>
              <a:rPr lang="en-US" sz="3600" b="1" dirty="0">
                <a:solidFill>
                  <a:srgbClr val="C9A96E"/>
                </a:solidFill>
                <a:latin typeface="Consolas" pitchFamily="34" charset="0"/>
                <a:ea typeface="Consolas" pitchFamily="34" charset="-122"/>
                <a:cs typeface="Consolas" pitchFamily="34" charset="-120"/>
              </a:rPr>
              <a:t>300%+</a:t>
            </a:r>
            <a:endParaRPr lang="en-US" sz="3600" dirty="0"/>
          </a:p>
        </p:txBody>
      </p:sp>
      <p:sp>
        <p:nvSpPr>
          <p:cNvPr id="13" name="Text 10"/>
          <p:cNvSpPr/>
          <p:nvPr/>
        </p:nvSpPr>
        <p:spPr>
          <a:xfrm>
            <a:off x="8001000" y="3611880"/>
            <a:ext cx="3749040" cy="457200"/>
          </a:xfrm>
          <a:prstGeom prst="rect">
            <a:avLst/>
          </a:prstGeom>
          <a:noFill/>
          <a:ln/>
        </p:spPr>
        <p:txBody>
          <a:bodyPr wrap="square" lIns="0" tIns="0" rIns="0" bIns="0" rtlCol="0" anchor="ctr"/>
          <a:lstStyle/>
          <a:p>
            <a:pPr marL="0" indent="0">
              <a:buNone/>
            </a:pPr>
            <a:r>
              <a:rPr lang="en-US" sz="1000" dirty="0">
                <a:solidFill>
                  <a:srgbClr val="9898B0"/>
                </a:solidFill>
                <a:latin typeface="Calibri" pitchFamily="34" charset="0"/>
                <a:ea typeface="Calibri" pitchFamily="34" charset="-122"/>
                <a:cs typeface="Calibri" pitchFamily="34" charset="-120"/>
              </a:rPr>
              <a:t>Helmut Lang archive premium</a:t>
            </a:r>
            <a:endParaRPr lang="en-US" sz="1000" dirty="0"/>
          </a:p>
        </p:txBody>
      </p:sp>
      <p:sp>
        <p:nvSpPr>
          <p:cNvPr id="14" name="Shape 11"/>
          <p:cNvSpPr/>
          <p:nvPr/>
        </p:nvSpPr>
        <p:spPr>
          <a:xfrm>
            <a:off x="7772400" y="4480560"/>
            <a:ext cx="4114800" cy="1417320"/>
          </a:xfrm>
          <a:prstGeom prst="rect">
            <a:avLst/>
          </a:prstGeom>
          <a:solidFill>
            <a:srgbClr val="1A1A22"/>
          </a:solidFill>
          <a:ln w="6350">
            <a:solidFill>
              <a:srgbClr val="2A2A38"/>
            </a:solidFill>
            <a:prstDash val="solid"/>
          </a:ln>
        </p:spPr>
        <p:txBody>
          <a:bodyPr/>
          <a:lstStyle/>
          <a:p>
            <a:endParaRPr lang="en-US"/>
          </a:p>
        </p:txBody>
      </p:sp>
      <p:sp>
        <p:nvSpPr>
          <p:cNvPr id="15" name="Shape 12"/>
          <p:cNvSpPr/>
          <p:nvPr/>
        </p:nvSpPr>
        <p:spPr>
          <a:xfrm>
            <a:off x="7772400" y="4480560"/>
            <a:ext cx="91440" cy="1417320"/>
          </a:xfrm>
          <a:prstGeom prst="rect">
            <a:avLst/>
          </a:prstGeom>
          <a:solidFill>
            <a:srgbClr val="C96E6E"/>
          </a:solidFill>
          <a:ln w="12700">
            <a:solidFill>
              <a:srgbClr val="C96E6E"/>
            </a:solidFill>
            <a:prstDash val="solid"/>
          </a:ln>
        </p:spPr>
        <p:txBody>
          <a:bodyPr/>
          <a:lstStyle/>
          <a:p>
            <a:endParaRPr lang="en-US"/>
          </a:p>
        </p:txBody>
      </p:sp>
      <p:sp>
        <p:nvSpPr>
          <p:cNvPr id="16" name="Text 13"/>
          <p:cNvSpPr/>
          <p:nvPr/>
        </p:nvSpPr>
        <p:spPr>
          <a:xfrm>
            <a:off x="8001000" y="4617720"/>
            <a:ext cx="3749040" cy="685800"/>
          </a:xfrm>
          <a:prstGeom prst="rect">
            <a:avLst/>
          </a:prstGeom>
          <a:noFill/>
          <a:ln/>
        </p:spPr>
        <p:txBody>
          <a:bodyPr wrap="square" lIns="0" tIns="0" rIns="0" bIns="0" rtlCol="0" anchor="ctr"/>
          <a:lstStyle/>
          <a:p>
            <a:pPr marL="0" indent="0">
              <a:buNone/>
            </a:pPr>
            <a:r>
              <a:rPr lang="en-US" sz="3600" b="1" dirty="0">
                <a:solidFill>
                  <a:srgbClr val="C96E6E"/>
                </a:solidFill>
                <a:latin typeface="Consolas" pitchFamily="34" charset="0"/>
                <a:ea typeface="Consolas" pitchFamily="34" charset="-122"/>
                <a:cs typeface="Consolas" pitchFamily="34" charset="-120"/>
              </a:rPr>
              <a:t>2–5%</a:t>
            </a:r>
            <a:endParaRPr lang="en-US" sz="3600" dirty="0"/>
          </a:p>
        </p:txBody>
      </p:sp>
      <p:sp>
        <p:nvSpPr>
          <p:cNvPr id="17" name="Text 14"/>
          <p:cNvSpPr/>
          <p:nvPr/>
        </p:nvSpPr>
        <p:spPr>
          <a:xfrm>
            <a:off x="8001000" y="5257800"/>
            <a:ext cx="3749040" cy="457200"/>
          </a:xfrm>
          <a:prstGeom prst="rect">
            <a:avLst/>
          </a:prstGeom>
          <a:noFill/>
          <a:ln/>
        </p:spPr>
        <p:txBody>
          <a:bodyPr wrap="square" lIns="0" tIns="0" rIns="0" bIns="0" rtlCol="0" anchor="ctr"/>
          <a:lstStyle/>
          <a:p>
            <a:pPr marL="0" indent="0">
              <a:buNone/>
            </a:pPr>
            <a:r>
              <a:rPr lang="en-US" sz="1000" dirty="0">
                <a:solidFill>
                  <a:srgbClr val="9898B0"/>
                </a:solidFill>
                <a:latin typeface="Calibri" pitchFamily="34" charset="0"/>
                <a:ea typeface="Calibri" pitchFamily="34" charset="-122"/>
                <a:cs typeface="Calibri" pitchFamily="34" charset="-120"/>
              </a:rPr>
              <a:t>Fast fashion resale retention</a:t>
            </a:r>
            <a:endParaRPr lang="en-US" sz="1000" dirty="0"/>
          </a:p>
        </p:txBody>
      </p:sp>
      <p:sp>
        <p:nvSpPr>
          <p:cNvPr id="18" name="Text 15"/>
          <p:cNvSpPr/>
          <p:nvPr/>
        </p:nvSpPr>
        <p:spPr>
          <a:xfrm>
            <a:off x="502920" y="5789605"/>
            <a:ext cx="11338560" cy="457200"/>
          </a:xfrm>
          <a:prstGeom prst="rect">
            <a:avLst/>
          </a:prstGeom>
          <a:noFill/>
          <a:ln/>
        </p:spPr>
        <p:txBody>
          <a:bodyPr wrap="square" lIns="0" tIns="0" rIns="0" bIns="0" rtlCol="0" anchor="ctr"/>
          <a:lstStyle/>
          <a:p>
            <a:pPr marL="0" indent="0">
              <a:buNone/>
            </a:pPr>
            <a:r>
              <a:rPr lang="en-US" sz="1000" i="1" dirty="0">
                <a:solidFill>
                  <a:srgbClr val="9898B0"/>
                </a:solidFill>
                <a:latin typeface="Calibri" pitchFamily="34" charset="0"/>
                <a:ea typeface="Calibri" pitchFamily="34" charset="-122"/>
                <a:cs typeface="Calibri" pitchFamily="34" charset="-120"/>
              </a:rPr>
              <a:t>The secondary market is a leading indicator of brand health. When buyers confidently pay 80%+ of retail for used pieces, it signals that the brand's value proposition transcends the transaction.</a:t>
            </a:r>
            <a:endParaRPr lang="en-US" sz="1000" dirty="0"/>
          </a:p>
        </p:txBody>
      </p:sp>
      <p:sp>
        <p:nvSpPr>
          <p:cNvPr id="19" name="Text 16"/>
          <p:cNvSpPr/>
          <p:nvPr/>
        </p:nvSpPr>
        <p:spPr>
          <a:xfrm>
            <a:off x="502920" y="6217920"/>
            <a:ext cx="10972800" cy="228600"/>
          </a:xfrm>
          <a:prstGeom prst="rect">
            <a:avLst/>
          </a:prstGeom>
          <a:noFill/>
          <a:ln/>
        </p:spPr>
        <p:txBody>
          <a:bodyPr wrap="square" lIns="0" tIns="0" rIns="0" bIns="0" rtlCol="0" anchor="ctr"/>
          <a:lstStyle/>
          <a:p>
            <a:pPr marL="0" indent="0">
              <a:buNone/>
            </a:pPr>
            <a:r>
              <a:rPr lang="en-US" sz="750" i="1" dirty="0">
                <a:solidFill>
                  <a:srgbClr val="5A5A72"/>
                </a:solidFill>
                <a:latin typeface="Calibri" pitchFamily="34" charset="0"/>
                <a:ea typeface="Calibri" pitchFamily="34" charset="-122"/>
                <a:cs typeface="Calibri" pitchFamily="34" charset="-120"/>
              </a:rPr>
              <a:t>Source: Vestiaire Collective Q4 2024; Grailed sold listings; The RealReal; Sotheby's Martin Margiela 2019 sale; Author aggregated estimates</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274320"/>
            <a:ext cx="9144000" cy="320040"/>
          </a:xfrm>
          <a:prstGeom prst="rect">
            <a:avLst/>
          </a:prstGeom>
          <a:noFill/>
          <a:ln/>
        </p:spPr>
        <p:txBody>
          <a:bodyPr wrap="square" lIns="0" tIns="0" rIns="0" bIns="0" rtlCol="0" anchor="ctr"/>
          <a:lstStyle/>
          <a:p>
            <a:pPr marL="0" indent="0">
              <a:buNone/>
            </a:pPr>
            <a:r>
              <a:rPr lang="en-US" sz="900" kern="0" spc="200" dirty="0">
                <a:solidFill>
                  <a:srgbClr val="C9A96E"/>
                </a:solidFill>
                <a:latin typeface="Consolas" pitchFamily="34" charset="0"/>
                <a:ea typeface="Consolas" pitchFamily="34" charset="-122"/>
                <a:cs typeface="Consolas" pitchFamily="34" charset="-120"/>
              </a:rPr>
              <a:t>07  ·  THE ARCHIVE PREMIUM</a:t>
            </a:r>
            <a:endParaRPr lang="en-US" sz="900" dirty="0"/>
          </a:p>
        </p:txBody>
      </p:sp>
      <p:sp>
        <p:nvSpPr>
          <p:cNvPr id="4" name="Text 2"/>
          <p:cNvSpPr/>
          <p:nvPr/>
        </p:nvSpPr>
        <p:spPr>
          <a:xfrm>
            <a:off x="502920" y="640080"/>
            <a:ext cx="10058400" cy="365760"/>
          </a:xfrm>
          <a:prstGeom prst="rect">
            <a:avLst/>
          </a:prstGeom>
          <a:noFill/>
          <a:ln/>
        </p:spPr>
        <p:txBody>
          <a:bodyPr wrap="square" lIns="0" tIns="0" rIns="0" bIns="0" rtlCol="0" anchor="ctr"/>
          <a:lstStyle/>
          <a:p>
            <a:pPr marL="0" indent="0">
              <a:buNone/>
            </a:pPr>
            <a:r>
              <a:rPr lang="en-US" sz="1800" b="1" dirty="0">
                <a:solidFill>
                  <a:srgbClr val="E8E8F0"/>
                </a:solidFill>
                <a:latin typeface="Georgia" pitchFamily="34" charset="0"/>
                <a:ea typeface="Georgia" pitchFamily="34" charset="-122"/>
                <a:cs typeface="Georgia" pitchFamily="34" charset="-120"/>
              </a:rPr>
              <a:t>When a Brand's Past is Worth More Than Its Present</a:t>
            </a:r>
            <a:endParaRPr lang="en-US" sz="1800" dirty="0"/>
          </a:p>
        </p:txBody>
      </p:sp>
      <p:pic>
        <p:nvPicPr>
          <p:cNvPr id="5" name="Image 0" descr="/home/claude/charts/03_archive_premium.png"/>
          <p:cNvPicPr>
            <a:picLocks noChangeAspect="1"/>
          </p:cNvPicPr>
          <p:nvPr/>
        </p:nvPicPr>
        <p:blipFill>
          <a:blip r:embed="rId3"/>
          <a:stretch>
            <a:fillRect/>
          </a:stretch>
        </p:blipFill>
        <p:spPr>
          <a:xfrm>
            <a:off x="365760" y="1097280"/>
            <a:ext cx="7132320" cy="4389120"/>
          </a:xfrm>
          <a:prstGeom prst="rect">
            <a:avLst/>
          </a:prstGeom>
        </p:spPr>
      </p:pic>
      <p:sp>
        <p:nvSpPr>
          <p:cNvPr id="6" name="Shape 3"/>
          <p:cNvSpPr/>
          <p:nvPr/>
        </p:nvSpPr>
        <p:spPr>
          <a:xfrm>
            <a:off x="7772400" y="1097280"/>
            <a:ext cx="4114800" cy="2194560"/>
          </a:xfrm>
          <a:prstGeom prst="rect">
            <a:avLst/>
          </a:prstGeom>
          <a:solidFill>
            <a:srgbClr val="1A1A22"/>
          </a:solidFill>
          <a:ln w="10160">
            <a:solidFill>
              <a:srgbClr val="C9A96E"/>
            </a:solidFill>
            <a:prstDash val="solid"/>
          </a:ln>
        </p:spPr>
        <p:txBody>
          <a:bodyPr/>
          <a:lstStyle/>
          <a:p>
            <a:endParaRPr lang="en-US"/>
          </a:p>
        </p:txBody>
      </p:sp>
      <p:sp>
        <p:nvSpPr>
          <p:cNvPr id="7" name="Text 4"/>
          <p:cNvSpPr/>
          <p:nvPr/>
        </p:nvSpPr>
        <p:spPr>
          <a:xfrm>
            <a:off x="7909560" y="1234440"/>
            <a:ext cx="3749040" cy="274320"/>
          </a:xfrm>
          <a:prstGeom prst="rect">
            <a:avLst/>
          </a:prstGeom>
          <a:noFill/>
          <a:ln/>
        </p:spPr>
        <p:txBody>
          <a:bodyPr wrap="square" lIns="0" tIns="0" rIns="0" bIns="0" rtlCol="0" anchor="ctr"/>
          <a:lstStyle/>
          <a:p>
            <a:pPr marL="0" indent="0">
              <a:buNone/>
            </a:pPr>
            <a:r>
              <a:rPr lang="en-US" sz="900" kern="0" spc="200" dirty="0">
                <a:solidFill>
                  <a:srgbClr val="C9A96E"/>
                </a:solidFill>
                <a:latin typeface="Consolas" pitchFamily="34" charset="0"/>
                <a:ea typeface="Consolas" pitchFamily="34" charset="-122"/>
                <a:cs typeface="Consolas" pitchFamily="34" charset="-120"/>
              </a:rPr>
              <a:t>HELMUT LANG</a:t>
            </a:r>
            <a:endParaRPr lang="en-US" sz="900" dirty="0"/>
          </a:p>
        </p:txBody>
      </p:sp>
      <p:sp>
        <p:nvSpPr>
          <p:cNvPr id="8" name="Text 5"/>
          <p:cNvSpPr/>
          <p:nvPr/>
        </p:nvSpPr>
        <p:spPr>
          <a:xfrm>
            <a:off x="7909560" y="1572768"/>
            <a:ext cx="3749040" cy="1554480"/>
          </a:xfrm>
          <a:prstGeom prst="rect">
            <a:avLst/>
          </a:prstGeom>
          <a:noFill/>
          <a:ln/>
        </p:spPr>
        <p:txBody>
          <a:bodyPr wrap="square" lIns="0" tIns="0" rIns="0" bIns="0" rtlCol="0" anchor="ctr"/>
          <a:lstStyle/>
          <a:p>
            <a:pPr marL="0" indent="0">
              <a:buNone/>
            </a:pPr>
            <a:r>
              <a:rPr lang="en-US" sz="1050" dirty="0">
                <a:solidFill>
                  <a:srgbClr val="9898B0"/>
                </a:solidFill>
                <a:latin typeface="Calibri" pitchFamily="34" charset="0"/>
                <a:ea typeface="Calibri" pitchFamily="34" charset="-122"/>
                <a:cs typeface="Calibri" pitchFamily="34" charset="-120"/>
              </a:rPr>
              <a:t>Helmut Lang left fashion in 2005. The brand was sold. The designer became a visual artist. Yet his archive (1986–2004) trades at 300–400% above original retail prices — 20 years after he stopped designing.</a:t>
            </a:r>
            <a:endParaRPr lang="en-US" sz="1050" dirty="0"/>
          </a:p>
        </p:txBody>
      </p:sp>
      <p:sp>
        <p:nvSpPr>
          <p:cNvPr id="9" name="Shape 6"/>
          <p:cNvSpPr/>
          <p:nvPr/>
        </p:nvSpPr>
        <p:spPr>
          <a:xfrm>
            <a:off x="7772400" y="3474720"/>
            <a:ext cx="4114800" cy="2194560"/>
          </a:xfrm>
          <a:prstGeom prst="rect">
            <a:avLst/>
          </a:prstGeom>
          <a:solidFill>
            <a:srgbClr val="1A1A22"/>
          </a:solidFill>
          <a:ln w="6350">
            <a:solidFill>
              <a:srgbClr val="2A2A38"/>
            </a:solidFill>
            <a:prstDash val="solid"/>
          </a:ln>
        </p:spPr>
        <p:txBody>
          <a:bodyPr/>
          <a:lstStyle/>
          <a:p>
            <a:endParaRPr lang="en-US"/>
          </a:p>
        </p:txBody>
      </p:sp>
      <p:sp>
        <p:nvSpPr>
          <p:cNvPr id="10" name="Text 7"/>
          <p:cNvSpPr/>
          <p:nvPr/>
        </p:nvSpPr>
        <p:spPr>
          <a:xfrm>
            <a:off x="7909560" y="3611880"/>
            <a:ext cx="3749040" cy="274320"/>
          </a:xfrm>
          <a:prstGeom prst="rect">
            <a:avLst/>
          </a:prstGeom>
          <a:noFill/>
          <a:ln/>
        </p:spPr>
        <p:txBody>
          <a:bodyPr wrap="square" lIns="0" tIns="0" rIns="0" bIns="0" rtlCol="0" anchor="ctr"/>
          <a:lstStyle/>
          <a:p>
            <a:pPr marL="0" indent="0">
              <a:buNone/>
            </a:pPr>
            <a:r>
              <a:rPr lang="en-US" sz="900" kern="0" spc="200" dirty="0">
                <a:solidFill>
                  <a:srgbClr val="C9A96E"/>
                </a:solidFill>
                <a:latin typeface="Consolas" pitchFamily="34" charset="0"/>
                <a:ea typeface="Consolas" pitchFamily="34" charset="-122"/>
                <a:cs typeface="Consolas" pitchFamily="34" charset="-120"/>
              </a:rPr>
              <a:t>WHAT THIS PROVES</a:t>
            </a:r>
            <a:endParaRPr lang="en-US" sz="900" dirty="0"/>
          </a:p>
        </p:txBody>
      </p:sp>
      <p:sp>
        <p:nvSpPr>
          <p:cNvPr id="11" name="Text 8"/>
          <p:cNvSpPr/>
          <p:nvPr/>
        </p:nvSpPr>
        <p:spPr>
          <a:xfrm>
            <a:off x="7909560" y="3950208"/>
            <a:ext cx="3749040" cy="1554480"/>
          </a:xfrm>
          <a:prstGeom prst="rect">
            <a:avLst/>
          </a:prstGeom>
          <a:noFill/>
          <a:ln/>
        </p:spPr>
        <p:txBody>
          <a:bodyPr wrap="square" lIns="0" tIns="0" rIns="0" bIns="0" rtlCol="0" anchor="ctr"/>
          <a:lstStyle/>
          <a:p>
            <a:pPr marL="0" indent="0">
              <a:buNone/>
            </a:pPr>
            <a:r>
              <a:rPr lang="en-US" sz="1050" dirty="0">
                <a:solidFill>
                  <a:srgbClr val="9898B0"/>
                </a:solidFill>
                <a:latin typeface="Calibri" pitchFamily="34" charset="0"/>
                <a:ea typeface="Calibri" pitchFamily="34" charset="-122"/>
                <a:cs typeface="Calibri" pitchFamily="34" charset="-120"/>
              </a:rPr>
              <a:t>Avant-garde brands don't just build loyalty — they build collector ecosystems. The brand's value becomes decoupled from its operational existence. No luxury conglomerate brand has achieved this. No fast fashion brand ever will.</a:t>
            </a:r>
            <a:endParaRPr lang="en-US" sz="1050" dirty="0"/>
          </a:p>
        </p:txBody>
      </p:sp>
      <p:sp>
        <p:nvSpPr>
          <p:cNvPr id="12" name="Text 9"/>
          <p:cNvSpPr/>
          <p:nvPr/>
        </p:nvSpPr>
        <p:spPr>
          <a:xfrm>
            <a:off x="502920" y="6217920"/>
            <a:ext cx="10972800" cy="228600"/>
          </a:xfrm>
          <a:prstGeom prst="rect">
            <a:avLst/>
          </a:prstGeom>
          <a:noFill/>
          <a:ln/>
        </p:spPr>
        <p:txBody>
          <a:bodyPr wrap="square" lIns="0" tIns="0" rIns="0" bIns="0" rtlCol="0" anchor="ctr"/>
          <a:lstStyle/>
          <a:p>
            <a:pPr marL="0" indent="0">
              <a:buNone/>
            </a:pPr>
            <a:r>
              <a:rPr lang="en-US" sz="750" i="1" dirty="0">
                <a:solidFill>
                  <a:srgbClr val="5A5A72"/>
                </a:solidFill>
                <a:latin typeface="Calibri" pitchFamily="34" charset="0"/>
                <a:ea typeface="Calibri" pitchFamily="34" charset="-122"/>
                <a:cs typeface="Calibri" pitchFamily="34" charset="-120"/>
              </a:rPr>
              <a:t>Source: Grailed sold listings (2023–2024); Vestiaire Collective; Sotheby's Martin Margiela sale 2019 (€341,750 realized)</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274320"/>
            <a:ext cx="9144000" cy="320040"/>
          </a:xfrm>
          <a:prstGeom prst="rect">
            <a:avLst/>
          </a:prstGeom>
          <a:noFill/>
          <a:ln/>
        </p:spPr>
        <p:txBody>
          <a:bodyPr wrap="square" lIns="0" tIns="0" rIns="0" bIns="0" rtlCol="0" anchor="ctr"/>
          <a:lstStyle/>
          <a:p>
            <a:pPr marL="0" indent="0">
              <a:buNone/>
            </a:pPr>
            <a:r>
              <a:rPr lang="en-US" sz="900" kern="0" spc="200" dirty="0">
                <a:solidFill>
                  <a:srgbClr val="C9A96E"/>
                </a:solidFill>
                <a:latin typeface="Consolas" pitchFamily="34" charset="0"/>
                <a:ea typeface="Consolas" pitchFamily="34" charset="-122"/>
                <a:cs typeface="Consolas" pitchFamily="34" charset="-120"/>
              </a:rPr>
              <a:t>05  ·  REVENUE &amp; BUSINESS MODEL</a:t>
            </a:r>
            <a:endParaRPr lang="en-US" sz="900" dirty="0"/>
          </a:p>
        </p:txBody>
      </p:sp>
      <p:sp>
        <p:nvSpPr>
          <p:cNvPr id="4" name="Text 2"/>
          <p:cNvSpPr/>
          <p:nvPr/>
        </p:nvSpPr>
        <p:spPr>
          <a:xfrm>
            <a:off x="502920" y="640080"/>
            <a:ext cx="10058400" cy="365760"/>
          </a:xfrm>
          <a:prstGeom prst="rect">
            <a:avLst/>
          </a:prstGeom>
          <a:noFill/>
          <a:ln/>
        </p:spPr>
        <p:txBody>
          <a:bodyPr wrap="square" lIns="0" tIns="0" rIns="0" bIns="0" rtlCol="0" anchor="ctr"/>
          <a:lstStyle/>
          <a:p>
            <a:pPr marL="0" indent="0">
              <a:buNone/>
            </a:pPr>
            <a:r>
              <a:rPr lang="en-US" sz="1800" b="1" dirty="0">
                <a:solidFill>
                  <a:srgbClr val="E8E8F0"/>
                </a:solidFill>
                <a:latin typeface="Georgia" pitchFamily="34" charset="0"/>
                <a:ea typeface="Georgia" pitchFamily="34" charset="-122"/>
                <a:cs typeface="Georgia" pitchFamily="34" charset="-120"/>
              </a:rPr>
              <a:t>2023 Growth Rates — Avant-Garde Outperforms on a Median Basis</a:t>
            </a:r>
            <a:endParaRPr lang="en-US" sz="1800" dirty="0"/>
          </a:p>
        </p:txBody>
      </p:sp>
      <p:pic>
        <p:nvPicPr>
          <p:cNvPr id="5" name="Image 0" descr="/home/claude/charts/04_revenue_growth.png"/>
          <p:cNvPicPr>
            <a:picLocks noChangeAspect="1"/>
          </p:cNvPicPr>
          <p:nvPr/>
        </p:nvPicPr>
        <p:blipFill>
          <a:blip r:embed="rId3"/>
          <a:stretch>
            <a:fillRect/>
          </a:stretch>
        </p:blipFill>
        <p:spPr>
          <a:xfrm>
            <a:off x="365760" y="1097280"/>
            <a:ext cx="7772400" cy="4114800"/>
          </a:xfrm>
          <a:prstGeom prst="rect">
            <a:avLst/>
          </a:prstGeom>
        </p:spPr>
      </p:pic>
      <p:sp>
        <p:nvSpPr>
          <p:cNvPr id="6" name="Shape 3"/>
          <p:cNvSpPr/>
          <p:nvPr/>
        </p:nvSpPr>
        <p:spPr>
          <a:xfrm>
            <a:off x="8321040" y="1097280"/>
            <a:ext cx="3566160" cy="4114800"/>
          </a:xfrm>
          <a:prstGeom prst="rect">
            <a:avLst/>
          </a:prstGeom>
          <a:solidFill>
            <a:srgbClr val="1A1A22"/>
          </a:solidFill>
          <a:ln w="6350">
            <a:solidFill>
              <a:srgbClr val="2A2A38"/>
            </a:solidFill>
            <a:prstDash val="solid"/>
          </a:ln>
        </p:spPr>
        <p:txBody>
          <a:bodyPr/>
          <a:lstStyle/>
          <a:p>
            <a:endParaRPr lang="en-US"/>
          </a:p>
        </p:txBody>
      </p:sp>
      <p:sp>
        <p:nvSpPr>
          <p:cNvPr id="7" name="Text 4"/>
          <p:cNvSpPr/>
          <p:nvPr/>
        </p:nvSpPr>
        <p:spPr>
          <a:xfrm>
            <a:off x="8458200" y="1280160"/>
            <a:ext cx="3291840" cy="502920"/>
          </a:xfrm>
          <a:prstGeom prst="rect">
            <a:avLst/>
          </a:prstGeom>
          <a:noFill/>
          <a:ln/>
        </p:spPr>
        <p:txBody>
          <a:bodyPr wrap="square" lIns="0" tIns="0" rIns="0" bIns="0" rtlCol="0" anchor="ctr"/>
          <a:lstStyle/>
          <a:p>
            <a:pPr marL="0" indent="0">
              <a:buNone/>
            </a:pPr>
            <a:r>
              <a:rPr lang="en-US" sz="2800" b="1" dirty="0">
                <a:solidFill>
                  <a:srgbClr val="C9A96E"/>
                </a:solidFill>
                <a:latin typeface="Consolas" pitchFamily="34" charset="0"/>
                <a:ea typeface="Consolas" pitchFamily="34" charset="-122"/>
                <a:cs typeface="Consolas" pitchFamily="34" charset="-120"/>
              </a:rPr>
              <a:t>+23%</a:t>
            </a:r>
            <a:endParaRPr lang="en-US" sz="2800" dirty="0"/>
          </a:p>
        </p:txBody>
      </p:sp>
      <p:sp>
        <p:nvSpPr>
          <p:cNvPr id="8" name="Text 5"/>
          <p:cNvSpPr/>
          <p:nvPr/>
        </p:nvSpPr>
        <p:spPr>
          <a:xfrm>
            <a:off x="8458200" y="1755648"/>
            <a:ext cx="3291840" cy="274320"/>
          </a:xfrm>
          <a:prstGeom prst="rect">
            <a:avLst/>
          </a:prstGeom>
          <a:noFill/>
          <a:ln/>
        </p:spPr>
        <p:txBody>
          <a:bodyPr wrap="square" lIns="0" tIns="0" rIns="0" bIns="0" rtlCol="0" anchor="ctr"/>
          <a:lstStyle/>
          <a:p>
            <a:pPr marL="0" indent="0">
              <a:buNone/>
            </a:pPr>
            <a:r>
              <a:rPr lang="en-US" sz="900" dirty="0">
                <a:solidFill>
                  <a:srgbClr val="9898B0"/>
                </a:solidFill>
                <a:latin typeface="Calibri" pitchFamily="34" charset="0"/>
                <a:ea typeface="Calibri" pitchFamily="34" charset="-122"/>
                <a:cs typeface="Calibri" pitchFamily="34" charset="-120"/>
              </a:rPr>
              <a:t>Maison Margiela 2023</a:t>
            </a:r>
            <a:endParaRPr lang="en-US" sz="900" dirty="0"/>
          </a:p>
        </p:txBody>
      </p:sp>
      <p:sp>
        <p:nvSpPr>
          <p:cNvPr id="9" name="Text 6"/>
          <p:cNvSpPr/>
          <p:nvPr/>
        </p:nvSpPr>
        <p:spPr>
          <a:xfrm>
            <a:off x="8458200" y="2240280"/>
            <a:ext cx="3291840" cy="502920"/>
          </a:xfrm>
          <a:prstGeom prst="rect">
            <a:avLst/>
          </a:prstGeom>
          <a:noFill/>
          <a:ln/>
        </p:spPr>
        <p:txBody>
          <a:bodyPr wrap="square" lIns="0" tIns="0" rIns="0" bIns="0" rtlCol="0" anchor="ctr"/>
          <a:lstStyle/>
          <a:p>
            <a:pPr marL="0" indent="0">
              <a:buNone/>
            </a:pPr>
            <a:r>
              <a:rPr lang="en-US" sz="2800" b="1" dirty="0">
                <a:solidFill>
                  <a:srgbClr val="C9A96E"/>
                </a:solidFill>
                <a:latin typeface="Consolas" pitchFamily="34" charset="0"/>
                <a:ea typeface="Consolas" pitchFamily="34" charset="-122"/>
                <a:cs typeface="Consolas" pitchFamily="34" charset="-120"/>
              </a:rPr>
              <a:t>+18%</a:t>
            </a:r>
            <a:endParaRPr lang="en-US" sz="2800" dirty="0"/>
          </a:p>
        </p:txBody>
      </p:sp>
      <p:sp>
        <p:nvSpPr>
          <p:cNvPr id="10" name="Text 7"/>
          <p:cNvSpPr/>
          <p:nvPr/>
        </p:nvSpPr>
        <p:spPr>
          <a:xfrm>
            <a:off x="8458200" y="2715768"/>
            <a:ext cx="3291840" cy="274320"/>
          </a:xfrm>
          <a:prstGeom prst="rect">
            <a:avLst/>
          </a:prstGeom>
          <a:noFill/>
          <a:ln/>
        </p:spPr>
        <p:txBody>
          <a:bodyPr wrap="square" lIns="0" tIns="0" rIns="0" bIns="0" rtlCol="0" anchor="ctr"/>
          <a:lstStyle/>
          <a:p>
            <a:pPr marL="0" indent="0">
              <a:buNone/>
            </a:pPr>
            <a:r>
              <a:rPr lang="en-US" sz="900" dirty="0">
                <a:solidFill>
                  <a:srgbClr val="9898B0"/>
                </a:solidFill>
                <a:latin typeface="Calibri" pitchFamily="34" charset="0"/>
                <a:ea typeface="Calibri" pitchFamily="34" charset="-122"/>
                <a:cs typeface="Calibri" pitchFamily="34" charset="-120"/>
              </a:rPr>
              <a:t>Rick Owens 2023</a:t>
            </a:r>
            <a:endParaRPr lang="en-US" sz="900" dirty="0"/>
          </a:p>
        </p:txBody>
      </p:sp>
      <p:sp>
        <p:nvSpPr>
          <p:cNvPr id="11" name="Text 8"/>
          <p:cNvSpPr/>
          <p:nvPr/>
        </p:nvSpPr>
        <p:spPr>
          <a:xfrm>
            <a:off x="8458200" y="3200400"/>
            <a:ext cx="3291840" cy="502920"/>
          </a:xfrm>
          <a:prstGeom prst="rect">
            <a:avLst/>
          </a:prstGeom>
          <a:noFill/>
          <a:ln/>
        </p:spPr>
        <p:txBody>
          <a:bodyPr wrap="square" lIns="0" tIns="0" rIns="0" bIns="0" rtlCol="0" anchor="ctr"/>
          <a:lstStyle/>
          <a:p>
            <a:pPr marL="0" indent="0">
              <a:buNone/>
            </a:pPr>
            <a:r>
              <a:rPr lang="en-US" sz="2800" b="1" dirty="0">
                <a:solidFill>
                  <a:srgbClr val="C96E6E"/>
                </a:solidFill>
                <a:latin typeface="Consolas" pitchFamily="34" charset="0"/>
                <a:ea typeface="Consolas" pitchFamily="34" charset="-122"/>
                <a:cs typeface="Consolas" pitchFamily="34" charset="-120"/>
              </a:rPr>
              <a:t>-15%</a:t>
            </a:r>
            <a:endParaRPr lang="en-US" sz="2800" dirty="0"/>
          </a:p>
        </p:txBody>
      </p:sp>
      <p:sp>
        <p:nvSpPr>
          <p:cNvPr id="12" name="Text 9"/>
          <p:cNvSpPr/>
          <p:nvPr/>
        </p:nvSpPr>
        <p:spPr>
          <a:xfrm>
            <a:off x="8458200" y="3675888"/>
            <a:ext cx="3291840" cy="274320"/>
          </a:xfrm>
          <a:prstGeom prst="rect">
            <a:avLst/>
          </a:prstGeom>
          <a:noFill/>
          <a:ln/>
        </p:spPr>
        <p:txBody>
          <a:bodyPr wrap="square" lIns="0" tIns="0" rIns="0" bIns="0" rtlCol="0" anchor="ctr"/>
          <a:lstStyle/>
          <a:p>
            <a:pPr marL="0" indent="0">
              <a:buNone/>
            </a:pPr>
            <a:r>
              <a:rPr lang="en-US" sz="900" dirty="0">
                <a:solidFill>
                  <a:srgbClr val="9898B0"/>
                </a:solidFill>
                <a:latin typeface="Calibri" pitchFamily="34" charset="0"/>
                <a:ea typeface="Calibri" pitchFamily="34" charset="-122"/>
                <a:cs typeface="Calibri" pitchFamily="34" charset="-120"/>
              </a:rPr>
              <a:t>Balenciaga 2023</a:t>
            </a:r>
            <a:endParaRPr lang="en-US" sz="900" dirty="0"/>
          </a:p>
        </p:txBody>
      </p:sp>
      <p:sp>
        <p:nvSpPr>
          <p:cNvPr id="13" name="Text 10"/>
          <p:cNvSpPr/>
          <p:nvPr/>
        </p:nvSpPr>
        <p:spPr>
          <a:xfrm>
            <a:off x="8458200" y="4160520"/>
            <a:ext cx="3291840" cy="502920"/>
          </a:xfrm>
          <a:prstGeom prst="rect">
            <a:avLst/>
          </a:prstGeom>
          <a:noFill/>
          <a:ln/>
        </p:spPr>
        <p:txBody>
          <a:bodyPr wrap="square" lIns="0" tIns="0" rIns="0" bIns="0" rtlCol="0" anchor="ctr"/>
          <a:lstStyle/>
          <a:p>
            <a:pPr marL="0" indent="0">
              <a:buNone/>
            </a:pPr>
            <a:r>
              <a:rPr lang="en-US" sz="2800" b="1" dirty="0">
                <a:solidFill>
                  <a:srgbClr val="6E9EC9"/>
                </a:solidFill>
                <a:latin typeface="Consolas" pitchFamily="34" charset="0"/>
                <a:ea typeface="Consolas" pitchFamily="34" charset="-122"/>
                <a:cs typeface="Consolas" pitchFamily="34" charset="-120"/>
              </a:rPr>
              <a:t>-6%</a:t>
            </a:r>
            <a:endParaRPr lang="en-US" sz="2800" dirty="0"/>
          </a:p>
        </p:txBody>
      </p:sp>
      <p:sp>
        <p:nvSpPr>
          <p:cNvPr id="14" name="Text 11"/>
          <p:cNvSpPr/>
          <p:nvPr/>
        </p:nvSpPr>
        <p:spPr>
          <a:xfrm>
            <a:off x="8458200" y="4636008"/>
            <a:ext cx="3291840" cy="274320"/>
          </a:xfrm>
          <a:prstGeom prst="rect">
            <a:avLst/>
          </a:prstGeom>
          <a:noFill/>
          <a:ln/>
        </p:spPr>
        <p:txBody>
          <a:bodyPr wrap="square" lIns="0" tIns="0" rIns="0" bIns="0" rtlCol="0" anchor="ctr"/>
          <a:lstStyle/>
          <a:p>
            <a:pPr marL="0" indent="0">
              <a:buNone/>
            </a:pPr>
            <a:r>
              <a:rPr lang="en-US" sz="900" dirty="0">
                <a:solidFill>
                  <a:srgbClr val="9898B0"/>
                </a:solidFill>
                <a:latin typeface="Calibri" pitchFamily="34" charset="0"/>
                <a:ea typeface="Calibri" pitchFamily="34" charset="-122"/>
                <a:cs typeface="Calibri" pitchFamily="34" charset="-120"/>
              </a:rPr>
              <a:t>Gucci 2023</a:t>
            </a:r>
            <a:endParaRPr lang="en-US" sz="900" dirty="0"/>
          </a:p>
        </p:txBody>
      </p:sp>
      <p:sp>
        <p:nvSpPr>
          <p:cNvPr id="15" name="Text 12"/>
          <p:cNvSpPr/>
          <p:nvPr/>
        </p:nvSpPr>
        <p:spPr>
          <a:xfrm>
            <a:off x="502920" y="5394960"/>
            <a:ext cx="11338560" cy="548640"/>
          </a:xfrm>
          <a:prstGeom prst="rect">
            <a:avLst/>
          </a:prstGeom>
          <a:noFill/>
          <a:ln/>
        </p:spPr>
        <p:txBody>
          <a:bodyPr wrap="square" lIns="0" tIns="0" rIns="0" bIns="0" rtlCol="0" anchor="ctr"/>
          <a:lstStyle/>
          <a:p>
            <a:pPr marL="0" indent="0">
              <a:buNone/>
            </a:pPr>
            <a:r>
              <a:rPr lang="en-US" sz="1000" i="1" dirty="0">
                <a:solidFill>
                  <a:srgbClr val="9898B0"/>
                </a:solidFill>
                <a:latin typeface="Calibri" pitchFamily="34" charset="0"/>
                <a:ea typeface="Calibri" pitchFamily="34" charset="-122"/>
                <a:cs typeface="Calibri" pitchFamily="34" charset="-120"/>
              </a:rPr>
              <a:t>Maison Margiela's 23% growth in 2023 — while Balenciaga contracted 15% following brand controversy — illustrates a core thesis point: avant-garde brands are insulated from cultural backlash by their deliberate distance from mass culture.</a:t>
            </a:r>
            <a:endParaRPr lang="en-US" sz="1000" dirty="0"/>
          </a:p>
        </p:txBody>
      </p:sp>
      <p:sp>
        <p:nvSpPr>
          <p:cNvPr id="16" name="Text 13"/>
          <p:cNvSpPr/>
          <p:nvPr/>
        </p:nvSpPr>
        <p:spPr>
          <a:xfrm>
            <a:off x="502920" y="6217920"/>
            <a:ext cx="10972800" cy="228600"/>
          </a:xfrm>
          <a:prstGeom prst="rect">
            <a:avLst/>
          </a:prstGeom>
          <a:noFill/>
          <a:ln/>
        </p:spPr>
        <p:txBody>
          <a:bodyPr wrap="square" lIns="0" tIns="0" rIns="0" bIns="0" rtlCol="0" anchor="ctr"/>
          <a:lstStyle/>
          <a:p>
            <a:pPr marL="0" indent="0">
              <a:buNone/>
            </a:pPr>
            <a:r>
              <a:rPr lang="en-US" sz="750" i="1" dirty="0">
                <a:solidFill>
                  <a:srgbClr val="5A5A72"/>
                </a:solidFill>
                <a:latin typeface="Calibri" pitchFamily="34" charset="0"/>
                <a:ea typeface="Calibri" pitchFamily="34" charset="-122"/>
                <a:cs typeface="Calibri" pitchFamily="34" charset="-120"/>
              </a:rPr>
              <a:t>Source: OTB Group 2023 Annual Report; Owenscorp 2023 filing; LVMH 2023 Annual Report; Kering 2023 Results; Inditex 2023; H&amp;M Group 2023; Backlinko/Shein estimates</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274320"/>
            <a:ext cx="9144000" cy="320040"/>
          </a:xfrm>
          <a:prstGeom prst="rect">
            <a:avLst/>
          </a:prstGeom>
          <a:noFill/>
          <a:ln/>
        </p:spPr>
        <p:txBody>
          <a:bodyPr wrap="square" lIns="0" tIns="0" rIns="0" bIns="0" rtlCol="0" anchor="ctr"/>
          <a:lstStyle/>
          <a:p>
            <a:pPr marL="0" indent="0">
              <a:buNone/>
            </a:pPr>
            <a:r>
              <a:rPr lang="en-US" sz="900" kern="0" spc="200" dirty="0">
                <a:solidFill>
                  <a:srgbClr val="C9A96E"/>
                </a:solidFill>
                <a:latin typeface="Consolas" pitchFamily="34" charset="0"/>
                <a:ea typeface="Consolas" pitchFamily="34" charset="-122"/>
                <a:cs typeface="Consolas" pitchFamily="34" charset="-120"/>
              </a:rPr>
              <a:t>05  ·  DISTRIBUTION STRATEGY</a:t>
            </a:r>
            <a:endParaRPr lang="en-US" sz="900" dirty="0"/>
          </a:p>
        </p:txBody>
      </p:sp>
      <p:sp>
        <p:nvSpPr>
          <p:cNvPr id="4" name="Text 2"/>
          <p:cNvSpPr/>
          <p:nvPr/>
        </p:nvSpPr>
        <p:spPr>
          <a:xfrm>
            <a:off x="502920" y="640080"/>
            <a:ext cx="10058400" cy="365760"/>
          </a:xfrm>
          <a:prstGeom prst="rect">
            <a:avLst/>
          </a:prstGeom>
          <a:noFill/>
          <a:ln/>
        </p:spPr>
        <p:txBody>
          <a:bodyPr wrap="square" lIns="0" tIns="0" rIns="0" bIns="0" rtlCol="0" anchor="ctr"/>
          <a:lstStyle/>
          <a:p>
            <a:pPr marL="0" indent="0">
              <a:buNone/>
            </a:pPr>
            <a:r>
              <a:rPr lang="en-US" sz="1800" b="1" dirty="0">
                <a:solidFill>
                  <a:srgbClr val="E8E8F0"/>
                </a:solidFill>
                <a:latin typeface="Georgia" pitchFamily="34" charset="0"/>
                <a:ea typeface="Georgia" pitchFamily="34" charset="-122"/>
                <a:cs typeface="Georgia" pitchFamily="34" charset="-120"/>
              </a:rPr>
              <a:t>Direct-to-Consumer as a Scarcity Mechanism</a:t>
            </a:r>
            <a:endParaRPr lang="en-US" sz="1800" dirty="0"/>
          </a:p>
        </p:txBody>
      </p:sp>
      <p:pic>
        <p:nvPicPr>
          <p:cNvPr id="5" name="Image 0" descr="/home/claude/charts/07_distribution_strategy.png"/>
          <p:cNvPicPr>
            <a:picLocks noChangeAspect="1"/>
          </p:cNvPicPr>
          <p:nvPr/>
        </p:nvPicPr>
        <p:blipFill>
          <a:blip r:embed="rId3"/>
          <a:stretch>
            <a:fillRect/>
          </a:stretch>
        </p:blipFill>
        <p:spPr>
          <a:xfrm>
            <a:off x="365760" y="1097280"/>
            <a:ext cx="7772400" cy="4389120"/>
          </a:xfrm>
          <a:prstGeom prst="rect">
            <a:avLst/>
          </a:prstGeom>
        </p:spPr>
      </p:pic>
      <p:sp>
        <p:nvSpPr>
          <p:cNvPr id="6" name="Shape 3"/>
          <p:cNvSpPr/>
          <p:nvPr/>
        </p:nvSpPr>
        <p:spPr>
          <a:xfrm>
            <a:off x="8321040" y="1097280"/>
            <a:ext cx="3566160" cy="4663440"/>
          </a:xfrm>
          <a:prstGeom prst="rect">
            <a:avLst/>
          </a:prstGeom>
          <a:solidFill>
            <a:srgbClr val="1A1A22"/>
          </a:solidFill>
          <a:ln w="6350">
            <a:solidFill>
              <a:srgbClr val="2A2A38"/>
            </a:solidFill>
            <a:prstDash val="solid"/>
          </a:ln>
        </p:spPr>
        <p:txBody>
          <a:bodyPr/>
          <a:lstStyle/>
          <a:p>
            <a:endParaRPr lang="en-US"/>
          </a:p>
        </p:txBody>
      </p:sp>
      <p:sp>
        <p:nvSpPr>
          <p:cNvPr id="7" name="Text 4"/>
          <p:cNvSpPr/>
          <p:nvPr/>
        </p:nvSpPr>
        <p:spPr>
          <a:xfrm>
            <a:off x="8458200" y="1280160"/>
            <a:ext cx="3291840" cy="274320"/>
          </a:xfrm>
          <a:prstGeom prst="rect">
            <a:avLst/>
          </a:prstGeom>
          <a:noFill/>
          <a:ln/>
        </p:spPr>
        <p:txBody>
          <a:bodyPr wrap="square" lIns="0" tIns="0" rIns="0" bIns="0" rtlCol="0" anchor="ctr"/>
          <a:lstStyle/>
          <a:p>
            <a:pPr marL="0" indent="0">
              <a:buNone/>
            </a:pPr>
            <a:r>
              <a:rPr lang="en-US" sz="800" kern="0" spc="200" dirty="0">
                <a:solidFill>
                  <a:srgbClr val="C9A96E"/>
                </a:solidFill>
                <a:latin typeface="Consolas" pitchFamily="34" charset="0"/>
                <a:ea typeface="Consolas" pitchFamily="34" charset="-122"/>
                <a:cs typeface="Consolas" pitchFamily="34" charset="-120"/>
              </a:rPr>
              <a:t>DTC AS CONTROL</a:t>
            </a:r>
            <a:endParaRPr lang="en-US" sz="800" dirty="0"/>
          </a:p>
        </p:txBody>
      </p:sp>
      <p:sp>
        <p:nvSpPr>
          <p:cNvPr id="8" name="Text 5"/>
          <p:cNvSpPr/>
          <p:nvPr/>
        </p:nvSpPr>
        <p:spPr>
          <a:xfrm>
            <a:off x="8458200" y="1645920"/>
            <a:ext cx="3291840" cy="1645920"/>
          </a:xfrm>
          <a:prstGeom prst="rect">
            <a:avLst/>
          </a:prstGeom>
          <a:noFill/>
          <a:ln/>
        </p:spPr>
        <p:txBody>
          <a:bodyPr wrap="square" lIns="0" tIns="0" rIns="0" bIns="0" rtlCol="0" anchor="ctr"/>
          <a:lstStyle/>
          <a:p>
            <a:pPr marL="0" indent="0">
              <a:buNone/>
            </a:pPr>
            <a:r>
              <a:rPr lang="en-US" sz="1050" dirty="0">
                <a:solidFill>
                  <a:srgbClr val="9898B0"/>
                </a:solidFill>
                <a:latin typeface="Calibri" pitchFamily="34" charset="0"/>
                <a:ea typeface="Calibri" pitchFamily="34" charset="-122"/>
                <a:cs typeface="Calibri" pitchFamily="34" charset="-120"/>
              </a:rPr>
              <a:t>Comme des Garçons (~70% DTC via Dover Street Market) owns the entire customer relationship. No department store markup. No promotional discounting. No brand dilution through adjacent product placement.</a:t>
            </a:r>
            <a:endParaRPr lang="en-US" sz="1050" dirty="0"/>
          </a:p>
        </p:txBody>
      </p:sp>
      <p:sp>
        <p:nvSpPr>
          <p:cNvPr id="9" name="Shape 6"/>
          <p:cNvSpPr/>
          <p:nvPr/>
        </p:nvSpPr>
        <p:spPr>
          <a:xfrm>
            <a:off x="8412480" y="3429000"/>
            <a:ext cx="3291840" cy="27432"/>
          </a:xfrm>
          <a:prstGeom prst="rect">
            <a:avLst/>
          </a:prstGeom>
          <a:solidFill>
            <a:srgbClr val="2A2A38"/>
          </a:solidFill>
          <a:ln w="12700">
            <a:solidFill>
              <a:srgbClr val="2A2A38"/>
            </a:solidFill>
            <a:prstDash val="solid"/>
          </a:ln>
        </p:spPr>
        <p:txBody>
          <a:bodyPr/>
          <a:lstStyle/>
          <a:p>
            <a:endParaRPr lang="en-US"/>
          </a:p>
        </p:txBody>
      </p:sp>
      <p:sp>
        <p:nvSpPr>
          <p:cNvPr id="10" name="Text 7"/>
          <p:cNvSpPr/>
          <p:nvPr/>
        </p:nvSpPr>
        <p:spPr>
          <a:xfrm>
            <a:off x="8458200" y="3566160"/>
            <a:ext cx="3291840" cy="274320"/>
          </a:xfrm>
          <a:prstGeom prst="rect">
            <a:avLst/>
          </a:prstGeom>
          <a:noFill/>
          <a:ln/>
        </p:spPr>
        <p:txBody>
          <a:bodyPr wrap="square" lIns="0" tIns="0" rIns="0" bIns="0" rtlCol="0" anchor="ctr"/>
          <a:lstStyle/>
          <a:p>
            <a:pPr marL="0" indent="0">
              <a:buNone/>
            </a:pPr>
            <a:r>
              <a:rPr lang="en-US" sz="800" kern="0" spc="200" dirty="0">
                <a:solidFill>
                  <a:srgbClr val="C9A96E"/>
                </a:solidFill>
                <a:latin typeface="Consolas" pitchFamily="34" charset="0"/>
                <a:ea typeface="Consolas" pitchFamily="34" charset="-122"/>
                <a:cs typeface="Consolas" pitchFamily="34" charset="-120"/>
              </a:rPr>
              <a:t>MARGIELA'S SHIFT</a:t>
            </a:r>
            <a:endParaRPr lang="en-US" sz="800" dirty="0"/>
          </a:p>
        </p:txBody>
      </p:sp>
      <p:sp>
        <p:nvSpPr>
          <p:cNvPr id="11" name="Text 8"/>
          <p:cNvSpPr/>
          <p:nvPr/>
        </p:nvSpPr>
        <p:spPr>
          <a:xfrm>
            <a:off x="8458200" y="3913632"/>
            <a:ext cx="3291840" cy="1645920"/>
          </a:xfrm>
          <a:prstGeom prst="rect">
            <a:avLst/>
          </a:prstGeom>
          <a:noFill/>
          <a:ln/>
        </p:spPr>
        <p:txBody>
          <a:bodyPr wrap="square" lIns="0" tIns="0" rIns="0" bIns="0" rtlCol="0" anchor="ctr"/>
          <a:lstStyle/>
          <a:p>
            <a:pPr marL="0" indent="0">
              <a:buNone/>
            </a:pPr>
            <a:r>
              <a:rPr lang="en-US" sz="1050" dirty="0">
                <a:solidFill>
                  <a:srgbClr val="9898B0"/>
                </a:solidFill>
                <a:latin typeface="Calibri" pitchFamily="34" charset="0"/>
                <a:ea typeface="Calibri" pitchFamily="34" charset="-122"/>
                <a:cs typeface="Calibri" pitchFamily="34" charset="-120"/>
              </a:rPr>
              <a:t>OTB Group reported Maison Margiela's DTC channel grew 33.8% in 2023 — the fastest growth segment across the entire group. Wholesale is a margin-erosion mechanism. DTC is a brand-control mechanism.</a:t>
            </a:r>
            <a:endParaRPr lang="en-US" sz="1050" dirty="0"/>
          </a:p>
        </p:txBody>
      </p:sp>
      <p:sp>
        <p:nvSpPr>
          <p:cNvPr id="12" name="Text 9"/>
          <p:cNvSpPr/>
          <p:nvPr/>
        </p:nvSpPr>
        <p:spPr>
          <a:xfrm>
            <a:off x="502920" y="6217920"/>
            <a:ext cx="10972800" cy="228600"/>
          </a:xfrm>
          <a:prstGeom prst="rect">
            <a:avLst/>
          </a:prstGeom>
          <a:noFill/>
          <a:ln/>
        </p:spPr>
        <p:txBody>
          <a:bodyPr wrap="square" lIns="0" tIns="0" rIns="0" bIns="0" rtlCol="0" anchor="ctr"/>
          <a:lstStyle/>
          <a:p>
            <a:pPr marL="0" indent="0">
              <a:buNone/>
            </a:pPr>
            <a:r>
              <a:rPr lang="en-US" sz="750" i="1" dirty="0">
                <a:solidFill>
                  <a:srgbClr val="5A5A72"/>
                </a:solidFill>
                <a:latin typeface="Calibri" pitchFamily="34" charset="0"/>
                <a:ea typeface="Calibri" pitchFamily="34" charset="-122"/>
                <a:cs typeface="Calibri" pitchFamily="34" charset="-120"/>
              </a:rPr>
              <a:t>Source: OTB Group 2023 Annual Report; Comme des Garçons / DSM structure (Business of Fashion, Adrian Joffe profile); Brand estimates</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274320"/>
            <a:ext cx="10972800" cy="320040"/>
          </a:xfrm>
          <a:prstGeom prst="rect">
            <a:avLst/>
          </a:prstGeom>
          <a:noFill/>
          <a:ln/>
        </p:spPr>
        <p:txBody>
          <a:bodyPr wrap="square" lIns="0" tIns="0" rIns="0" bIns="0" rtlCol="0" anchor="ctr"/>
          <a:lstStyle/>
          <a:p>
            <a:pPr marL="0" indent="0">
              <a:buNone/>
            </a:pPr>
            <a:r>
              <a:rPr lang="en-US" sz="900" kern="0" spc="200" dirty="0">
                <a:solidFill>
                  <a:srgbClr val="C9A96E"/>
                </a:solidFill>
                <a:latin typeface="Consolas" pitchFamily="34" charset="0"/>
                <a:ea typeface="Consolas" pitchFamily="34" charset="-122"/>
                <a:cs typeface="Consolas" pitchFamily="34" charset="-120"/>
              </a:rPr>
              <a:t>06  ·  ETHICS, TRANSPARENCY &amp; THE REGULATORY ILLUSION</a:t>
            </a:r>
            <a:endParaRPr lang="en-US" sz="900" dirty="0"/>
          </a:p>
        </p:txBody>
      </p:sp>
      <p:sp>
        <p:nvSpPr>
          <p:cNvPr id="4" name="Text 2"/>
          <p:cNvSpPr/>
          <p:nvPr/>
        </p:nvSpPr>
        <p:spPr>
          <a:xfrm>
            <a:off x="502920" y="640080"/>
            <a:ext cx="10972800" cy="365760"/>
          </a:xfrm>
          <a:prstGeom prst="rect">
            <a:avLst/>
          </a:prstGeom>
          <a:noFill/>
          <a:ln/>
        </p:spPr>
        <p:txBody>
          <a:bodyPr wrap="square" lIns="0" tIns="0" rIns="0" bIns="0" rtlCol="0" anchor="ctr"/>
          <a:lstStyle/>
          <a:p>
            <a:pPr marL="0" indent="0">
              <a:buNone/>
            </a:pPr>
            <a:r>
              <a:rPr lang="en-US" sz="1700" b="1" dirty="0">
                <a:solidFill>
                  <a:srgbClr val="E8E8F0"/>
                </a:solidFill>
                <a:latin typeface="Georgia" pitchFamily="34" charset="0"/>
                <a:ea typeface="Georgia" pitchFamily="34" charset="-122"/>
                <a:cs typeface="Georgia" pitchFamily="34" charset="-120"/>
              </a:rPr>
              <a:t>High Transparency Scores Reflect Regulatory Pressure — Not Superior Ethics</a:t>
            </a:r>
            <a:endParaRPr lang="en-US" sz="1700" dirty="0"/>
          </a:p>
        </p:txBody>
      </p:sp>
      <p:pic>
        <p:nvPicPr>
          <p:cNvPr id="5" name="Image 0" descr="/home/claude/charts/05_transparency_vs_revenue.png"/>
          <p:cNvPicPr>
            <a:picLocks noChangeAspect="1"/>
          </p:cNvPicPr>
          <p:nvPr/>
        </p:nvPicPr>
        <p:blipFill>
          <a:blip r:embed="rId3"/>
          <a:stretch>
            <a:fillRect/>
          </a:stretch>
        </p:blipFill>
        <p:spPr>
          <a:xfrm>
            <a:off x="365760" y="1097280"/>
            <a:ext cx="6858000" cy="3931920"/>
          </a:xfrm>
          <a:prstGeom prst="rect">
            <a:avLst/>
          </a:prstGeom>
        </p:spPr>
      </p:pic>
      <p:sp>
        <p:nvSpPr>
          <p:cNvPr id="6" name="Shape 3"/>
          <p:cNvSpPr/>
          <p:nvPr/>
        </p:nvSpPr>
        <p:spPr>
          <a:xfrm>
            <a:off x="7406640" y="1097280"/>
            <a:ext cx="4480560" cy="4846320"/>
          </a:xfrm>
          <a:prstGeom prst="rect">
            <a:avLst/>
          </a:prstGeom>
          <a:solidFill>
            <a:srgbClr val="1A1A22"/>
          </a:solidFill>
          <a:ln w="6350">
            <a:solidFill>
              <a:srgbClr val="2A2A38"/>
            </a:solidFill>
            <a:prstDash val="solid"/>
          </a:ln>
        </p:spPr>
        <p:txBody>
          <a:bodyPr/>
          <a:lstStyle/>
          <a:p>
            <a:endParaRPr lang="en-US"/>
          </a:p>
        </p:txBody>
      </p:sp>
      <p:sp>
        <p:nvSpPr>
          <p:cNvPr id="7" name="Shape 4"/>
          <p:cNvSpPr/>
          <p:nvPr/>
        </p:nvSpPr>
        <p:spPr>
          <a:xfrm>
            <a:off x="7498080" y="1234440"/>
            <a:ext cx="73152" cy="1005840"/>
          </a:xfrm>
          <a:prstGeom prst="rect">
            <a:avLst/>
          </a:prstGeom>
          <a:solidFill>
            <a:srgbClr val="C9A96E"/>
          </a:solidFill>
          <a:ln w="12700">
            <a:solidFill>
              <a:srgbClr val="C9A96E"/>
            </a:solidFill>
            <a:prstDash val="solid"/>
          </a:ln>
        </p:spPr>
        <p:txBody>
          <a:bodyPr/>
          <a:lstStyle/>
          <a:p>
            <a:endParaRPr lang="en-US"/>
          </a:p>
        </p:txBody>
      </p:sp>
      <p:sp>
        <p:nvSpPr>
          <p:cNvPr id="8" name="Text 5"/>
          <p:cNvSpPr/>
          <p:nvPr/>
        </p:nvSpPr>
        <p:spPr>
          <a:xfrm>
            <a:off x="7699248" y="1252728"/>
            <a:ext cx="3931920" cy="274320"/>
          </a:xfrm>
          <a:prstGeom prst="rect">
            <a:avLst/>
          </a:prstGeom>
          <a:noFill/>
          <a:ln/>
        </p:spPr>
        <p:txBody>
          <a:bodyPr wrap="square" lIns="0" tIns="0" rIns="0" bIns="0" rtlCol="0" anchor="ctr"/>
          <a:lstStyle/>
          <a:p>
            <a:pPr marL="0" indent="0">
              <a:buNone/>
            </a:pPr>
            <a:r>
              <a:rPr lang="en-US" sz="1000" b="1" dirty="0">
                <a:solidFill>
                  <a:srgbClr val="E8E8F0"/>
                </a:solidFill>
                <a:latin typeface="Georgia" pitchFamily="34" charset="0"/>
                <a:ea typeface="Georgia" pitchFamily="34" charset="-122"/>
                <a:cs typeface="Georgia" pitchFamily="34" charset="-120"/>
              </a:rPr>
              <a:t>The EU Fashion Strategy</a:t>
            </a:r>
            <a:endParaRPr lang="en-US" sz="1000" dirty="0"/>
          </a:p>
        </p:txBody>
      </p:sp>
      <p:sp>
        <p:nvSpPr>
          <p:cNvPr id="9" name="Text 6"/>
          <p:cNvSpPr/>
          <p:nvPr/>
        </p:nvSpPr>
        <p:spPr>
          <a:xfrm>
            <a:off x="7699248" y="1554480"/>
            <a:ext cx="3931920" cy="777240"/>
          </a:xfrm>
          <a:prstGeom prst="rect">
            <a:avLst/>
          </a:prstGeom>
          <a:noFill/>
          <a:ln/>
        </p:spPr>
        <p:txBody>
          <a:bodyPr wrap="square" lIns="0" tIns="0" rIns="0" bIns="0" rtlCol="0" anchor="ctr"/>
          <a:lstStyle/>
          <a:p>
            <a:pPr marL="0" indent="0">
              <a:buNone/>
            </a:pPr>
            <a:r>
              <a:rPr lang="en-US" sz="850" dirty="0">
                <a:solidFill>
                  <a:srgbClr val="9898B0"/>
                </a:solidFill>
                <a:latin typeface="Calibri" pitchFamily="34" charset="0"/>
                <a:ea typeface="Calibri" pitchFamily="34" charset="-122"/>
                <a:cs typeface="Calibri" pitchFamily="34" charset="-120"/>
              </a:rPr>
              <a:t>The European Commission's 2022 EU Strategy for Sustainable and Circular Textiles mandates supply chain disclosure for brands selling in the EU. Compliance is mandatory for large brands — not optional ethics.</a:t>
            </a:r>
            <a:endParaRPr lang="en-US" sz="850" dirty="0"/>
          </a:p>
        </p:txBody>
      </p:sp>
      <p:sp>
        <p:nvSpPr>
          <p:cNvPr id="10" name="Shape 7"/>
          <p:cNvSpPr/>
          <p:nvPr/>
        </p:nvSpPr>
        <p:spPr>
          <a:xfrm>
            <a:off x="7498080" y="2404872"/>
            <a:ext cx="73152" cy="1005840"/>
          </a:xfrm>
          <a:prstGeom prst="rect">
            <a:avLst/>
          </a:prstGeom>
          <a:solidFill>
            <a:srgbClr val="C9A96E"/>
          </a:solidFill>
          <a:ln w="12700">
            <a:solidFill>
              <a:srgbClr val="C9A96E"/>
            </a:solidFill>
            <a:prstDash val="solid"/>
          </a:ln>
        </p:spPr>
        <p:txBody>
          <a:bodyPr/>
          <a:lstStyle/>
          <a:p>
            <a:endParaRPr lang="en-US"/>
          </a:p>
        </p:txBody>
      </p:sp>
      <p:sp>
        <p:nvSpPr>
          <p:cNvPr id="11" name="Text 8"/>
          <p:cNvSpPr/>
          <p:nvPr/>
        </p:nvSpPr>
        <p:spPr>
          <a:xfrm>
            <a:off x="7699248" y="2423160"/>
            <a:ext cx="3931920" cy="274320"/>
          </a:xfrm>
          <a:prstGeom prst="rect">
            <a:avLst/>
          </a:prstGeom>
          <a:noFill/>
          <a:ln/>
        </p:spPr>
        <p:txBody>
          <a:bodyPr wrap="square" lIns="0" tIns="0" rIns="0" bIns="0" rtlCol="0" anchor="ctr"/>
          <a:lstStyle/>
          <a:p>
            <a:pPr marL="0" indent="0">
              <a:buNone/>
            </a:pPr>
            <a:r>
              <a:rPr lang="en-US" sz="1000" b="1" dirty="0">
                <a:solidFill>
                  <a:srgbClr val="E8E8F0"/>
                </a:solidFill>
                <a:latin typeface="Georgia" pitchFamily="34" charset="0"/>
                <a:ea typeface="Georgia" pitchFamily="34" charset="-122"/>
                <a:cs typeface="Georgia" pitchFamily="34" charset="-120"/>
              </a:rPr>
              <a:t>LVMH &amp; Kering Lobbying</a:t>
            </a:r>
            <a:endParaRPr lang="en-US" sz="1000" dirty="0"/>
          </a:p>
        </p:txBody>
      </p:sp>
      <p:sp>
        <p:nvSpPr>
          <p:cNvPr id="12" name="Text 9"/>
          <p:cNvSpPr/>
          <p:nvPr/>
        </p:nvSpPr>
        <p:spPr>
          <a:xfrm>
            <a:off x="7699248" y="2724912"/>
            <a:ext cx="3931920" cy="777240"/>
          </a:xfrm>
          <a:prstGeom prst="rect">
            <a:avLst/>
          </a:prstGeom>
          <a:noFill/>
          <a:ln/>
        </p:spPr>
        <p:txBody>
          <a:bodyPr wrap="square" lIns="0" tIns="0" rIns="0" bIns="0" rtlCol="0" anchor="ctr"/>
          <a:lstStyle/>
          <a:p>
            <a:pPr marL="0" indent="0">
              <a:buNone/>
            </a:pPr>
            <a:r>
              <a:rPr lang="en-US" sz="850" dirty="0">
                <a:solidFill>
                  <a:srgbClr val="9898B0"/>
                </a:solidFill>
                <a:latin typeface="Calibri" pitchFamily="34" charset="0"/>
                <a:ea typeface="Calibri" pitchFamily="34" charset="-122"/>
                <a:cs typeface="Calibri" pitchFamily="34" charset="-120"/>
              </a:rPr>
              <a:t>Both conglomerates have active EU lobbying operations. Kering's 2023 sustainability report was produced partly in response to the EU Corporate Sustainability Reporting Directive (CSRD) — a legal obligation, not a moral choice.</a:t>
            </a:r>
            <a:endParaRPr lang="en-US" sz="850" dirty="0"/>
          </a:p>
        </p:txBody>
      </p:sp>
      <p:sp>
        <p:nvSpPr>
          <p:cNvPr id="13" name="Shape 10"/>
          <p:cNvSpPr/>
          <p:nvPr/>
        </p:nvSpPr>
        <p:spPr>
          <a:xfrm>
            <a:off x="7498080" y="3575304"/>
            <a:ext cx="73152" cy="1005840"/>
          </a:xfrm>
          <a:prstGeom prst="rect">
            <a:avLst/>
          </a:prstGeom>
          <a:solidFill>
            <a:srgbClr val="C9A96E"/>
          </a:solidFill>
          <a:ln w="12700">
            <a:solidFill>
              <a:srgbClr val="C9A96E"/>
            </a:solidFill>
            <a:prstDash val="solid"/>
          </a:ln>
        </p:spPr>
        <p:txBody>
          <a:bodyPr/>
          <a:lstStyle/>
          <a:p>
            <a:endParaRPr lang="en-US"/>
          </a:p>
        </p:txBody>
      </p:sp>
      <p:sp>
        <p:nvSpPr>
          <p:cNvPr id="14" name="Text 11"/>
          <p:cNvSpPr/>
          <p:nvPr/>
        </p:nvSpPr>
        <p:spPr>
          <a:xfrm>
            <a:off x="7699248" y="3593592"/>
            <a:ext cx="3931920" cy="274320"/>
          </a:xfrm>
          <a:prstGeom prst="rect">
            <a:avLst/>
          </a:prstGeom>
          <a:noFill/>
          <a:ln/>
        </p:spPr>
        <p:txBody>
          <a:bodyPr wrap="square" lIns="0" tIns="0" rIns="0" bIns="0" rtlCol="0" anchor="ctr"/>
          <a:lstStyle/>
          <a:p>
            <a:pPr marL="0" indent="0">
              <a:buNone/>
            </a:pPr>
            <a:r>
              <a:rPr lang="en-US" sz="1000" b="1" dirty="0">
                <a:solidFill>
                  <a:srgbClr val="E8E8F0"/>
                </a:solidFill>
                <a:latin typeface="Georgia" pitchFamily="34" charset="0"/>
                <a:ea typeface="Georgia" pitchFamily="34" charset="-122"/>
                <a:cs typeface="Georgia" pitchFamily="34" charset="-120"/>
              </a:rPr>
              <a:t>The Avant-Garde Exception</a:t>
            </a:r>
            <a:endParaRPr lang="en-US" sz="1000" dirty="0"/>
          </a:p>
        </p:txBody>
      </p:sp>
      <p:sp>
        <p:nvSpPr>
          <p:cNvPr id="15" name="Text 12"/>
          <p:cNvSpPr/>
          <p:nvPr/>
        </p:nvSpPr>
        <p:spPr>
          <a:xfrm>
            <a:off x="7699248" y="3895344"/>
            <a:ext cx="3931920" cy="777240"/>
          </a:xfrm>
          <a:prstGeom prst="rect">
            <a:avLst/>
          </a:prstGeom>
          <a:noFill/>
          <a:ln/>
        </p:spPr>
        <p:txBody>
          <a:bodyPr wrap="square" lIns="0" tIns="0" rIns="0" bIns="0" rtlCol="0" anchor="ctr"/>
          <a:lstStyle/>
          <a:p>
            <a:pPr marL="0" indent="0">
              <a:buNone/>
            </a:pPr>
            <a:r>
              <a:rPr lang="en-US" sz="850" dirty="0">
                <a:solidFill>
                  <a:srgbClr val="9898B0"/>
                </a:solidFill>
                <a:latin typeface="Calibri" pitchFamily="34" charset="0"/>
                <a:ea typeface="Calibri" pitchFamily="34" charset="-122"/>
                <a:cs typeface="Calibri" pitchFamily="34" charset="-120"/>
              </a:rPr>
              <a:t>Rick Owens, Comme des Garçons, and Yohji Yamamoto are not in the Fashion Transparency Index's 250-brand sample — they're too small. Their low scores reflect absence from the reporting infrastructure, not ethical failure.</a:t>
            </a:r>
            <a:endParaRPr lang="en-US" sz="850" dirty="0"/>
          </a:p>
        </p:txBody>
      </p:sp>
      <p:sp>
        <p:nvSpPr>
          <p:cNvPr id="16" name="Shape 13"/>
          <p:cNvSpPr/>
          <p:nvPr/>
        </p:nvSpPr>
        <p:spPr>
          <a:xfrm>
            <a:off x="7498080" y="4745736"/>
            <a:ext cx="73152" cy="1005840"/>
          </a:xfrm>
          <a:prstGeom prst="rect">
            <a:avLst/>
          </a:prstGeom>
          <a:solidFill>
            <a:srgbClr val="C9A96E"/>
          </a:solidFill>
          <a:ln w="12700">
            <a:solidFill>
              <a:srgbClr val="C9A96E"/>
            </a:solidFill>
            <a:prstDash val="solid"/>
          </a:ln>
        </p:spPr>
        <p:txBody>
          <a:bodyPr/>
          <a:lstStyle/>
          <a:p>
            <a:endParaRPr lang="en-US"/>
          </a:p>
        </p:txBody>
      </p:sp>
      <p:sp>
        <p:nvSpPr>
          <p:cNvPr id="17" name="Text 14"/>
          <p:cNvSpPr/>
          <p:nvPr/>
        </p:nvSpPr>
        <p:spPr>
          <a:xfrm>
            <a:off x="7699248" y="4764024"/>
            <a:ext cx="3931920" cy="274320"/>
          </a:xfrm>
          <a:prstGeom prst="rect">
            <a:avLst/>
          </a:prstGeom>
          <a:noFill/>
          <a:ln/>
        </p:spPr>
        <p:txBody>
          <a:bodyPr wrap="square" lIns="0" tIns="0" rIns="0" bIns="0" rtlCol="0" anchor="ctr"/>
          <a:lstStyle/>
          <a:p>
            <a:pPr marL="0" indent="0">
              <a:buNone/>
            </a:pPr>
            <a:r>
              <a:rPr lang="en-US" sz="1000" b="1" dirty="0">
                <a:solidFill>
                  <a:srgbClr val="E8E8F0"/>
                </a:solidFill>
                <a:latin typeface="Georgia" pitchFamily="34" charset="0"/>
                <a:ea typeface="Georgia" pitchFamily="34" charset="-122"/>
                <a:cs typeface="Georgia" pitchFamily="34" charset="-120"/>
              </a:rPr>
              <a:t>What Low Scores Actually Mean</a:t>
            </a:r>
            <a:endParaRPr lang="en-US" sz="1000" dirty="0"/>
          </a:p>
        </p:txBody>
      </p:sp>
      <p:sp>
        <p:nvSpPr>
          <p:cNvPr id="18" name="Text 15"/>
          <p:cNvSpPr/>
          <p:nvPr/>
        </p:nvSpPr>
        <p:spPr>
          <a:xfrm>
            <a:off x="7699248" y="5065776"/>
            <a:ext cx="3931920" cy="777240"/>
          </a:xfrm>
          <a:prstGeom prst="rect">
            <a:avLst/>
          </a:prstGeom>
          <a:noFill/>
          <a:ln/>
        </p:spPr>
        <p:txBody>
          <a:bodyPr wrap="square" lIns="0" tIns="0" rIns="0" bIns="0" rtlCol="0" anchor="ctr"/>
          <a:lstStyle/>
          <a:p>
            <a:pPr marL="0" indent="0">
              <a:buNone/>
            </a:pPr>
            <a:r>
              <a:rPr lang="en-US" sz="850" dirty="0">
                <a:solidFill>
                  <a:srgbClr val="9898B0"/>
                </a:solidFill>
                <a:latin typeface="Calibri" pitchFamily="34" charset="0"/>
                <a:ea typeface="Calibri" pitchFamily="34" charset="-122"/>
                <a:cs typeface="Calibri" pitchFamily="34" charset="-120"/>
              </a:rPr>
              <a:t>A small Parisian atelier with 350 employees producing limited runs in Italy is structurally less harmful than a brand producing 600,000 SKUs per month in unaudited Chinese factories — regardless of their FTI scores.</a:t>
            </a:r>
            <a:endParaRPr lang="en-US" sz="850" dirty="0"/>
          </a:p>
        </p:txBody>
      </p:sp>
      <p:sp>
        <p:nvSpPr>
          <p:cNvPr id="19" name="Text 16"/>
          <p:cNvSpPr/>
          <p:nvPr/>
        </p:nvSpPr>
        <p:spPr>
          <a:xfrm>
            <a:off x="502920" y="6217920"/>
            <a:ext cx="11338560" cy="228600"/>
          </a:xfrm>
          <a:prstGeom prst="rect">
            <a:avLst/>
          </a:prstGeom>
          <a:noFill/>
          <a:ln/>
        </p:spPr>
        <p:txBody>
          <a:bodyPr wrap="square" lIns="0" tIns="0" rIns="0" bIns="0" rtlCol="0" anchor="ctr"/>
          <a:lstStyle/>
          <a:p>
            <a:pPr marL="0" indent="0">
              <a:buNone/>
            </a:pPr>
            <a:r>
              <a:rPr lang="en-US" sz="750" i="1" dirty="0">
                <a:solidFill>
                  <a:srgbClr val="5A5A72"/>
                </a:solidFill>
                <a:latin typeface="Calibri" pitchFamily="34" charset="0"/>
                <a:ea typeface="Calibri" pitchFamily="34" charset="-122"/>
                <a:cs typeface="Calibri" pitchFamily="34" charset="-120"/>
              </a:rPr>
              <a:t>Source: Fashion Transparency Index 2023 (Fashion Revolution); EU Strategy for Sustainable and Circular Textiles (2022); EU CSRD; Kering 2023 Sustainability Report; LVMH 2023 Annual Report</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274320"/>
            <a:ext cx="9144000" cy="320040"/>
          </a:xfrm>
          <a:prstGeom prst="rect">
            <a:avLst/>
          </a:prstGeom>
          <a:noFill/>
          <a:ln/>
        </p:spPr>
        <p:txBody>
          <a:bodyPr wrap="square" lIns="0" tIns="0" rIns="0" bIns="0" rtlCol="0" anchor="ctr"/>
          <a:lstStyle/>
          <a:p>
            <a:pPr marL="0" indent="0">
              <a:buNone/>
            </a:pPr>
            <a:r>
              <a:rPr lang="en-US" sz="900" kern="0" spc="200" dirty="0">
                <a:solidFill>
                  <a:srgbClr val="C9A96E"/>
                </a:solidFill>
                <a:latin typeface="Consolas" pitchFamily="34" charset="0"/>
                <a:ea typeface="Consolas" pitchFamily="34" charset="-122"/>
                <a:cs typeface="Consolas" pitchFamily="34" charset="-120"/>
              </a:rPr>
              <a:t>05  ·  PRICE POSITIONING</a:t>
            </a:r>
            <a:endParaRPr lang="en-US" sz="900" dirty="0"/>
          </a:p>
        </p:txBody>
      </p:sp>
      <p:sp>
        <p:nvSpPr>
          <p:cNvPr id="4" name="Text 2"/>
          <p:cNvSpPr/>
          <p:nvPr/>
        </p:nvSpPr>
        <p:spPr>
          <a:xfrm>
            <a:off x="502920" y="640080"/>
            <a:ext cx="10058400" cy="365760"/>
          </a:xfrm>
          <a:prstGeom prst="rect">
            <a:avLst/>
          </a:prstGeom>
          <a:noFill/>
          <a:ln/>
        </p:spPr>
        <p:txBody>
          <a:bodyPr wrap="square" lIns="0" tIns="0" rIns="0" bIns="0" rtlCol="0" anchor="ctr"/>
          <a:lstStyle/>
          <a:p>
            <a:pPr marL="0" indent="0">
              <a:buNone/>
            </a:pPr>
            <a:r>
              <a:rPr lang="en-US" sz="1800" b="1" dirty="0">
                <a:solidFill>
                  <a:srgbClr val="E8E8F0"/>
                </a:solidFill>
                <a:latin typeface="Georgia" pitchFamily="34" charset="0"/>
                <a:ea typeface="Georgia" pitchFamily="34" charset="-122"/>
                <a:cs typeface="Georgia" pitchFamily="34" charset="-120"/>
              </a:rPr>
              <a:t>The Distinct Quadrant — Moderate Price, Maximum Retention</a:t>
            </a:r>
            <a:endParaRPr lang="en-US" sz="1800" dirty="0"/>
          </a:p>
        </p:txBody>
      </p:sp>
      <p:pic>
        <p:nvPicPr>
          <p:cNvPr id="5" name="Image 0" descr="/home/claude/charts/06_price_vs_resale.png"/>
          <p:cNvPicPr>
            <a:picLocks noChangeAspect="1"/>
          </p:cNvPicPr>
          <p:nvPr/>
        </p:nvPicPr>
        <p:blipFill>
          <a:blip r:embed="rId3"/>
          <a:stretch>
            <a:fillRect/>
          </a:stretch>
        </p:blipFill>
        <p:spPr>
          <a:xfrm>
            <a:off x="365760" y="1097280"/>
            <a:ext cx="7772400" cy="4572000"/>
          </a:xfrm>
          <a:prstGeom prst="rect">
            <a:avLst/>
          </a:prstGeom>
        </p:spPr>
      </p:pic>
      <p:sp>
        <p:nvSpPr>
          <p:cNvPr id="6" name="Shape 3"/>
          <p:cNvSpPr/>
          <p:nvPr/>
        </p:nvSpPr>
        <p:spPr>
          <a:xfrm>
            <a:off x="8321040" y="1097280"/>
            <a:ext cx="3566160" cy="4572000"/>
          </a:xfrm>
          <a:prstGeom prst="rect">
            <a:avLst/>
          </a:prstGeom>
          <a:solidFill>
            <a:srgbClr val="1A1A22"/>
          </a:solidFill>
          <a:ln w="6350">
            <a:solidFill>
              <a:srgbClr val="2A2A38"/>
            </a:solidFill>
            <a:prstDash val="solid"/>
          </a:ln>
        </p:spPr>
        <p:txBody>
          <a:bodyPr/>
          <a:lstStyle/>
          <a:p>
            <a:endParaRPr lang="en-US"/>
          </a:p>
        </p:txBody>
      </p:sp>
      <p:sp>
        <p:nvSpPr>
          <p:cNvPr id="7" name="Text 4"/>
          <p:cNvSpPr/>
          <p:nvPr/>
        </p:nvSpPr>
        <p:spPr>
          <a:xfrm>
            <a:off x="8458200" y="1280160"/>
            <a:ext cx="3291840" cy="274320"/>
          </a:xfrm>
          <a:prstGeom prst="rect">
            <a:avLst/>
          </a:prstGeom>
          <a:noFill/>
          <a:ln/>
        </p:spPr>
        <p:txBody>
          <a:bodyPr wrap="square" lIns="0" tIns="0" rIns="0" bIns="0" rtlCol="0" anchor="ctr"/>
          <a:lstStyle/>
          <a:p>
            <a:pPr marL="0" indent="0">
              <a:buNone/>
            </a:pPr>
            <a:r>
              <a:rPr lang="en-US" sz="800" kern="0" spc="200" dirty="0">
                <a:solidFill>
                  <a:srgbClr val="C9A96E"/>
                </a:solidFill>
                <a:latin typeface="Consolas" pitchFamily="34" charset="0"/>
                <a:ea typeface="Consolas" pitchFamily="34" charset="-122"/>
                <a:cs typeface="Consolas" pitchFamily="34" charset="-120"/>
              </a:rPr>
              <a:t>THE QUADRANT</a:t>
            </a:r>
            <a:endParaRPr lang="en-US" sz="800" dirty="0"/>
          </a:p>
        </p:txBody>
      </p:sp>
      <p:sp>
        <p:nvSpPr>
          <p:cNvPr id="8" name="Text 5"/>
          <p:cNvSpPr/>
          <p:nvPr/>
        </p:nvSpPr>
        <p:spPr>
          <a:xfrm>
            <a:off x="8458200" y="1645920"/>
            <a:ext cx="3291840" cy="3749040"/>
          </a:xfrm>
          <a:prstGeom prst="rect">
            <a:avLst/>
          </a:prstGeom>
          <a:noFill/>
          <a:ln/>
        </p:spPr>
        <p:txBody>
          <a:bodyPr wrap="square" lIns="0" tIns="0" rIns="0" bIns="0" rtlCol="0" anchor="ctr"/>
          <a:lstStyle/>
          <a:p>
            <a:pPr marL="0" indent="0">
              <a:buNone/>
            </a:pPr>
            <a:r>
              <a:rPr lang="en-US" sz="1000" dirty="0">
                <a:solidFill>
                  <a:srgbClr val="9898B0"/>
                </a:solidFill>
                <a:latin typeface="Calibri" pitchFamily="34" charset="0"/>
                <a:ea typeface="Calibri" pitchFamily="34" charset="-122"/>
                <a:cs typeface="Calibri" pitchFamily="34" charset="-120"/>
              </a:rPr>
              <a:t>Avant-garde brands occupy a unique quadrant: </a:t>
            </a:r>
            <a:r>
              <a:rPr lang="en-US" sz="1000" b="1" dirty="0">
                <a:solidFill>
                  <a:srgbClr val="E8E8F0"/>
                </a:solidFill>
                <a:latin typeface="Calibri" pitchFamily="34" charset="0"/>
                <a:ea typeface="Calibri" pitchFamily="34" charset="-122"/>
                <a:cs typeface="Calibri" pitchFamily="34" charset="-120"/>
              </a:rPr>
              <a:t>moderate retail price with very high resale retention.</a:t>
            </a:r>
            <a:endParaRPr lang="en-US" sz="1000" dirty="0"/>
          </a:p>
          <a:p>
            <a:pPr marL="0" indent="0">
              <a:buNone/>
            </a:pPr>
            <a:endParaRPr lang="en-US" sz="1000" dirty="0"/>
          </a:p>
          <a:p>
            <a:pPr marL="0" indent="0">
              <a:buNone/>
            </a:pPr>
            <a:r>
              <a:rPr lang="en-US" sz="1000" dirty="0">
                <a:solidFill>
                  <a:srgbClr val="9898B0"/>
                </a:solidFill>
                <a:latin typeface="Calibri" pitchFamily="34" charset="0"/>
                <a:ea typeface="Calibri" pitchFamily="34" charset="-122"/>
                <a:cs typeface="Calibri" pitchFamily="34" charset="-120"/>
              </a:rPr>
              <a:t>Fast fashion is cheap at retail and worthless on resale.</a:t>
            </a:r>
            <a:endParaRPr lang="en-US" sz="1000" dirty="0"/>
          </a:p>
          <a:p>
            <a:pPr marL="0" indent="0">
              <a:buNone/>
            </a:pPr>
            <a:endParaRPr lang="en-US" sz="1000" dirty="0"/>
          </a:p>
          <a:p>
            <a:pPr marL="0" indent="0">
              <a:buNone/>
            </a:pPr>
            <a:r>
              <a:rPr lang="en-US" sz="1000" dirty="0">
                <a:solidFill>
                  <a:srgbClr val="9898B0"/>
                </a:solidFill>
                <a:latin typeface="Calibri" pitchFamily="34" charset="0"/>
                <a:ea typeface="Calibri" pitchFamily="34" charset="-122"/>
                <a:cs typeface="Calibri" pitchFamily="34" charset="-120"/>
              </a:rPr>
              <a:t>Mainstream luxury is expensive at retail but retains less value than expected — because their pieces are not scarce enough to appreciate.</a:t>
            </a:r>
            <a:endParaRPr lang="en-US" sz="1000" dirty="0"/>
          </a:p>
          <a:p>
            <a:pPr marL="0" indent="0">
              <a:buNone/>
            </a:pPr>
            <a:endParaRPr lang="en-US" sz="1000" dirty="0"/>
          </a:p>
          <a:p>
            <a:pPr marL="0" indent="0">
              <a:buNone/>
            </a:pPr>
            <a:r>
              <a:rPr lang="en-US" sz="1000" dirty="0">
                <a:solidFill>
                  <a:srgbClr val="9898B0"/>
                </a:solidFill>
                <a:latin typeface="Calibri" pitchFamily="34" charset="0"/>
                <a:ea typeface="Calibri" pitchFamily="34" charset="-122"/>
                <a:cs typeface="Calibri" pitchFamily="34" charset="-120"/>
              </a:rPr>
              <a:t>Avant-garde pieces are priced at a premium but retain most of that value — because the market correctly identifies them as collectible objects, not consumer goods.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274320"/>
            <a:ext cx="9144000" cy="320040"/>
          </a:xfrm>
          <a:prstGeom prst="rect">
            <a:avLst/>
          </a:prstGeom>
          <a:noFill/>
          <a:ln/>
        </p:spPr>
        <p:txBody>
          <a:bodyPr wrap="square" lIns="0" tIns="0" rIns="0" bIns="0" rtlCol="0" anchor="ctr"/>
          <a:lstStyle/>
          <a:p>
            <a:pPr marL="0" indent="0">
              <a:buNone/>
            </a:pPr>
            <a:r>
              <a:rPr lang="en-US" sz="900" kern="0" spc="200" dirty="0">
                <a:solidFill>
                  <a:srgbClr val="C9A96E"/>
                </a:solidFill>
                <a:latin typeface="Consolas" pitchFamily="34" charset="0"/>
                <a:ea typeface="Consolas" pitchFamily="34" charset="-122"/>
                <a:cs typeface="Consolas" pitchFamily="34" charset="-120"/>
              </a:rPr>
              <a:t>08  ·  LONGEVITY</a:t>
            </a:r>
            <a:endParaRPr lang="en-US" sz="900" dirty="0"/>
          </a:p>
        </p:txBody>
      </p:sp>
      <p:sp>
        <p:nvSpPr>
          <p:cNvPr id="4" name="Text 2"/>
          <p:cNvSpPr/>
          <p:nvPr/>
        </p:nvSpPr>
        <p:spPr>
          <a:xfrm>
            <a:off x="502920" y="640080"/>
            <a:ext cx="10058400" cy="365760"/>
          </a:xfrm>
          <a:prstGeom prst="rect">
            <a:avLst/>
          </a:prstGeom>
          <a:noFill/>
          <a:ln/>
        </p:spPr>
        <p:txBody>
          <a:bodyPr wrap="square" lIns="0" tIns="0" rIns="0" bIns="0" rtlCol="0" anchor="ctr"/>
          <a:lstStyle/>
          <a:p>
            <a:pPr marL="0" indent="0">
              <a:buNone/>
            </a:pPr>
            <a:r>
              <a:rPr lang="en-US" sz="1800" b="1" dirty="0">
                <a:solidFill>
                  <a:srgbClr val="E8E8F0"/>
                </a:solidFill>
                <a:latin typeface="Georgia" pitchFamily="34" charset="0"/>
                <a:ea typeface="Georgia" pitchFamily="34" charset="-122"/>
                <a:cs typeface="Georgia" pitchFamily="34" charset="-120"/>
              </a:rPr>
              <a:t>Years of Operation vs. Revenue Scale</a:t>
            </a:r>
            <a:endParaRPr lang="en-US" sz="1800" dirty="0"/>
          </a:p>
        </p:txBody>
      </p:sp>
      <p:pic>
        <p:nvPicPr>
          <p:cNvPr id="5" name="Image 0" descr="/home/claude/charts/08_longevity_matrix.png"/>
          <p:cNvPicPr>
            <a:picLocks noChangeAspect="1"/>
          </p:cNvPicPr>
          <p:nvPr/>
        </p:nvPicPr>
        <p:blipFill>
          <a:blip r:embed="rId3"/>
          <a:stretch>
            <a:fillRect/>
          </a:stretch>
        </p:blipFill>
        <p:spPr>
          <a:xfrm>
            <a:off x="365760" y="1097280"/>
            <a:ext cx="7772400" cy="4572000"/>
          </a:xfrm>
          <a:prstGeom prst="rect">
            <a:avLst/>
          </a:prstGeom>
        </p:spPr>
      </p:pic>
      <p:sp>
        <p:nvSpPr>
          <p:cNvPr id="6" name="Shape 3"/>
          <p:cNvSpPr/>
          <p:nvPr/>
        </p:nvSpPr>
        <p:spPr>
          <a:xfrm>
            <a:off x="8321040" y="1097280"/>
            <a:ext cx="3566160" cy="4572000"/>
          </a:xfrm>
          <a:prstGeom prst="rect">
            <a:avLst/>
          </a:prstGeom>
          <a:solidFill>
            <a:srgbClr val="1A1A22"/>
          </a:solidFill>
          <a:ln w="6350">
            <a:solidFill>
              <a:srgbClr val="2A2A38"/>
            </a:solidFill>
            <a:prstDash val="solid"/>
          </a:ln>
        </p:spPr>
        <p:txBody>
          <a:bodyPr/>
          <a:lstStyle/>
          <a:p>
            <a:endParaRPr lang="en-US"/>
          </a:p>
        </p:txBody>
      </p:sp>
      <p:sp>
        <p:nvSpPr>
          <p:cNvPr id="7" name="Text 4"/>
          <p:cNvSpPr/>
          <p:nvPr/>
        </p:nvSpPr>
        <p:spPr>
          <a:xfrm>
            <a:off x="8458200" y="1280160"/>
            <a:ext cx="3291840" cy="274320"/>
          </a:xfrm>
          <a:prstGeom prst="rect">
            <a:avLst/>
          </a:prstGeom>
          <a:noFill/>
          <a:ln/>
        </p:spPr>
        <p:txBody>
          <a:bodyPr wrap="square" lIns="0" tIns="0" rIns="0" bIns="0" rtlCol="0" anchor="ctr"/>
          <a:lstStyle/>
          <a:p>
            <a:pPr marL="0" indent="0">
              <a:buNone/>
            </a:pPr>
            <a:r>
              <a:rPr lang="en-US" sz="800" kern="0" spc="200" dirty="0">
                <a:solidFill>
                  <a:srgbClr val="C9A96E"/>
                </a:solidFill>
                <a:latin typeface="Consolas" pitchFamily="34" charset="0"/>
                <a:ea typeface="Consolas" pitchFamily="34" charset="-122"/>
                <a:cs typeface="Consolas" pitchFamily="34" charset="-120"/>
              </a:rPr>
              <a:t>YOHJI YAMAMOTO</a:t>
            </a:r>
            <a:endParaRPr lang="en-US" sz="800" dirty="0"/>
          </a:p>
        </p:txBody>
      </p:sp>
      <p:sp>
        <p:nvSpPr>
          <p:cNvPr id="8" name="Text 5"/>
          <p:cNvSpPr/>
          <p:nvPr/>
        </p:nvSpPr>
        <p:spPr>
          <a:xfrm>
            <a:off x="8458200" y="1645920"/>
            <a:ext cx="3291840" cy="1554480"/>
          </a:xfrm>
          <a:prstGeom prst="rect">
            <a:avLst/>
          </a:prstGeom>
          <a:noFill/>
          <a:ln/>
        </p:spPr>
        <p:txBody>
          <a:bodyPr wrap="square" lIns="0" tIns="0" rIns="0" bIns="0" rtlCol="0" anchor="ctr"/>
          <a:lstStyle/>
          <a:p>
            <a:pPr marL="0" indent="0">
              <a:buNone/>
            </a:pPr>
            <a:r>
              <a:rPr lang="en-US" sz="1000" dirty="0">
                <a:solidFill>
                  <a:srgbClr val="9898B0"/>
                </a:solidFill>
                <a:latin typeface="Calibri" pitchFamily="34" charset="0"/>
                <a:ea typeface="Calibri" pitchFamily="34" charset="-122"/>
                <a:cs typeface="Calibri" pitchFamily="34" charset="-120"/>
              </a:rPr>
              <a:t>Went bankrupt in 2009 with debts over $65M USD. Restructured under Integral Corp. Continued producing collections. The brand survived because its identity was irreplaceable — collectors didn't stop buying.</a:t>
            </a:r>
            <a:endParaRPr lang="en-US" sz="1000" dirty="0"/>
          </a:p>
        </p:txBody>
      </p:sp>
      <p:sp>
        <p:nvSpPr>
          <p:cNvPr id="9" name="Shape 6"/>
          <p:cNvSpPr/>
          <p:nvPr/>
        </p:nvSpPr>
        <p:spPr>
          <a:xfrm>
            <a:off x="8412480" y="3337560"/>
            <a:ext cx="3291840" cy="27432"/>
          </a:xfrm>
          <a:prstGeom prst="rect">
            <a:avLst/>
          </a:prstGeom>
          <a:solidFill>
            <a:srgbClr val="2A2A38"/>
          </a:solidFill>
          <a:ln w="12700">
            <a:solidFill>
              <a:srgbClr val="2A2A38"/>
            </a:solidFill>
            <a:prstDash val="solid"/>
          </a:ln>
        </p:spPr>
        <p:txBody>
          <a:bodyPr/>
          <a:lstStyle/>
          <a:p>
            <a:endParaRPr lang="en-US"/>
          </a:p>
        </p:txBody>
      </p:sp>
      <p:sp>
        <p:nvSpPr>
          <p:cNvPr id="10" name="Text 7"/>
          <p:cNvSpPr/>
          <p:nvPr/>
        </p:nvSpPr>
        <p:spPr>
          <a:xfrm>
            <a:off x="8458200" y="3493008"/>
            <a:ext cx="3291840" cy="274320"/>
          </a:xfrm>
          <a:prstGeom prst="rect">
            <a:avLst/>
          </a:prstGeom>
          <a:noFill/>
          <a:ln/>
        </p:spPr>
        <p:txBody>
          <a:bodyPr wrap="square" lIns="0" tIns="0" rIns="0" bIns="0" rtlCol="0" anchor="ctr"/>
          <a:lstStyle/>
          <a:p>
            <a:pPr marL="0" indent="0">
              <a:buNone/>
            </a:pPr>
            <a:r>
              <a:rPr lang="en-US" sz="800" kern="0" spc="200" dirty="0">
                <a:solidFill>
                  <a:srgbClr val="C9A96E"/>
                </a:solidFill>
                <a:latin typeface="Consolas" pitchFamily="34" charset="0"/>
                <a:ea typeface="Consolas" pitchFamily="34" charset="-122"/>
                <a:cs typeface="Consolas" pitchFamily="34" charset="-120"/>
              </a:rPr>
              <a:t>COMME DES GARÇONS</a:t>
            </a:r>
            <a:endParaRPr lang="en-US" sz="800" dirty="0"/>
          </a:p>
        </p:txBody>
      </p:sp>
      <p:sp>
        <p:nvSpPr>
          <p:cNvPr id="11" name="Text 8"/>
          <p:cNvSpPr/>
          <p:nvPr/>
        </p:nvSpPr>
        <p:spPr>
          <a:xfrm>
            <a:off x="8458200" y="3840480"/>
            <a:ext cx="3291840" cy="1645920"/>
          </a:xfrm>
          <a:prstGeom prst="rect">
            <a:avLst/>
          </a:prstGeom>
          <a:noFill/>
          <a:ln/>
        </p:spPr>
        <p:txBody>
          <a:bodyPr wrap="square" lIns="0" tIns="0" rIns="0" bIns="0" rtlCol="0" anchor="ctr"/>
          <a:lstStyle/>
          <a:p>
            <a:pPr marL="0" indent="0">
              <a:buNone/>
            </a:pPr>
            <a:r>
              <a:rPr lang="en-US" sz="1000" dirty="0">
                <a:solidFill>
                  <a:srgbClr val="9898B0"/>
                </a:solidFill>
                <a:latin typeface="Calibri" pitchFamily="34" charset="0"/>
                <a:ea typeface="Calibri" pitchFamily="34" charset="-122"/>
                <a:cs typeface="Calibri" pitchFamily="34" charset="-120"/>
              </a:rPr>
              <a:t>Founded 1969. Still owned and controlled by Rei Kawakubo. 56 years of operation without conglomerate acquisition, without bankruptcy, and without compromising the brand's creative direction. The definition of durability.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274320"/>
            <a:ext cx="9144000" cy="320040"/>
          </a:xfrm>
          <a:prstGeom prst="rect">
            <a:avLst/>
          </a:prstGeom>
          <a:noFill/>
          <a:ln/>
        </p:spPr>
        <p:txBody>
          <a:bodyPr wrap="square" lIns="0" tIns="0" rIns="0" bIns="0" rtlCol="0" anchor="ctr"/>
          <a:lstStyle/>
          <a:p>
            <a:pPr marL="0" indent="0">
              <a:buNone/>
            </a:pPr>
            <a:r>
              <a:rPr lang="en-US" sz="900" kern="0" spc="200" dirty="0">
                <a:solidFill>
                  <a:srgbClr val="C9A96E"/>
                </a:solidFill>
                <a:latin typeface="Consolas" pitchFamily="34" charset="0"/>
                <a:ea typeface="Consolas" pitchFamily="34" charset="-122"/>
                <a:cs typeface="Consolas" pitchFamily="34" charset="-120"/>
              </a:rPr>
              <a:t>08  ·  SYNTHESIS &amp; IMPLICATIONS</a:t>
            </a:r>
            <a:endParaRPr lang="en-US" sz="900" dirty="0"/>
          </a:p>
        </p:txBody>
      </p:sp>
      <p:sp>
        <p:nvSpPr>
          <p:cNvPr id="4" name="Text 2"/>
          <p:cNvSpPr/>
          <p:nvPr/>
        </p:nvSpPr>
        <p:spPr>
          <a:xfrm>
            <a:off x="502920" y="640080"/>
            <a:ext cx="10058400" cy="365760"/>
          </a:xfrm>
          <a:prstGeom prst="rect">
            <a:avLst/>
          </a:prstGeom>
          <a:noFill/>
          <a:ln/>
        </p:spPr>
        <p:txBody>
          <a:bodyPr wrap="square" lIns="0" tIns="0" rIns="0" bIns="0" rtlCol="0" anchor="ctr"/>
          <a:lstStyle/>
          <a:p>
            <a:pPr marL="0" indent="0">
              <a:buNone/>
            </a:pPr>
            <a:r>
              <a:rPr lang="en-US" sz="2200" b="1" dirty="0">
                <a:solidFill>
                  <a:srgbClr val="E8E8F0"/>
                </a:solidFill>
                <a:latin typeface="Georgia" pitchFamily="34" charset="0"/>
                <a:ea typeface="Georgia" pitchFamily="34" charset="-122"/>
                <a:cs typeface="Georgia" pitchFamily="34" charset="-120"/>
              </a:rPr>
              <a:t>What the Data Proves</a:t>
            </a:r>
            <a:endParaRPr lang="en-US" sz="2200" dirty="0"/>
          </a:p>
        </p:txBody>
      </p:sp>
      <p:sp>
        <p:nvSpPr>
          <p:cNvPr id="5" name="Shape 3"/>
          <p:cNvSpPr/>
          <p:nvPr/>
        </p:nvSpPr>
        <p:spPr>
          <a:xfrm>
            <a:off x="502920" y="1234440"/>
            <a:ext cx="5486400" cy="1600200"/>
          </a:xfrm>
          <a:prstGeom prst="rect">
            <a:avLst/>
          </a:prstGeom>
          <a:solidFill>
            <a:srgbClr val="1A1A22"/>
          </a:solidFill>
          <a:ln w="6350">
            <a:solidFill>
              <a:srgbClr val="2A2A38"/>
            </a:solidFill>
            <a:prstDash val="solid"/>
          </a:ln>
        </p:spPr>
        <p:txBody>
          <a:bodyPr/>
          <a:lstStyle/>
          <a:p>
            <a:endParaRPr lang="en-US"/>
          </a:p>
        </p:txBody>
      </p:sp>
      <p:sp>
        <p:nvSpPr>
          <p:cNvPr id="6" name="Shape 4"/>
          <p:cNvSpPr/>
          <p:nvPr/>
        </p:nvSpPr>
        <p:spPr>
          <a:xfrm>
            <a:off x="502920" y="1234440"/>
            <a:ext cx="91440" cy="1600200"/>
          </a:xfrm>
          <a:prstGeom prst="rect">
            <a:avLst/>
          </a:prstGeom>
          <a:solidFill>
            <a:srgbClr val="C9A96E"/>
          </a:solidFill>
          <a:ln w="12700">
            <a:solidFill>
              <a:srgbClr val="C9A96E"/>
            </a:solidFill>
            <a:prstDash val="solid"/>
          </a:ln>
        </p:spPr>
        <p:txBody>
          <a:bodyPr/>
          <a:lstStyle/>
          <a:p>
            <a:endParaRPr lang="en-US"/>
          </a:p>
        </p:txBody>
      </p:sp>
      <p:sp>
        <p:nvSpPr>
          <p:cNvPr id="7" name="Text 5"/>
          <p:cNvSpPr/>
          <p:nvPr/>
        </p:nvSpPr>
        <p:spPr>
          <a:xfrm>
            <a:off x="731520" y="1325880"/>
            <a:ext cx="457200" cy="365760"/>
          </a:xfrm>
          <a:prstGeom prst="rect">
            <a:avLst/>
          </a:prstGeom>
          <a:noFill/>
          <a:ln/>
        </p:spPr>
        <p:txBody>
          <a:bodyPr wrap="square" lIns="0" tIns="0" rIns="0" bIns="0" rtlCol="0" anchor="ctr"/>
          <a:lstStyle/>
          <a:p>
            <a:pPr marL="0" indent="0">
              <a:buNone/>
            </a:pPr>
            <a:r>
              <a:rPr lang="en-US" sz="1800" b="1" dirty="0">
                <a:solidFill>
                  <a:srgbClr val="C9A96E"/>
                </a:solidFill>
                <a:latin typeface="Consolas" pitchFamily="34" charset="0"/>
                <a:ea typeface="Consolas" pitchFamily="34" charset="-122"/>
                <a:cs typeface="Consolas" pitchFamily="34" charset="-120"/>
              </a:rPr>
              <a:t>01</a:t>
            </a:r>
            <a:endParaRPr lang="en-US" sz="1800" dirty="0"/>
          </a:p>
        </p:txBody>
      </p:sp>
      <p:sp>
        <p:nvSpPr>
          <p:cNvPr id="8" name="Text 6"/>
          <p:cNvSpPr/>
          <p:nvPr/>
        </p:nvSpPr>
        <p:spPr>
          <a:xfrm>
            <a:off x="731520" y="1673352"/>
            <a:ext cx="5120640" cy="347472"/>
          </a:xfrm>
          <a:prstGeom prst="rect">
            <a:avLst/>
          </a:prstGeom>
          <a:noFill/>
          <a:ln/>
        </p:spPr>
        <p:txBody>
          <a:bodyPr wrap="square" lIns="0" tIns="0" rIns="0" bIns="0" rtlCol="0" anchor="ctr"/>
          <a:lstStyle/>
          <a:p>
            <a:pPr marL="0" indent="0">
              <a:buNone/>
            </a:pPr>
            <a:r>
              <a:rPr lang="en-US" sz="1100" b="1" dirty="0">
                <a:solidFill>
                  <a:srgbClr val="E8E8F0"/>
                </a:solidFill>
                <a:latin typeface="Georgia" pitchFamily="34" charset="0"/>
                <a:ea typeface="Georgia" pitchFamily="34" charset="-122"/>
                <a:cs typeface="Georgia" pitchFamily="34" charset="-120"/>
              </a:rPr>
              <a:t>The scarcity model is financially viable</a:t>
            </a:r>
            <a:endParaRPr lang="en-US" sz="1100" dirty="0"/>
          </a:p>
        </p:txBody>
      </p:sp>
      <p:sp>
        <p:nvSpPr>
          <p:cNvPr id="9" name="Text 7"/>
          <p:cNvSpPr/>
          <p:nvPr/>
        </p:nvSpPr>
        <p:spPr>
          <a:xfrm>
            <a:off x="731520" y="2057400"/>
            <a:ext cx="5120640" cy="685800"/>
          </a:xfrm>
          <a:prstGeom prst="rect">
            <a:avLst/>
          </a:prstGeom>
          <a:noFill/>
          <a:ln/>
        </p:spPr>
        <p:txBody>
          <a:bodyPr wrap="square" lIns="0" tIns="0" rIns="0" bIns="0" rtlCol="0" anchor="ctr"/>
          <a:lstStyle/>
          <a:p>
            <a:pPr marL="0" indent="0">
              <a:buNone/>
            </a:pPr>
            <a:r>
              <a:rPr lang="en-US" sz="900" dirty="0">
                <a:solidFill>
                  <a:srgbClr val="9898B0"/>
                </a:solidFill>
                <a:latin typeface="Calibri" pitchFamily="34" charset="0"/>
                <a:ea typeface="Calibri" pitchFamily="34" charset="-122"/>
                <a:cs typeface="Calibri" pitchFamily="34" charset="-120"/>
              </a:rPr>
              <a:t>Rick Owens generates €125M in revenue with no advertising spend, no celebrity endorsements, and 10 flagship stores globally. The model works.</a:t>
            </a:r>
            <a:endParaRPr lang="en-US" sz="900" dirty="0"/>
          </a:p>
        </p:txBody>
      </p:sp>
      <p:sp>
        <p:nvSpPr>
          <p:cNvPr id="10" name="Shape 8"/>
          <p:cNvSpPr/>
          <p:nvPr/>
        </p:nvSpPr>
        <p:spPr>
          <a:xfrm>
            <a:off x="502920" y="3017520"/>
            <a:ext cx="5486400" cy="1600200"/>
          </a:xfrm>
          <a:prstGeom prst="rect">
            <a:avLst/>
          </a:prstGeom>
          <a:solidFill>
            <a:srgbClr val="1A1A22"/>
          </a:solidFill>
          <a:ln w="6350">
            <a:solidFill>
              <a:srgbClr val="2A2A38"/>
            </a:solidFill>
            <a:prstDash val="solid"/>
          </a:ln>
        </p:spPr>
        <p:txBody>
          <a:bodyPr/>
          <a:lstStyle/>
          <a:p>
            <a:endParaRPr lang="en-US"/>
          </a:p>
        </p:txBody>
      </p:sp>
      <p:sp>
        <p:nvSpPr>
          <p:cNvPr id="11" name="Shape 9"/>
          <p:cNvSpPr/>
          <p:nvPr/>
        </p:nvSpPr>
        <p:spPr>
          <a:xfrm>
            <a:off x="502920" y="3017520"/>
            <a:ext cx="91440" cy="1600200"/>
          </a:xfrm>
          <a:prstGeom prst="rect">
            <a:avLst/>
          </a:prstGeom>
          <a:solidFill>
            <a:srgbClr val="C9A96E"/>
          </a:solidFill>
          <a:ln w="12700">
            <a:solidFill>
              <a:srgbClr val="C9A96E"/>
            </a:solidFill>
            <a:prstDash val="solid"/>
          </a:ln>
        </p:spPr>
        <p:txBody>
          <a:bodyPr/>
          <a:lstStyle/>
          <a:p>
            <a:endParaRPr lang="en-US"/>
          </a:p>
        </p:txBody>
      </p:sp>
      <p:sp>
        <p:nvSpPr>
          <p:cNvPr id="12" name="Text 10"/>
          <p:cNvSpPr/>
          <p:nvPr/>
        </p:nvSpPr>
        <p:spPr>
          <a:xfrm>
            <a:off x="731520" y="3108960"/>
            <a:ext cx="457200" cy="365760"/>
          </a:xfrm>
          <a:prstGeom prst="rect">
            <a:avLst/>
          </a:prstGeom>
          <a:noFill/>
          <a:ln/>
        </p:spPr>
        <p:txBody>
          <a:bodyPr wrap="square" lIns="0" tIns="0" rIns="0" bIns="0" rtlCol="0" anchor="ctr"/>
          <a:lstStyle/>
          <a:p>
            <a:pPr marL="0" indent="0">
              <a:buNone/>
            </a:pPr>
            <a:r>
              <a:rPr lang="en-US" sz="1800" b="1" dirty="0">
                <a:solidFill>
                  <a:srgbClr val="C9A96E"/>
                </a:solidFill>
                <a:latin typeface="Consolas" pitchFamily="34" charset="0"/>
                <a:ea typeface="Consolas" pitchFamily="34" charset="-122"/>
                <a:cs typeface="Consolas" pitchFamily="34" charset="-120"/>
              </a:rPr>
              <a:t>02</a:t>
            </a:r>
            <a:endParaRPr lang="en-US" sz="1800" dirty="0"/>
          </a:p>
        </p:txBody>
      </p:sp>
      <p:sp>
        <p:nvSpPr>
          <p:cNvPr id="13" name="Text 11"/>
          <p:cNvSpPr/>
          <p:nvPr/>
        </p:nvSpPr>
        <p:spPr>
          <a:xfrm>
            <a:off x="731520" y="3456432"/>
            <a:ext cx="5120640" cy="347472"/>
          </a:xfrm>
          <a:prstGeom prst="rect">
            <a:avLst/>
          </a:prstGeom>
          <a:noFill/>
          <a:ln/>
        </p:spPr>
        <p:txBody>
          <a:bodyPr wrap="square" lIns="0" tIns="0" rIns="0" bIns="0" rtlCol="0" anchor="ctr"/>
          <a:lstStyle/>
          <a:p>
            <a:pPr marL="0" indent="0">
              <a:buNone/>
            </a:pPr>
            <a:r>
              <a:rPr lang="en-US" sz="1100" b="1" dirty="0">
                <a:solidFill>
                  <a:srgbClr val="E8E8F0"/>
                </a:solidFill>
                <a:latin typeface="Georgia" pitchFamily="34" charset="0"/>
                <a:ea typeface="Georgia" pitchFamily="34" charset="-122"/>
                <a:cs typeface="Georgia" pitchFamily="34" charset="-120"/>
              </a:rPr>
              <a:t>Social media reach is inversely correlated with brand durability</a:t>
            </a:r>
            <a:endParaRPr lang="en-US" sz="1100" dirty="0"/>
          </a:p>
        </p:txBody>
      </p:sp>
      <p:sp>
        <p:nvSpPr>
          <p:cNvPr id="14" name="Text 12"/>
          <p:cNvSpPr/>
          <p:nvPr/>
        </p:nvSpPr>
        <p:spPr>
          <a:xfrm>
            <a:off x="731520" y="3840480"/>
            <a:ext cx="5120640" cy="685800"/>
          </a:xfrm>
          <a:prstGeom prst="rect">
            <a:avLst/>
          </a:prstGeom>
          <a:noFill/>
          <a:ln/>
        </p:spPr>
        <p:txBody>
          <a:bodyPr wrap="square" lIns="0" tIns="0" rIns="0" bIns="0" rtlCol="0" anchor="ctr"/>
          <a:lstStyle/>
          <a:p>
            <a:pPr marL="0" indent="0">
              <a:buNone/>
            </a:pPr>
            <a:r>
              <a:rPr lang="en-US" sz="900" dirty="0">
                <a:solidFill>
                  <a:srgbClr val="9898B0"/>
                </a:solidFill>
                <a:latin typeface="Calibri" pitchFamily="34" charset="0"/>
                <a:ea typeface="Calibri" pitchFamily="34" charset="-122"/>
                <a:cs typeface="Calibri" pitchFamily="34" charset="-120"/>
              </a:rPr>
              <a:t>The brands with the highest resale retention and archive premiums have the smallest social media presences. This is not coincidence — it is strategy.</a:t>
            </a:r>
            <a:endParaRPr lang="en-US" sz="900" dirty="0"/>
          </a:p>
        </p:txBody>
      </p:sp>
      <p:sp>
        <p:nvSpPr>
          <p:cNvPr id="15" name="Shape 13"/>
          <p:cNvSpPr/>
          <p:nvPr/>
        </p:nvSpPr>
        <p:spPr>
          <a:xfrm>
            <a:off x="502920" y="4800600"/>
            <a:ext cx="5486400" cy="1600200"/>
          </a:xfrm>
          <a:prstGeom prst="rect">
            <a:avLst/>
          </a:prstGeom>
          <a:solidFill>
            <a:srgbClr val="1A1A22"/>
          </a:solidFill>
          <a:ln w="6350">
            <a:solidFill>
              <a:srgbClr val="2A2A38"/>
            </a:solidFill>
            <a:prstDash val="solid"/>
          </a:ln>
        </p:spPr>
        <p:txBody>
          <a:bodyPr/>
          <a:lstStyle/>
          <a:p>
            <a:endParaRPr lang="en-US"/>
          </a:p>
        </p:txBody>
      </p:sp>
      <p:sp>
        <p:nvSpPr>
          <p:cNvPr id="16" name="Shape 14"/>
          <p:cNvSpPr/>
          <p:nvPr/>
        </p:nvSpPr>
        <p:spPr>
          <a:xfrm>
            <a:off x="502920" y="4800600"/>
            <a:ext cx="91440" cy="1600200"/>
          </a:xfrm>
          <a:prstGeom prst="rect">
            <a:avLst/>
          </a:prstGeom>
          <a:solidFill>
            <a:srgbClr val="C9A96E"/>
          </a:solidFill>
          <a:ln w="12700">
            <a:solidFill>
              <a:srgbClr val="C9A96E"/>
            </a:solidFill>
            <a:prstDash val="solid"/>
          </a:ln>
        </p:spPr>
        <p:txBody>
          <a:bodyPr/>
          <a:lstStyle/>
          <a:p>
            <a:endParaRPr lang="en-US"/>
          </a:p>
        </p:txBody>
      </p:sp>
      <p:sp>
        <p:nvSpPr>
          <p:cNvPr id="17" name="Text 15"/>
          <p:cNvSpPr/>
          <p:nvPr/>
        </p:nvSpPr>
        <p:spPr>
          <a:xfrm>
            <a:off x="731520" y="4892040"/>
            <a:ext cx="457200" cy="365760"/>
          </a:xfrm>
          <a:prstGeom prst="rect">
            <a:avLst/>
          </a:prstGeom>
          <a:noFill/>
          <a:ln/>
        </p:spPr>
        <p:txBody>
          <a:bodyPr wrap="square" lIns="0" tIns="0" rIns="0" bIns="0" rtlCol="0" anchor="ctr"/>
          <a:lstStyle/>
          <a:p>
            <a:pPr marL="0" indent="0">
              <a:buNone/>
            </a:pPr>
            <a:r>
              <a:rPr lang="en-US" sz="1800" b="1" dirty="0">
                <a:solidFill>
                  <a:srgbClr val="C9A96E"/>
                </a:solidFill>
                <a:latin typeface="Consolas" pitchFamily="34" charset="0"/>
                <a:ea typeface="Consolas" pitchFamily="34" charset="-122"/>
                <a:cs typeface="Consolas" pitchFamily="34" charset="-120"/>
              </a:rPr>
              <a:t>03</a:t>
            </a:r>
            <a:endParaRPr lang="en-US" sz="1800" dirty="0"/>
          </a:p>
        </p:txBody>
      </p:sp>
      <p:sp>
        <p:nvSpPr>
          <p:cNvPr id="18" name="Text 16"/>
          <p:cNvSpPr/>
          <p:nvPr/>
        </p:nvSpPr>
        <p:spPr>
          <a:xfrm>
            <a:off x="731520" y="5239512"/>
            <a:ext cx="5120640" cy="347472"/>
          </a:xfrm>
          <a:prstGeom prst="rect">
            <a:avLst/>
          </a:prstGeom>
          <a:noFill/>
          <a:ln/>
        </p:spPr>
        <p:txBody>
          <a:bodyPr wrap="square" lIns="0" tIns="0" rIns="0" bIns="0" rtlCol="0" anchor="ctr"/>
          <a:lstStyle/>
          <a:p>
            <a:pPr marL="0" indent="0">
              <a:buNone/>
            </a:pPr>
            <a:r>
              <a:rPr lang="en-US" sz="1100" b="1" dirty="0">
                <a:solidFill>
                  <a:srgbClr val="E8E8F0"/>
                </a:solidFill>
                <a:latin typeface="Georgia" pitchFamily="34" charset="0"/>
                <a:ea typeface="Georgia" pitchFamily="34" charset="-122"/>
                <a:cs typeface="Georgia" pitchFamily="34" charset="-120"/>
              </a:rPr>
              <a:t>The secondary market is the real revenue signal</a:t>
            </a:r>
            <a:endParaRPr lang="en-US" sz="1100" dirty="0"/>
          </a:p>
        </p:txBody>
      </p:sp>
      <p:sp>
        <p:nvSpPr>
          <p:cNvPr id="19" name="Text 17"/>
          <p:cNvSpPr/>
          <p:nvPr/>
        </p:nvSpPr>
        <p:spPr>
          <a:xfrm>
            <a:off x="731520" y="5623560"/>
            <a:ext cx="5120640" cy="685800"/>
          </a:xfrm>
          <a:prstGeom prst="rect">
            <a:avLst/>
          </a:prstGeom>
          <a:noFill/>
          <a:ln/>
        </p:spPr>
        <p:txBody>
          <a:bodyPr wrap="square" lIns="0" tIns="0" rIns="0" bIns="0" rtlCol="0" anchor="ctr"/>
          <a:lstStyle/>
          <a:p>
            <a:pPr marL="0" indent="0">
              <a:buNone/>
            </a:pPr>
            <a:r>
              <a:rPr lang="en-US" sz="900" dirty="0">
                <a:solidFill>
                  <a:srgbClr val="9898B0"/>
                </a:solidFill>
                <a:latin typeface="Calibri" pitchFamily="34" charset="0"/>
                <a:ea typeface="Calibri" pitchFamily="34" charset="-122"/>
                <a:cs typeface="Calibri" pitchFamily="34" charset="-120"/>
              </a:rPr>
              <a:t>When a brand's pieces appreciate on resale, it means the market believes in the brand's permanence. No fast fashion brand has ever achieved this. Several avant-garde brands have sustained it for decades.</a:t>
            </a:r>
            <a:endParaRPr lang="en-US" sz="900" dirty="0"/>
          </a:p>
        </p:txBody>
      </p:sp>
      <p:sp>
        <p:nvSpPr>
          <p:cNvPr id="20" name="Shape 18"/>
          <p:cNvSpPr/>
          <p:nvPr/>
        </p:nvSpPr>
        <p:spPr>
          <a:xfrm>
            <a:off x="6355080" y="1234440"/>
            <a:ext cx="5486400" cy="1600200"/>
          </a:xfrm>
          <a:prstGeom prst="rect">
            <a:avLst/>
          </a:prstGeom>
          <a:solidFill>
            <a:srgbClr val="1A1A22"/>
          </a:solidFill>
          <a:ln w="6350">
            <a:solidFill>
              <a:srgbClr val="2A2A38"/>
            </a:solidFill>
            <a:prstDash val="solid"/>
          </a:ln>
        </p:spPr>
        <p:txBody>
          <a:bodyPr/>
          <a:lstStyle/>
          <a:p>
            <a:endParaRPr lang="en-US"/>
          </a:p>
        </p:txBody>
      </p:sp>
      <p:sp>
        <p:nvSpPr>
          <p:cNvPr id="21" name="Shape 19"/>
          <p:cNvSpPr/>
          <p:nvPr/>
        </p:nvSpPr>
        <p:spPr>
          <a:xfrm>
            <a:off x="6355080" y="1234440"/>
            <a:ext cx="91440" cy="1600200"/>
          </a:xfrm>
          <a:prstGeom prst="rect">
            <a:avLst/>
          </a:prstGeom>
          <a:solidFill>
            <a:srgbClr val="C9A96E"/>
          </a:solidFill>
          <a:ln w="12700">
            <a:solidFill>
              <a:srgbClr val="C9A96E"/>
            </a:solidFill>
            <a:prstDash val="solid"/>
          </a:ln>
        </p:spPr>
        <p:txBody>
          <a:bodyPr/>
          <a:lstStyle/>
          <a:p>
            <a:endParaRPr lang="en-US"/>
          </a:p>
        </p:txBody>
      </p:sp>
      <p:sp>
        <p:nvSpPr>
          <p:cNvPr id="22" name="Text 20"/>
          <p:cNvSpPr/>
          <p:nvPr/>
        </p:nvSpPr>
        <p:spPr>
          <a:xfrm>
            <a:off x="6583680" y="1325880"/>
            <a:ext cx="457200" cy="365760"/>
          </a:xfrm>
          <a:prstGeom prst="rect">
            <a:avLst/>
          </a:prstGeom>
          <a:noFill/>
          <a:ln/>
        </p:spPr>
        <p:txBody>
          <a:bodyPr wrap="square" lIns="0" tIns="0" rIns="0" bIns="0" rtlCol="0" anchor="ctr"/>
          <a:lstStyle/>
          <a:p>
            <a:pPr marL="0" indent="0">
              <a:buNone/>
            </a:pPr>
            <a:r>
              <a:rPr lang="en-US" sz="1800" b="1" dirty="0">
                <a:solidFill>
                  <a:srgbClr val="C9A96E"/>
                </a:solidFill>
                <a:latin typeface="Consolas" pitchFamily="34" charset="0"/>
                <a:ea typeface="Consolas" pitchFamily="34" charset="-122"/>
                <a:cs typeface="Consolas" pitchFamily="34" charset="-120"/>
              </a:rPr>
              <a:t>04</a:t>
            </a:r>
            <a:endParaRPr lang="en-US" sz="1800" dirty="0"/>
          </a:p>
        </p:txBody>
      </p:sp>
      <p:sp>
        <p:nvSpPr>
          <p:cNvPr id="23" name="Text 21"/>
          <p:cNvSpPr/>
          <p:nvPr/>
        </p:nvSpPr>
        <p:spPr>
          <a:xfrm>
            <a:off x="6583680" y="1673352"/>
            <a:ext cx="5120640" cy="347472"/>
          </a:xfrm>
          <a:prstGeom prst="rect">
            <a:avLst/>
          </a:prstGeom>
          <a:noFill/>
          <a:ln/>
        </p:spPr>
        <p:txBody>
          <a:bodyPr wrap="square" lIns="0" tIns="0" rIns="0" bIns="0" rtlCol="0" anchor="ctr"/>
          <a:lstStyle/>
          <a:p>
            <a:pPr marL="0" indent="0">
              <a:buNone/>
            </a:pPr>
            <a:r>
              <a:rPr lang="en-US" sz="1100" b="1" dirty="0">
                <a:solidFill>
                  <a:srgbClr val="E8E8F0"/>
                </a:solidFill>
                <a:latin typeface="Georgia" pitchFamily="34" charset="0"/>
                <a:ea typeface="Georgia" pitchFamily="34" charset="-122"/>
                <a:cs typeface="Georgia" pitchFamily="34" charset="-120"/>
              </a:rPr>
              <a:t>Transparency scores measure regulation compliance, not ethics</a:t>
            </a:r>
            <a:endParaRPr lang="en-US" sz="1100" dirty="0"/>
          </a:p>
        </p:txBody>
      </p:sp>
      <p:sp>
        <p:nvSpPr>
          <p:cNvPr id="24" name="Text 22"/>
          <p:cNvSpPr/>
          <p:nvPr/>
        </p:nvSpPr>
        <p:spPr>
          <a:xfrm>
            <a:off x="6583680" y="2057400"/>
            <a:ext cx="5120640" cy="685800"/>
          </a:xfrm>
          <a:prstGeom prst="rect">
            <a:avLst/>
          </a:prstGeom>
          <a:noFill/>
          <a:ln/>
        </p:spPr>
        <p:txBody>
          <a:bodyPr wrap="square" lIns="0" tIns="0" rIns="0" bIns="0" rtlCol="0" anchor="ctr"/>
          <a:lstStyle/>
          <a:p>
            <a:pPr marL="0" indent="0">
              <a:buNone/>
            </a:pPr>
            <a:r>
              <a:rPr lang="en-US" sz="900" dirty="0">
                <a:solidFill>
                  <a:srgbClr val="9898B0"/>
                </a:solidFill>
                <a:latin typeface="Calibri" pitchFamily="34" charset="0"/>
                <a:ea typeface="Calibri" pitchFamily="34" charset="-122"/>
                <a:cs typeface="Calibri" pitchFamily="34" charset="-120"/>
              </a:rPr>
              <a:t>The avant-garde sector's low FTI scores reflect structural exclusion from a reporting framework built for conglomerates — not evidence of unethical practices.</a:t>
            </a:r>
            <a:endParaRPr lang="en-US" sz="900" dirty="0"/>
          </a:p>
        </p:txBody>
      </p:sp>
      <p:sp>
        <p:nvSpPr>
          <p:cNvPr id="25" name="Shape 23"/>
          <p:cNvSpPr/>
          <p:nvPr/>
        </p:nvSpPr>
        <p:spPr>
          <a:xfrm>
            <a:off x="6355080" y="3017520"/>
            <a:ext cx="5486400" cy="1600200"/>
          </a:xfrm>
          <a:prstGeom prst="rect">
            <a:avLst/>
          </a:prstGeom>
          <a:solidFill>
            <a:srgbClr val="1A1A22"/>
          </a:solidFill>
          <a:ln w="6350">
            <a:solidFill>
              <a:srgbClr val="2A2A38"/>
            </a:solidFill>
            <a:prstDash val="solid"/>
          </a:ln>
        </p:spPr>
        <p:txBody>
          <a:bodyPr/>
          <a:lstStyle/>
          <a:p>
            <a:endParaRPr lang="en-US"/>
          </a:p>
        </p:txBody>
      </p:sp>
      <p:sp>
        <p:nvSpPr>
          <p:cNvPr id="26" name="Shape 24"/>
          <p:cNvSpPr/>
          <p:nvPr/>
        </p:nvSpPr>
        <p:spPr>
          <a:xfrm>
            <a:off x="6355080" y="3017520"/>
            <a:ext cx="91440" cy="1600200"/>
          </a:xfrm>
          <a:prstGeom prst="rect">
            <a:avLst/>
          </a:prstGeom>
          <a:solidFill>
            <a:srgbClr val="C9A96E"/>
          </a:solidFill>
          <a:ln w="12700">
            <a:solidFill>
              <a:srgbClr val="C9A96E"/>
            </a:solidFill>
            <a:prstDash val="solid"/>
          </a:ln>
        </p:spPr>
        <p:txBody>
          <a:bodyPr/>
          <a:lstStyle/>
          <a:p>
            <a:endParaRPr lang="en-US"/>
          </a:p>
        </p:txBody>
      </p:sp>
      <p:sp>
        <p:nvSpPr>
          <p:cNvPr id="27" name="Text 25"/>
          <p:cNvSpPr/>
          <p:nvPr/>
        </p:nvSpPr>
        <p:spPr>
          <a:xfrm>
            <a:off x="6583680" y="3108960"/>
            <a:ext cx="457200" cy="365760"/>
          </a:xfrm>
          <a:prstGeom prst="rect">
            <a:avLst/>
          </a:prstGeom>
          <a:noFill/>
          <a:ln/>
        </p:spPr>
        <p:txBody>
          <a:bodyPr wrap="square" lIns="0" tIns="0" rIns="0" bIns="0" rtlCol="0" anchor="ctr"/>
          <a:lstStyle/>
          <a:p>
            <a:pPr marL="0" indent="0">
              <a:buNone/>
            </a:pPr>
            <a:r>
              <a:rPr lang="en-US" sz="1800" b="1" dirty="0">
                <a:solidFill>
                  <a:srgbClr val="C9A96E"/>
                </a:solidFill>
                <a:latin typeface="Consolas" pitchFamily="34" charset="0"/>
                <a:ea typeface="Consolas" pitchFamily="34" charset="-122"/>
                <a:cs typeface="Consolas" pitchFamily="34" charset="-120"/>
              </a:rPr>
              <a:t>05</a:t>
            </a:r>
            <a:endParaRPr lang="en-US" sz="1800" dirty="0"/>
          </a:p>
        </p:txBody>
      </p:sp>
      <p:sp>
        <p:nvSpPr>
          <p:cNvPr id="28" name="Text 26"/>
          <p:cNvSpPr/>
          <p:nvPr/>
        </p:nvSpPr>
        <p:spPr>
          <a:xfrm>
            <a:off x="6583680" y="3456432"/>
            <a:ext cx="5120640" cy="347472"/>
          </a:xfrm>
          <a:prstGeom prst="rect">
            <a:avLst/>
          </a:prstGeom>
          <a:noFill/>
          <a:ln/>
        </p:spPr>
        <p:txBody>
          <a:bodyPr wrap="square" lIns="0" tIns="0" rIns="0" bIns="0" rtlCol="0" anchor="ctr"/>
          <a:lstStyle/>
          <a:p>
            <a:pPr marL="0" indent="0">
              <a:buNone/>
            </a:pPr>
            <a:r>
              <a:rPr lang="en-US" sz="1100" b="1" dirty="0">
                <a:solidFill>
                  <a:srgbClr val="E8E8F0"/>
                </a:solidFill>
                <a:latin typeface="Georgia" pitchFamily="34" charset="0"/>
                <a:ea typeface="Georgia" pitchFamily="34" charset="-122"/>
                <a:cs typeface="Georgia" pitchFamily="34" charset="-120"/>
              </a:rPr>
              <a:t>The designer-as-auteur model creates irreplaceable brand moats</a:t>
            </a:r>
            <a:endParaRPr lang="en-US" sz="1100" dirty="0"/>
          </a:p>
        </p:txBody>
      </p:sp>
      <p:sp>
        <p:nvSpPr>
          <p:cNvPr id="29" name="Text 27"/>
          <p:cNvSpPr/>
          <p:nvPr/>
        </p:nvSpPr>
        <p:spPr>
          <a:xfrm>
            <a:off x="6583680" y="3840480"/>
            <a:ext cx="5120640" cy="685800"/>
          </a:xfrm>
          <a:prstGeom prst="rect">
            <a:avLst/>
          </a:prstGeom>
          <a:noFill/>
          <a:ln/>
        </p:spPr>
        <p:txBody>
          <a:bodyPr wrap="square" lIns="0" tIns="0" rIns="0" bIns="0" rtlCol="0" anchor="ctr"/>
          <a:lstStyle/>
          <a:p>
            <a:pPr marL="0" indent="0">
              <a:buNone/>
            </a:pPr>
            <a:r>
              <a:rPr lang="en-US" sz="900" dirty="0">
                <a:solidFill>
                  <a:srgbClr val="9898B0"/>
                </a:solidFill>
                <a:latin typeface="Calibri" pitchFamily="34" charset="0"/>
                <a:ea typeface="Calibri" pitchFamily="34" charset="-122"/>
                <a:cs typeface="Calibri" pitchFamily="34" charset="-120"/>
              </a:rPr>
              <a:t>You cannot hire a replacement, Rei Kawakubo. You cannot acquire the cultural capital that Helmut Lang built in 18 years of designing. This is the most durable competitive advantage in fashion.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96E"/>
          </a:solidFill>
          <a:ln w="12700">
            <a:solidFill>
              <a:srgbClr val="C9A96E"/>
            </a:solidFill>
            <a:prstDash val="solid"/>
          </a:ln>
        </p:spPr>
        <p:txBody>
          <a:bodyPr/>
          <a:lstStyle/>
          <a:p>
            <a:endParaRPr lang="en-US"/>
          </a:p>
        </p:txBody>
      </p:sp>
      <p:sp>
        <p:nvSpPr>
          <p:cNvPr id="3" name="Text 1"/>
          <p:cNvSpPr/>
          <p:nvPr/>
        </p:nvSpPr>
        <p:spPr>
          <a:xfrm>
            <a:off x="502920" y="274320"/>
            <a:ext cx="10972800" cy="320040"/>
          </a:xfrm>
          <a:prstGeom prst="rect">
            <a:avLst/>
          </a:prstGeom>
          <a:noFill/>
          <a:ln/>
        </p:spPr>
        <p:txBody>
          <a:bodyPr wrap="square" lIns="0" tIns="0" rIns="0" bIns="0" rtlCol="0" anchor="ctr"/>
          <a:lstStyle/>
          <a:p>
            <a:pPr marL="0" indent="0">
              <a:buNone/>
            </a:pPr>
            <a:r>
              <a:rPr lang="en-US" sz="900" kern="0" spc="200" dirty="0">
                <a:solidFill>
                  <a:srgbClr val="C9A96E"/>
                </a:solidFill>
                <a:latin typeface="Consolas" pitchFamily="34" charset="0"/>
                <a:ea typeface="Consolas" pitchFamily="34" charset="-122"/>
                <a:cs typeface="Consolas" pitchFamily="34" charset="-120"/>
              </a:rPr>
              <a:t>APPENDIX  ·  METHODOLOGY &amp; DATA SOURCES</a:t>
            </a:r>
            <a:endParaRPr lang="en-US" sz="900" dirty="0"/>
          </a:p>
        </p:txBody>
      </p:sp>
      <p:sp>
        <p:nvSpPr>
          <p:cNvPr id="4" name="Text 2"/>
          <p:cNvSpPr/>
          <p:nvPr/>
        </p:nvSpPr>
        <p:spPr>
          <a:xfrm>
            <a:off x="502920" y="658368"/>
            <a:ext cx="10972800" cy="320040"/>
          </a:xfrm>
          <a:prstGeom prst="rect">
            <a:avLst/>
          </a:prstGeom>
          <a:noFill/>
          <a:ln/>
        </p:spPr>
        <p:txBody>
          <a:bodyPr wrap="square" lIns="0" tIns="0" rIns="0" bIns="0" rtlCol="0" anchor="ctr"/>
          <a:lstStyle/>
          <a:p>
            <a:pPr marL="0" indent="0">
              <a:buNone/>
            </a:pPr>
            <a:r>
              <a:rPr lang="en-US" sz="1200" i="1" dirty="0">
                <a:solidFill>
                  <a:srgbClr val="9898B0"/>
                </a:solidFill>
                <a:latin typeface="Calibri" pitchFamily="34" charset="0"/>
                <a:ea typeface="Calibri" pitchFamily="34" charset="-122"/>
                <a:cs typeface="Calibri" pitchFamily="34" charset="-120"/>
              </a:rPr>
              <a:t>Dataset: 12 brands · 18 variables · Source Classification: Primary / Archival / Derived / Aggregated</a:t>
            </a:r>
            <a:endParaRPr lang="en-US" sz="1200" dirty="0"/>
          </a:p>
        </p:txBody>
      </p:sp>
      <p:sp>
        <p:nvSpPr>
          <p:cNvPr id="5" name="Shape 3"/>
          <p:cNvSpPr/>
          <p:nvPr/>
        </p:nvSpPr>
        <p:spPr>
          <a:xfrm>
            <a:off x="365760" y="1143000"/>
            <a:ext cx="2926080" cy="292608"/>
          </a:xfrm>
          <a:prstGeom prst="rect">
            <a:avLst/>
          </a:prstGeom>
          <a:solidFill>
            <a:srgbClr val="22222E"/>
          </a:solidFill>
          <a:ln w="6350">
            <a:solidFill>
              <a:srgbClr val="2A2A38"/>
            </a:solidFill>
            <a:prstDash val="solid"/>
          </a:ln>
        </p:spPr>
        <p:txBody>
          <a:bodyPr/>
          <a:lstStyle/>
          <a:p>
            <a:endParaRPr lang="en-US"/>
          </a:p>
        </p:txBody>
      </p:sp>
      <p:sp>
        <p:nvSpPr>
          <p:cNvPr id="6" name="Text 4"/>
          <p:cNvSpPr/>
          <p:nvPr/>
        </p:nvSpPr>
        <p:spPr>
          <a:xfrm>
            <a:off x="411480" y="1143000"/>
            <a:ext cx="2834640" cy="292608"/>
          </a:xfrm>
          <a:prstGeom prst="rect">
            <a:avLst/>
          </a:prstGeom>
          <a:noFill/>
          <a:ln/>
        </p:spPr>
        <p:txBody>
          <a:bodyPr wrap="square" lIns="0" tIns="0" rIns="0" bIns="0" rtlCol="0" anchor="ctr"/>
          <a:lstStyle/>
          <a:p>
            <a:pPr marL="0" indent="0">
              <a:buNone/>
            </a:pPr>
            <a:r>
              <a:rPr lang="en-US" sz="800" kern="0" spc="100" dirty="0">
                <a:solidFill>
                  <a:srgbClr val="C9A96E"/>
                </a:solidFill>
                <a:latin typeface="Consolas" pitchFamily="34" charset="0"/>
                <a:ea typeface="Consolas" pitchFamily="34" charset="-122"/>
                <a:cs typeface="Consolas" pitchFamily="34" charset="-120"/>
              </a:rPr>
              <a:t>Source</a:t>
            </a:r>
            <a:endParaRPr lang="en-US" sz="800" dirty="0"/>
          </a:p>
        </p:txBody>
      </p:sp>
      <p:sp>
        <p:nvSpPr>
          <p:cNvPr id="7" name="Shape 5"/>
          <p:cNvSpPr/>
          <p:nvPr/>
        </p:nvSpPr>
        <p:spPr>
          <a:xfrm>
            <a:off x="3291840" y="1143000"/>
            <a:ext cx="3291840" cy="292608"/>
          </a:xfrm>
          <a:prstGeom prst="rect">
            <a:avLst/>
          </a:prstGeom>
          <a:solidFill>
            <a:srgbClr val="22222E"/>
          </a:solidFill>
          <a:ln w="6350">
            <a:solidFill>
              <a:srgbClr val="2A2A38"/>
            </a:solidFill>
            <a:prstDash val="solid"/>
          </a:ln>
        </p:spPr>
        <p:txBody>
          <a:bodyPr/>
          <a:lstStyle/>
          <a:p>
            <a:endParaRPr lang="en-US"/>
          </a:p>
        </p:txBody>
      </p:sp>
      <p:sp>
        <p:nvSpPr>
          <p:cNvPr id="8" name="Text 6"/>
          <p:cNvSpPr/>
          <p:nvPr/>
        </p:nvSpPr>
        <p:spPr>
          <a:xfrm>
            <a:off x="3337560" y="1143000"/>
            <a:ext cx="3200400" cy="292608"/>
          </a:xfrm>
          <a:prstGeom prst="rect">
            <a:avLst/>
          </a:prstGeom>
          <a:noFill/>
          <a:ln/>
        </p:spPr>
        <p:txBody>
          <a:bodyPr wrap="square" lIns="0" tIns="0" rIns="0" bIns="0" rtlCol="0" anchor="ctr"/>
          <a:lstStyle/>
          <a:p>
            <a:pPr marL="0" indent="0">
              <a:buNone/>
            </a:pPr>
            <a:r>
              <a:rPr lang="en-US" sz="800" kern="0" spc="100" dirty="0">
                <a:solidFill>
                  <a:srgbClr val="C9A96E"/>
                </a:solidFill>
                <a:latin typeface="Consolas" pitchFamily="34" charset="0"/>
                <a:ea typeface="Consolas" pitchFamily="34" charset="-122"/>
                <a:cs typeface="Consolas" pitchFamily="34" charset="-120"/>
              </a:rPr>
              <a:t>Data Used</a:t>
            </a:r>
            <a:endParaRPr lang="en-US" sz="800" dirty="0"/>
          </a:p>
        </p:txBody>
      </p:sp>
      <p:sp>
        <p:nvSpPr>
          <p:cNvPr id="9" name="Shape 7"/>
          <p:cNvSpPr/>
          <p:nvPr/>
        </p:nvSpPr>
        <p:spPr>
          <a:xfrm>
            <a:off x="6583680" y="1143000"/>
            <a:ext cx="1371600" cy="292608"/>
          </a:xfrm>
          <a:prstGeom prst="rect">
            <a:avLst/>
          </a:prstGeom>
          <a:solidFill>
            <a:srgbClr val="22222E"/>
          </a:solidFill>
          <a:ln w="6350">
            <a:solidFill>
              <a:srgbClr val="2A2A38"/>
            </a:solidFill>
            <a:prstDash val="solid"/>
          </a:ln>
        </p:spPr>
        <p:txBody>
          <a:bodyPr/>
          <a:lstStyle/>
          <a:p>
            <a:endParaRPr lang="en-US"/>
          </a:p>
        </p:txBody>
      </p:sp>
      <p:sp>
        <p:nvSpPr>
          <p:cNvPr id="10" name="Text 8"/>
          <p:cNvSpPr/>
          <p:nvPr/>
        </p:nvSpPr>
        <p:spPr>
          <a:xfrm>
            <a:off x="6629400" y="1143000"/>
            <a:ext cx="1280160" cy="292608"/>
          </a:xfrm>
          <a:prstGeom prst="rect">
            <a:avLst/>
          </a:prstGeom>
          <a:noFill/>
          <a:ln/>
        </p:spPr>
        <p:txBody>
          <a:bodyPr wrap="square" lIns="0" tIns="0" rIns="0" bIns="0" rtlCol="0" anchor="ctr"/>
          <a:lstStyle/>
          <a:p>
            <a:pPr marL="0" indent="0">
              <a:buNone/>
            </a:pPr>
            <a:r>
              <a:rPr lang="en-US" sz="800" kern="0" spc="100" dirty="0">
                <a:solidFill>
                  <a:srgbClr val="C9A96E"/>
                </a:solidFill>
                <a:latin typeface="Consolas" pitchFamily="34" charset="0"/>
                <a:ea typeface="Consolas" pitchFamily="34" charset="-122"/>
                <a:cs typeface="Consolas" pitchFamily="34" charset="-120"/>
              </a:rPr>
              <a:t>Classification</a:t>
            </a:r>
            <a:endParaRPr lang="en-US" sz="800" dirty="0"/>
          </a:p>
        </p:txBody>
      </p:sp>
      <p:sp>
        <p:nvSpPr>
          <p:cNvPr id="11" name="Shape 9"/>
          <p:cNvSpPr/>
          <p:nvPr/>
        </p:nvSpPr>
        <p:spPr>
          <a:xfrm>
            <a:off x="7955280" y="1143000"/>
            <a:ext cx="3931920" cy="292608"/>
          </a:xfrm>
          <a:prstGeom prst="rect">
            <a:avLst/>
          </a:prstGeom>
          <a:solidFill>
            <a:srgbClr val="22222E"/>
          </a:solidFill>
          <a:ln w="6350">
            <a:solidFill>
              <a:srgbClr val="2A2A38"/>
            </a:solidFill>
            <a:prstDash val="solid"/>
          </a:ln>
        </p:spPr>
        <p:txBody>
          <a:bodyPr/>
          <a:lstStyle/>
          <a:p>
            <a:endParaRPr lang="en-US"/>
          </a:p>
        </p:txBody>
      </p:sp>
      <p:sp>
        <p:nvSpPr>
          <p:cNvPr id="12" name="Text 10"/>
          <p:cNvSpPr/>
          <p:nvPr/>
        </p:nvSpPr>
        <p:spPr>
          <a:xfrm>
            <a:off x="8001000" y="1143000"/>
            <a:ext cx="3840480" cy="292608"/>
          </a:xfrm>
          <a:prstGeom prst="rect">
            <a:avLst/>
          </a:prstGeom>
          <a:noFill/>
          <a:ln/>
        </p:spPr>
        <p:txBody>
          <a:bodyPr wrap="square" lIns="0" tIns="0" rIns="0" bIns="0" rtlCol="0" anchor="ctr"/>
          <a:lstStyle/>
          <a:p>
            <a:pPr marL="0" indent="0">
              <a:buNone/>
            </a:pPr>
            <a:r>
              <a:rPr lang="en-US" sz="800" kern="0" spc="100" dirty="0">
                <a:solidFill>
                  <a:srgbClr val="C9A96E"/>
                </a:solidFill>
                <a:latin typeface="Consolas" pitchFamily="34" charset="0"/>
                <a:ea typeface="Consolas" pitchFamily="34" charset="-122"/>
                <a:cs typeface="Consolas" pitchFamily="34" charset="-120"/>
              </a:rPr>
              <a:t>Reference</a:t>
            </a:r>
            <a:endParaRPr lang="en-US" sz="800" dirty="0"/>
          </a:p>
        </p:txBody>
      </p:sp>
      <p:sp>
        <p:nvSpPr>
          <p:cNvPr id="13" name="Shape 11"/>
          <p:cNvSpPr/>
          <p:nvPr/>
        </p:nvSpPr>
        <p:spPr>
          <a:xfrm>
            <a:off x="365760" y="1435608"/>
            <a:ext cx="2926080" cy="320040"/>
          </a:xfrm>
          <a:prstGeom prst="rect">
            <a:avLst/>
          </a:prstGeom>
          <a:solidFill>
            <a:srgbClr val="1A1A22"/>
          </a:solidFill>
          <a:ln w="3810">
            <a:solidFill>
              <a:srgbClr val="2A2A38"/>
            </a:solidFill>
            <a:prstDash val="solid"/>
          </a:ln>
        </p:spPr>
        <p:txBody>
          <a:bodyPr/>
          <a:lstStyle/>
          <a:p>
            <a:endParaRPr lang="en-US"/>
          </a:p>
        </p:txBody>
      </p:sp>
      <p:sp>
        <p:nvSpPr>
          <p:cNvPr id="14" name="Text 12"/>
          <p:cNvSpPr/>
          <p:nvPr/>
        </p:nvSpPr>
        <p:spPr>
          <a:xfrm>
            <a:off x="411480" y="1453896"/>
            <a:ext cx="283464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Owenscorp Italia S.p.A.</a:t>
            </a:r>
            <a:endParaRPr lang="en-US" sz="750" dirty="0"/>
          </a:p>
        </p:txBody>
      </p:sp>
      <p:sp>
        <p:nvSpPr>
          <p:cNvPr id="15" name="Shape 13"/>
          <p:cNvSpPr/>
          <p:nvPr/>
        </p:nvSpPr>
        <p:spPr>
          <a:xfrm>
            <a:off x="3291840" y="1435608"/>
            <a:ext cx="3291840" cy="320040"/>
          </a:xfrm>
          <a:prstGeom prst="rect">
            <a:avLst/>
          </a:prstGeom>
          <a:solidFill>
            <a:srgbClr val="1A1A22"/>
          </a:solidFill>
          <a:ln w="3810">
            <a:solidFill>
              <a:srgbClr val="2A2A38"/>
            </a:solidFill>
            <a:prstDash val="solid"/>
          </a:ln>
        </p:spPr>
        <p:txBody>
          <a:bodyPr/>
          <a:lstStyle/>
          <a:p>
            <a:endParaRPr lang="en-US"/>
          </a:p>
        </p:txBody>
      </p:sp>
      <p:sp>
        <p:nvSpPr>
          <p:cNvPr id="16" name="Text 14"/>
          <p:cNvSpPr/>
          <p:nvPr/>
        </p:nvSpPr>
        <p:spPr>
          <a:xfrm>
            <a:off x="3337560" y="1453896"/>
            <a:ext cx="320040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2023 revenue (€125M), gross profit (€71.9M)</a:t>
            </a:r>
            <a:endParaRPr lang="en-US" sz="750" dirty="0"/>
          </a:p>
        </p:txBody>
      </p:sp>
      <p:sp>
        <p:nvSpPr>
          <p:cNvPr id="17" name="Shape 15"/>
          <p:cNvSpPr/>
          <p:nvPr/>
        </p:nvSpPr>
        <p:spPr>
          <a:xfrm>
            <a:off x="6583680" y="1435608"/>
            <a:ext cx="1371600" cy="320040"/>
          </a:xfrm>
          <a:prstGeom prst="rect">
            <a:avLst/>
          </a:prstGeom>
          <a:solidFill>
            <a:srgbClr val="1A1A22"/>
          </a:solidFill>
          <a:ln w="3810">
            <a:solidFill>
              <a:srgbClr val="2A2A38"/>
            </a:solidFill>
            <a:prstDash val="solid"/>
          </a:ln>
        </p:spPr>
        <p:txBody>
          <a:bodyPr/>
          <a:lstStyle/>
          <a:p>
            <a:endParaRPr lang="en-US"/>
          </a:p>
        </p:txBody>
      </p:sp>
      <p:sp>
        <p:nvSpPr>
          <p:cNvPr id="18" name="Text 16"/>
          <p:cNvSpPr/>
          <p:nvPr/>
        </p:nvSpPr>
        <p:spPr>
          <a:xfrm>
            <a:off x="6629400" y="1453896"/>
            <a:ext cx="1280160" cy="283464"/>
          </a:xfrm>
          <a:prstGeom prst="rect">
            <a:avLst/>
          </a:prstGeom>
          <a:noFill/>
          <a:ln/>
        </p:spPr>
        <p:txBody>
          <a:bodyPr wrap="square" lIns="0" tIns="0" rIns="0" bIns="0" rtlCol="0" anchor="ctr"/>
          <a:lstStyle/>
          <a:p>
            <a:pPr marL="0" indent="0">
              <a:buNone/>
            </a:pPr>
            <a:r>
              <a:rPr lang="en-US" sz="750" b="1" dirty="0">
                <a:solidFill>
                  <a:srgbClr val="C9A96E"/>
                </a:solidFill>
                <a:latin typeface="Calibri" pitchFamily="34" charset="0"/>
                <a:ea typeface="Calibri" pitchFamily="34" charset="-122"/>
                <a:cs typeface="Calibri" pitchFamily="34" charset="-120"/>
              </a:rPr>
              <a:t>PRIMARY</a:t>
            </a:r>
            <a:endParaRPr lang="en-US" sz="750" dirty="0"/>
          </a:p>
        </p:txBody>
      </p:sp>
      <p:sp>
        <p:nvSpPr>
          <p:cNvPr id="19" name="Shape 17"/>
          <p:cNvSpPr/>
          <p:nvPr/>
        </p:nvSpPr>
        <p:spPr>
          <a:xfrm>
            <a:off x="7955280" y="1435608"/>
            <a:ext cx="3931920" cy="320040"/>
          </a:xfrm>
          <a:prstGeom prst="rect">
            <a:avLst/>
          </a:prstGeom>
          <a:solidFill>
            <a:srgbClr val="1A1A22"/>
          </a:solidFill>
          <a:ln w="3810">
            <a:solidFill>
              <a:srgbClr val="2A2A38"/>
            </a:solidFill>
            <a:prstDash val="solid"/>
          </a:ln>
        </p:spPr>
        <p:txBody>
          <a:bodyPr/>
          <a:lstStyle/>
          <a:p>
            <a:endParaRPr lang="en-US"/>
          </a:p>
        </p:txBody>
      </p:sp>
      <p:sp>
        <p:nvSpPr>
          <p:cNvPr id="20" name="Text 18"/>
          <p:cNvSpPr/>
          <p:nvPr/>
        </p:nvSpPr>
        <p:spPr>
          <a:xfrm>
            <a:off x="8001000" y="1453896"/>
            <a:ext cx="384048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fashionbi.com/insights/rick-owens-achieves-record-revenue</a:t>
            </a:r>
            <a:endParaRPr lang="en-US" sz="750" dirty="0"/>
          </a:p>
        </p:txBody>
      </p:sp>
      <p:sp>
        <p:nvSpPr>
          <p:cNvPr id="21" name="Shape 19"/>
          <p:cNvSpPr/>
          <p:nvPr/>
        </p:nvSpPr>
        <p:spPr>
          <a:xfrm>
            <a:off x="365760" y="1773936"/>
            <a:ext cx="2926080" cy="320040"/>
          </a:xfrm>
          <a:prstGeom prst="rect">
            <a:avLst/>
          </a:prstGeom>
          <a:solidFill>
            <a:srgbClr val="0A0A0F"/>
          </a:solidFill>
          <a:ln w="3810">
            <a:solidFill>
              <a:srgbClr val="2A2A38"/>
            </a:solidFill>
            <a:prstDash val="solid"/>
          </a:ln>
        </p:spPr>
        <p:txBody>
          <a:bodyPr/>
          <a:lstStyle/>
          <a:p>
            <a:endParaRPr lang="en-US"/>
          </a:p>
        </p:txBody>
      </p:sp>
      <p:sp>
        <p:nvSpPr>
          <p:cNvPr id="22" name="Text 20"/>
          <p:cNvSpPr/>
          <p:nvPr/>
        </p:nvSpPr>
        <p:spPr>
          <a:xfrm>
            <a:off x="411480" y="1792224"/>
            <a:ext cx="283464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OTB Group Annual Report 2023</a:t>
            </a:r>
            <a:endParaRPr lang="en-US" sz="750" dirty="0"/>
          </a:p>
        </p:txBody>
      </p:sp>
      <p:sp>
        <p:nvSpPr>
          <p:cNvPr id="23" name="Shape 21"/>
          <p:cNvSpPr/>
          <p:nvPr/>
        </p:nvSpPr>
        <p:spPr>
          <a:xfrm>
            <a:off x="3291840" y="1773936"/>
            <a:ext cx="3291840" cy="320040"/>
          </a:xfrm>
          <a:prstGeom prst="rect">
            <a:avLst/>
          </a:prstGeom>
          <a:solidFill>
            <a:srgbClr val="0A0A0F"/>
          </a:solidFill>
          <a:ln w="3810">
            <a:solidFill>
              <a:srgbClr val="2A2A38"/>
            </a:solidFill>
            <a:prstDash val="solid"/>
          </a:ln>
        </p:spPr>
        <p:txBody>
          <a:bodyPr/>
          <a:lstStyle/>
          <a:p>
            <a:endParaRPr lang="en-US"/>
          </a:p>
        </p:txBody>
      </p:sp>
      <p:sp>
        <p:nvSpPr>
          <p:cNvPr id="24" name="Text 22"/>
          <p:cNvSpPr/>
          <p:nvPr/>
        </p:nvSpPr>
        <p:spPr>
          <a:xfrm>
            <a:off x="3337560" y="1792224"/>
            <a:ext cx="320040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Maison Margiela +23% growth; group revenue €1.9B</a:t>
            </a:r>
            <a:endParaRPr lang="en-US" sz="750" dirty="0"/>
          </a:p>
        </p:txBody>
      </p:sp>
      <p:sp>
        <p:nvSpPr>
          <p:cNvPr id="25" name="Shape 23"/>
          <p:cNvSpPr/>
          <p:nvPr/>
        </p:nvSpPr>
        <p:spPr>
          <a:xfrm>
            <a:off x="6583680" y="1773936"/>
            <a:ext cx="1371600" cy="320040"/>
          </a:xfrm>
          <a:prstGeom prst="rect">
            <a:avLst/>
          </a:prstGeom>
          <a:solidFill>
            <a:srgbClr val="0A0A0F"/>
          </a:solidFill>
          <a:ln w="3810">
            <a:solidFill>
              <a:srgbClr val="2A2A38"/>
            </a:solidFill>
            <a:prstDash val="solid"/>
          </a:ln>
        </p:spPr>
        <p:txBody>
          <a:bodyPr/>
          <a:lstStyle/>
          <a:p>
            <a:endParaRPr lang="en-US"/>
          </a:p>
        </p:txBody>
      </p:sp>
      <p:sp>
        <p:nvSpPr>
          <p:cNvPr id="26" name="Text 24"/>
          <p:cNvSpPr/>
          <p:nvPr/>
        </p:nvSpPr>
        <p:spPr>
          <a:xfrm>
            <a:off x="6629400" y="1792224"/>
            <a:ext cx="1280160" cy="283464"/>
          </a:xfrm>
          <a:prstGeom prst="rect">
            <a:avLst/>
          </a:prstGeom>
          <a:noFill/>
          <a:ln/>
        </p:spPr>
        <p:txBody>
          <a:bodyPr wrap="square" lIns="0" tIns="0" rIns="0" bIns="0" rtlCol="0" anchor="ctr"/>
          <a:lstStyle/>
          <a:p>
            <a:pPr marL="0" indent="0">
              <a:buNone/>
            </a:pPr>
            <a:r>
              <a:rPr lang="en-US" sz="750" b="1" dirty="0">
                <a:solidFill>
                  <a:srgbClr val="C9A96E"/>
                </a:solidFill>
                <a:latin typeface="Calibri" pitchFamily="34" charset="0"/>
                <a:ea typeface="Calibri" pitchFamily="34" charset="-122"/>
                <a:cs typeface="Calibri" pitchFamily="34" charset="-120"/>
              </a:rPr>
              <a:t>PRIMARY</a:t>
            </a:r>
            <a:endParaRPr lang="en-US" sz="750" dirty="0"/>
          </a:p>
        </p:txBody>
      </p:sp>
      <p:sp>
        <p:nvSpPr>
          <p:cNvPr id="27" name="Shape 25"/>
          <p:cNvSpPr/>
          <p:nvPr/>
        </p:nvSpPr>
        <p:spPr>
          <a:xfrm>
            <a:off x="7955280" y="1773936"/>
            <a:ext cx="3931920" cy="320040"/>
          </a:xfrm>
          <a:prstGeom prst="rect">
            <a:avLst/>
          </a:prstGeom>
          <a:solidFill>
            <a:srgbClr val="0A0A0F"/>
          </a:solidFill>
          <a:ln w="3810">
            <a:solidFill>
              <a:srgbClr val="2A2A38"/>
            </a:solidFill>
            <a:prstDash val="solid"/>
          </a:ln>
        </p:spPr>
        <p:txBody>
          <a:bodyPr/>
          <a:lstStyle/>
          <a:p>
            <a:endParaRPr lang="en-US"/>
          </a:p>
        </p:txBody>
      </p:sp>
      <p:sp>
        <p:nvSpPr>
          <p:cNvPr id="28" name="Text 26"/>
          <p:cNvSpPr/>
          <p:nvPr/>
        </p:nvSpPr>
        <p:spPr>
          <a:xfrm>
            <a:off x="8001000" y="1792224"/>
            <a:ext cx="384048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otb.net/en/news/otb-group-results-2023</a:t>
            </a:r>
            <a:endParaRPr lang="en-US" sz="750" dirty="0"/>
          </a:p>
        </p:txBody>
      </p:sp>
      <p:sp>
        <p:nvSpPr>
          <p:cNvPr id="29" name="Shape 27"/>
          <p:cNvSpPr/>
          <p:nvPr/>
        </p:nvSpPr>
        <p:spPr>
          <a:xfrm>
            <a:off x="365760" y="2112264"/>
            <a:ext cx="2926080" cy="320040"/>
          </a:xfrm>
          <a:prstGeom prst="rect">
            <a:avLst/>
          </a:prstGeom>
          <a:solidFill>
            <a:srgbClr val="1A1A22"/>
          </a:solidFill>
          <a:ln w="3810">
            <a:solidFill>
              <a:srgbClr val="2A2A38"/>
            </a:solidFill>
            <a:prstDash val="solid"/>
          </a:ln>
        </p:spPr>
        <p:txBody>
          <a:bodyPr/>
          <a:lstStyle/>
          <a:p>
            <a:endParaRPr lang="en-US"/>
          </a:p>
        </p:txBody>
      </p:sp>
      <p:sp>
        <p:nvSpPr>
          <p:cNvPr id="30" name="Text 28"/>
          <p:cNvSpPr/>
          <p:nvPr/>
        </p:nvSpPr>
        <p:spPr>
          <a:xfrm>
            <a:off x="411480" y="2130552"/>
            <a:ext cx="283464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OTB Group Annual Report 2024</a:t>
            </a:r>
            <a:endParaRPr lang="en-US" sz="750" dirty="0"/>
          </a:p>
        </p:txBody>
      </p:sp>
      <p:sp>
        <p:nvSpPr>
          <p:cNvPr id="31" name="Shape 29"/>
          <p:cNvSpPr/>
          <p:nvPr/>
        </p:nvSpPr>
        <p:spPr>
          <a:xfrm>
            <a:off x="3291840" y="2112264"/>
            <a:ext cx="3291840" cy="320040"/>
          </a:xfrm>
          <a:prstGeom prst="rect">
            <a:avLst/>
          </a:prstGeom>
          <a:solidFill>
            <a:srgbClr val="1A1A22"/>
          </a:solidFill>
          <a:ln w="3810">
            <a:solidFill>
              <a:srgbClr val="2A2A38"/>
            </a:solidFill>
            <a:prstDash val="solid"/>
          </a:ln>
        </p:spPr>
        <p:txBody>
          <a:bodyPr/>
          <a:lstStyle/>
          <a:p>
            <a:endParaRPr lang="en-US"/>
          </a:p>
        </p:txBody>
      </p:sp>
      <p:sp>
        <p:nvSpPr>
          <p:cNvPr id="32" name="Text 30"/>
          <p:cNvSpPr/>
          <p:nvPr/>
        </p:nvSpPr>
        <p:spPr>
          <a:xfrm>
            <a:off x="3337560" y="2130552"/>
            <a:ext cx="320040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Margiela +4.6%; group revenue €1.8B</a:t>
            </a:r>
            <a:endParaRPr lang="en-US" sz="750" dirty="0"/>
          </a:p>
        </p:txBody>
      </p:sp>
      <p:sp>
        <p:nvSpPr>
          <p:cNvPr id="33" name="Shape 31"/>
          <p:cNvSpPr/>
          <p:nvPr/>
        </p:nvSpPr>
        <p:spPr>
          <a:xfrm>
            <a:off x="6583680" y="2112264"/>
            <a:ext cx="1371600" cy="320040"/>
          </a:xfrm>
          <a:prstGeom prst="rect">
            <a:avLst/>
          </a:prstGeom>
          <a:solidFill>
            <a:srgbClr val="1A1A22"/>
          </a:solidFill>
          <a:ln w="3810">
            <a:solidFill>
              <a:srgbClr val="2A2A38"/>
            </a:solidFill>
            <a:prstDash val="solid"/>
          </a:ln>
        </p:spPr>
        <p:txBody>
          <a:bodyPr/>
          <a:lstStyle/>
          <a:p>
            <a:endParaRPr lang="en-US"/>
          </a:p>
        </p:txBody>
      </p:sp>
      <p:sp>
        <p:nvSpPr>
          <p:cNvPr id="34" name="Text 32"/>
          <p:cNvSpPr/>
          <p:nvPr/>
        </p:nvSpPr>
        <p:spPr>
          <a:xfrm>
            <a:off x="6629400" y="2130552"/>
            <a:ext cx="1280160" cy="283464"/>
          </a:xfrm>
          <a:prstGeom prst="rect">
            <a:avLst/>
          </a:prstGeom>
          <a:noFill/>
          <a:ln/>
        </p:spPr>
        <p:txBody>
          <a:bodyPr wrap="square" lIns="0" tIns="0" rIns="0" bIns="0" rtlCol="0" anchor="ctr"/>
          <a:lstStyle/>
          <a:p>
            <a:pPr marL="0" indent="0">
              <a:buNone/>
            </a:pPr>
            <a:r>
              <a:rPr lang="en-US" sz="750" b="1" dirty="0">
                <a:solidFill>
                  <a:srgbClr val="C9A96E"/>
                </a:solidFill>
                <a:latin typeface="Calibri" pitchFamily="34" charset="0"/>
                <a:ea typeface="Calibri" pitchFamily="34" charset="-122"/>
                <a:cs typeface="Calibri" pitchFamily="34" charset="-120"/>
              </a:rPr>
              <a:t>PRIMARY</a:t>
            </a:r>
            <a:endParaRPr lang="en-US" sz="750" dirty="0"/>
          </a:p>
        </p:txBody>
      </p:sp>
      <p:sp>
        <p:nvSpPr>
          <p:cNvPr id="35" name="Shape 33"/>
          <p:cNvSpPr/>
          <p:nvPr/>
        </p:nvSpPr>
        <p:spPr>
          <a:xfrm>
            <a:off x="7955280" y="2112264"/>
            <a:ext cx="3931920" cy="320040"/>
          </a:xfrm>
          <a:prstGeom prst="rect">
            <a:avLst/>
          </a:prstGeom>
          <a:solidFill>
            <a:srgbClr val="1A1A22"/>
          </a:solidFill>
          <a:ln w="3810">
            <a:solidFill>
              <a:srgbClr val="2A2A38"/>
            </a:solidFill>
            <a:prstDash val="solid"/>
          </a:ln>
        </p:spPr>
        <p:txBody>
          <a:bodyPr/>
          <a:lstStyle/>
          <a:p>
            <a:endParaRPr lang="en-US"/>
          </a:p>
        </p:txBody>
      </p:sp>
      <p:sp>
        <p:nvSpPr>
          <p:cNvPr id="36" name="Text 34"/>
          <p:cNvSpPr/>
          <p:nvPr/>
        </p:nvSpPr>
        <p:spPr>
          <a:xfrm>
            <a:off x="8001000" y="2130552"/>
            <a:ext cx="384048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otb.net/en/news/otb-2024-results</a:t>
            </a:r>
            <a:endParaRPr lang="en-US" sz="750" dirty="0"/>
          </a:p>
        </p:txBody>
      </p:sp>
      <p:sp>
        <p:nvSpPr>
          <p:cNvPr id="37" name="Shape 35"/>
          <p:cNvSpPr/>
          <p:nvPr/>
        </p:nvSpPr>
        <p:spPr>
          <a:xfrm>
            <a:off x="365760" y="2450592"/>
            <a:ext cx="2926080" cy="320040"/>
          </a:xfrm>
          <a:prstGeom prst="rect">
            <a:avLst/>
          </a:prstGeom>
          <a:solidFill>
            <a:srgbClr val="0A0A0F"/>
          </a:solidFill>
          <a:ln w="3810">
            <a:solidFill>
              <a:srgbClr val="2A2A38"/>
            </a:solidFill>
            <a:prstDash val="solid"/>
          </a:ln>
        </p:spPr>
        <p:txBody>
          <a:bodyPr/>
          <a:lstStyle/>
          <a:p>
            <a:endParaRPr lang="en-US"/>
          </a:p>
        </p:txBody>
      </p:sp>
      <p:sp>
        <p:nvSpPr>
          <p:cNvPr id="38" name="Text 36"/>
          <p:cNvSpPr/>
          <p:nvPr/>
        </p:nvSpPr>
        <p:spPr>
          <a:xfrm>
            <a:off x="411480" y="2468880"/>
            <a:ext cx="283464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Business of Fashion — Adrian Joffe</a:t>
            </a:r>
            <a:endParaRPr lang="en-US" sz="750" dirty="0"/>
          </a:p>
        </p:txBody>
      </p:sp>
      <p:sp>
        <p:nvSpPr>
          <p:cNvPr id="39" name="Shape 37"/>
          <p:cNvSpPr/>
          <p:nvPr/>
        </p:nvSpPr>
        <p:spPr>
          <a:xfrm>
            <a:off x="3291840" y="2450592"/>
            <a:ext cx="3291840" cy="320040"/>
          </a:xfrm>
          <a:prstGeom prst="rect">
            <a:avLst/>
          </a:prstGeom>
          <a:solidFill>
            <a:srgbClr val="0A0A0F"/>
          </a:solidFill>
          <a:ln w="3810">
            <a:solidFill>
              <a:srgbClr val="2A2A38"/>
            </a:solidFill>
            <a:prstDash val="solid"/>
          </a:ln>
        </p:spPr>
        <p:txBody>
          <a:bodyPr/>
          <a:lstStyle/>
          <a:p>
            <a:endParaRPr lang="en-US"/>
          </a:p>
        </p:txBody>
      </p:sp>
      <p:sp>
        <p:nvSpPr>
          <p:cNvPr id="40" name="Text 38"/>
          <p:cNvSpPr/>
          <p:nvPr/>
        </p:nvSpPr>
        <p:spPr>
          <a:xfrm>
            <a:off x="3337560" y="2468880"/>
            <a:ext cx="320040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Comme des Garçons revenue &gt;$320M</a:t>
            </a:r>
            <a:endParaRPr lang="en-US" sz="750" dirty="0"/>
          </a:p>
        </p:txBody>
      </p:sp>
      <p:sp>
        <p:nvSpPr>
          <p:cNvPr id="41" name="Shape 39"/>
          <p:cNvSpPr/>
          <p:nvPr/>
        </p:nvSpPr>
        <p:spPr>
          <a:xfrm>
            <a:off x="6583680" y="2450592"/>
            <a:ext cx="1371600" cy="320040"/>
          </a:xfrm>
          <a:prstGeom prst="rect">
            <a:avLst/>
          </a:prstGeom>
          <a:solidFill>
            <a:srgbClr val="0A0A0F"/>
          </a:solidFill>
          <a:ln w="3810">
            <a:solidFill>
              <a:srgbClr val="2A2A38"/>
            </a:solidFill>
            <a:prstDash val="solid"/>
          </a:ln>
        </p:spPr>
        <p:txBody>
          <a:bodyPr/>
          <a:lstStyle/>
          <a:p>
            <a:endParaRPr lang="en-US"/>
          </a:p>
        </p:txBody>
      </p:sp>
      <p:sp>
        <p:nvSpPr>
          <p:cNvPr id="42" name="Text 40"/>
          <p:cNvSpPr/>
          <p:nvPr/>
        </p:nvSpPr>
        <p:spPr>
          <a:xfrm>
            <a:off x="6629400" y="2468880"/>
            <a:ext cx="1280160" cy="283464"/>
          </a:xfrm>
          <a:prstGeom prst="rect">
            <a:avLst/>
          </a:prstGeom>
          <a:noFill/>
          <a:ln/>
        </p:spPr>
        <p:txBody>
          <a:bodyPr wrap="square" lIns="0" tIns="0" rIns="0" bIns="0" rtlCol="0" anchor="ctr"/>
          <a:lstStyle/>
          <a:p>
            <a:pPr marL="0" indent="0">
              <a:buNone/>
            </a:pPr>
            <a:r>
              <a:rPr lang="en-US" sz="750" b="1" dirty="0">
                <a:solidFill>
                  <a:srgbClr val="6E9EC9"/>
                </a:solidFill>
                <a:latin typeface="Calibri" pitchFamily="34" charset="0"/>
                <a:ea typeface="Calibri" pitchFamily="34" charset="-122"/>
                <a:cs typeface="Calibri" pitchFamily="34" charset="-120"/>
              </a:rPr>
              <a:t>ARCHIVAL</a:t>
            </a:r>
            <a:endParaRPr lang="en-US" sz="750" dirty="0"/>
          </a:p>
        </p:txBody>
      </p:sp>
      <p:sp>
        <p:nvSpPr>
          <p:cNvPr id="43" name="Shape 41"/>
          <p:cNvSpPr/>
          <p:nvPr/>
        </p:nvSpPr>
        <p:spPr>
          <a:xfrm>
            <a:off x="7955280" y="2450592"/>
            <a:ext cx="3931920" cy="320040"/>
          </a:xfrm>
          <a:prstGeom prst="rect">
            <a:avLst/>
          </a:prstGeom>
          <a:solidFill>
            <a:srgbClr val="0A0A0F"/>
          </a:solidFill>
          <a:ln w="3810">
            <a:solidFill>
              <a:srgbClr val="2A2A38"/>
            </a:solidFill>
            <a:prstDash val="solid"/>
          </a:ln>
        </p:spPr>
        <p:txBody>
          <a:bodyPr/>
          <a:lstStyle/>
          <a:p>
            <a:endParaRPr lang="en-US"/>
          </a:p>
        </p:txBody>
      </p:sp>
      <p:sp>
        <p:nvSpPr>
          <p:cNvPr id="44" name="Text 42"/>
          <p:cNvSpPr/>
          <p:nvPr/>
        </p:nvSpPr>
        <p:spPr>
          <a:xfrm>
            <a:off x="8001000" y="2468880"/>
            <a:ext cx="384048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businessoffashion.com/people/adrian-joffe</a:t>
            </a:r>
            <a:endParaRPr lang="en-US" sz="750" dirty="0"/>
          </a:p>
        </p:txBody>
      </p:sp>
      <p:sp>
        <p:nvSpPr>
          <p:cNvPr id="45" name="Shape 43"/>
          <p:cNvSpPr/>
          <p:nvPr/>
        </p:nvSpPr>
        <p:spPr>
          <a:xfrm>
            <a:off x="365760" y="2788920"/>
            <a:ext cx="2926080" cy="320040"/>
          </a:xfrm>
          <a:prstGeom prst="rect">
            <a:avLst/>
          </a:prstGeom>
          <a:solidFill>
            <a:srgbClr val="1A1A22"/>
          </a:solidFill>
          <a:ln w="3810">
            <a:solidFill>
              <a:srgbClr val="2A2A38"/>
            </a:solidFill>
            <a:prstDash val="solid"/>
          </a:ln>
        </p:spPr>
        <p:txBody>
          <a:bodyPr/>
          <a:lstStyle/>
          <a:p>
            <a:endParaRPr lang="en-US"/>
          </a:p>
        </p:txBody>
      </p:sp>
      <p:sp>
        <p:nvSpPr>
          <p:cNvPr id="46" name="Text 44"/>
          <p:cNvSpPr/>
          <p:nvPr/>
        </p:nvSpPr>
        <p:spPr>
          <a:xfrm>
            <a:off x="411480" y="2807208"/>
            <a:ext cx="283464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LVMH 2023 Annual Report</a:t>
            </a:r>
            <a:endParaRPr lang="en-US" sz="750" dirty="0"/>
          </a:p>
        </p:txBody>
      </p:sp>
      <p:sp>
        <p:nvSpPr>
          <p:cNvPr id="47" name="Shape 45"/>
          <p:cNvSpPr/>
          <p:nvPr/>
        </p:nvSpPr>
        <p:spPr>
          <a:xfrm>
            <a:off x="3291840" y="2788920"/>
            <a:ext cx="3291840" cy="320040"/>
          </a:xfrm>
          <a:prstGeom prst="rect">
            <a:avLst/>
          </a:prstGeom>
          <a:solidFill>
            <a:srgbClr val="1A1A22"/>
          </a:solidFill>
          <a:ln w="3810">
            <a:solidFill>
              <a:srgbClr val="2A2A38"/>
            </a:solidFill>
            <a:prstDash val="solid"/>
          </a:ln>
        </p:spPr>
        <p:txBody>
          <a:bodyPr/>
          <a:lstStyle/>
          <a:p>
            <a:endParaRPr lang="en-US"/>
          </a:p>
        </p:txBody>
      </p:sp>
      <p:sp>
        <p:nvSpPr>
          <p:cNvPr id="48" name="Text 46"/>
          <p:cNvSpPr/>
          <p:nvPr/>
        </p:nvSpPr>
        <p:spPr>
          <a:xfrm>
            <a:off x="3337560" y="2807208"/>
            <a:ext cx="320040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Revenue €86.2B; F&amp;L division €42.2B</a:t>
            </a:r>
            <a:endParaRPr lang="en-US" sz="750" dirty="0"/>
          </a:p>
        </p:txBody>
      </p:sp>
      <p:sp>
        <p:nvSpPr>
          <p:cNvPr id="49" name="Shape 47"/>
          <p:cNvSpPr/>
          <p:nvPr/>
        </p:nvSpPr>
        <p:spPr>
          <a:xfrm>
            <a:off x="6583680" y="2788920"/>
            <a:ext cx="1371600" cy="320040"/>
          </a:xfrm>
          <a:prstGeom prst="rect">
            <a:avLst/>
          </a:prstGeom>
          <a:solidFill>
            <a:srgbClr val="1A1A22"/>
          </a:solidFill>
          <a:ln w="3810">
            <a:solidFill>
              <a:srgbClr val="2A2A38"/>
            </a:solidFill>
            <a:prstDash val="solid"/>
          </a:ln>
        </p:spPr>
        <p:txBody>
          <a:bodyPr/>
          <a:lstStyle/>
          <a:p>
            <a:endParaRPr lang="en-US"/>
          </a:p>
        </p:txBody>
      </p:sp>
      <p:sp>
        <p:nvSpPr>
          <p:cNvPr id="50" name="Text 48"/>
          <p:cNvSpPr/>
          <p:nvPr/>
        </p:nvSpPr>
        <p:spPr>
          <a:xfrm>
            <a:off x="6629400" y="2807208"/>
            <a:ext cx="1280160" cy="283464"/>
          </a:xfrm>
          <a:prstGeom prst="rect">
            <a:avLst/>
          </a:prstGeom>
          <a:noFill/>
          <a:ln/>
        </p:spPr>
        <p:txBody>
          <a:bodyPr wrap="square" lIns="0" tIns="0" rIns="0" bIns="0" rtlCol="0" anchor="ctr"/>
          <a:lstStyle/>
          <a:p>
            <a:pPr marL="0" indent="0">
              <a:buNone/>
            </a:pPr>
            <a:r>
              <a:rPr lang="en-US" sz="750" b="1" dirty="0">
                <a:solidFill>
                  <a:srgbClr val="C9A96E"/>
                </a:solidFill>
                <a:latin typeface="Calibri" pitchFamily="34" charset="0"/>
                <a:ea typeface="Calibri" pitchFamily="34" charset="-122"/>
                <a:cs typeface="Calibri" pitchFamily="34" charset="-120"/>
              </a:rPr>
              <a:t>PRIMARY</a:t>
            </a:r>
            <a:endParaRPr lang="en-US" sz="750" dirty="0"/>
          </a:p>
        </p:txBody>
      </p:sp>
      <p:sp>
        <p:nvSpPr>
          <p:cNvPr id="51" name="Shape 49"/>
          <p:cNvSpPr/>
          <p:nvPr/>
        </p:nvSpPr>
        <p:spPr>
          <a:xfrm>
            <a:off x="7955280" y="2788920"/>
            <a:ext cx="3931920" cy="320040"/>
          </a:xfrm>
          <a:prstGeom prst="rect">
            <a:avLst/>
          </a:prstGeom>
          <a:solidFill>
            <a:srgbClr val="1A1A22"/>
          </a:solidFill>
          <a:ln w="3810">
            <a:solidFill>
              <a:srgbClr val="2A2A38"/>
            </a:solidFill>
            <a:prstDash val="solid"/>
          </a:ln>
        </p:spPr>
        <p:txBody>
          <a:bodyPr/>
          <a:lstStyle/>
          <a:p>
            <a:endParaRPr lang="en-US"/>
          </a:p>
        </p:txBody>
      </p:sp>
      <p:sp>
        <p:nvSpPr>
          <p:cNvPr id="52" name="Text 50"/>
          <p:cNvSpPr/>
          <p:nvPr/>
        </p:nvSpPr>
        <p:spPr>
          <a:xfrm>
            <a:off x="8001000" y="2807208"/>
            <a:ext cx="384048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lvmh.com/en/publications/2023-record-year</a:t>
            </a:r>
            <a:endParaRPr lang="en-US" sz="750" dirty="0"/>
          </a:p>
        </p:txBody>
      </p:sp>
      <p:sp>
        <p:nvSpPr>
          <p:cNvPr id="53" name="Shape 51"/>
          <p:cNvSpPr/>
          <p:nvPr/>
        </p:nvSpPr>
        <p:spPr>
          <a:xfrm>
            <a:off x="365760" y="3127248"/>
            <a:ext cx="2926080" cy="320040"/>
          </a:xfrm>
          <a:prstGeom prst="rect">
            <a:avLst/>
          </a:prstGeom>
          <a:solidFill>
            <a:srgbClr val="0A0A0F"/>
          </a:solidFill>
          <a:ln w="3810">
            <a:solidFill>
              <a:srgbClr val="2A2A38"/>
            </a:solidFill>
            <a:prstDash val="solid"/>
          </a:ln>
        </p:spPr>
        <p:txBody>
          <a:bodyPr/>
          <a:lstStyle/>
          <a:p>
            <a:endParaRPr lang="en-US"/>
          </a:p>
        </p:txBody>
      </p:sp>
      <p:sp>
        <p:nvSpPr>
          <p:cNvPr id="54" name="Text 52"/>
          <p:cNvSpPr/>
          <p:nvPr/>
        </p:nvSpPr>
        <p:spPr>
          <a:xfrm>
            <a:off x="411480" y="3145536"/>
            <a:ext cx="283464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Kering 2023 Results</a:t>
            </a:r>
            <a:endParaRPr lang="en-US" sz="750" dirty="0"/>
          </a:p>
        </p:txBody>
      </p:sp>
      <p:sp>
        <p:nvSpPr>
          <p:cNvPr id="55" name="Shape 53"/>
          <p:cNvSpPr/>
          <p:nvPr/>
        </p:nvSpPr>
        <p:spPr>
          <a:xfrm>
            <a:off x="3291840" y="3127248"/>
            <a:ext cx="3291840" cy="320040"/>
          </a:xfrm>
          <a:prstGeom prst="rect">
            <a:avLst/>
          </a:prstGeom>
          <a:solidFill>
            <a:srgbClr val="0A0A0F"/>
          </a:solidFill>
          <a:ln w="3810">
            <a:solidFill>
              <a:srgbClr val="2A2A38"/>
            </a:solidFill>
            <a:prstDash val="solid"/>
          </a:ln>
        </p:spPr>
        <p:txBody>
          <a:bodyPr/>
          <a:lstStyle/>
          <a:p>
            <a:endParaRPr lang="en-US"/>
          </a:p>
        </p:txBody>
      </p:sp>
      <p:sp>
        <p:nvSpPr>
          <p:cNvPr id="56" name="Text 54"/>
          <p:cNvSpPr/>
          <p:nvPr/>
        </p:nvSpPr>
        <p:spPr>
          <a:xfrm>
            <a:off x="3337560" y="3145536"/>
            <a:ext cx="320040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Gucci €9.87B; group revenue €17.6B</a:t>
            </a:r>
            <a:endParaRPr lang="en-US" sz="750" dirty="0"/>
          </a:p>
        </p:txBody>
      </p:sp>
      <p:sp>
        <p:nvSpPr>
          <p:cNvPr id="57" name="Shape 55"/>
          <p:cNvSpPr/>
          <p:nvPr/>
        </p:nvSpPr>
        <p:spPr>
          <a:xfrm>
            <a:off x="6583680" y="3127248"/>
            <a:ext cx="1371600" cy="320040"/>
          </a:xfrm>
          <a:prstGeom prst="rect">
            <a:avLst/>
          </a:prstGeom>
          <a:solidFill>
            <a:srgbClr val="0A0A0F"/>
          </a:solidFill>
          <a:ln w="3810">
            <a:solidFill>
              <a:srgbClr val="2A2A38"/>
            </a:solidFill>
            <a:prstDash val="solid"/>
          </a:ln>
        </p:spPr>
        <p:txBody>
          <a:bodyPr/>
          <a:lstStyle/>
          <a:p>
            <a:endParaRPr lang="en-US"/>
          </a:p>
        </p:txBody>
      </p:sp>
      <p:sp>
        <p:nvSpPr>
          <p:cNvPr id="58" name="Text 56"/>
          <p:cNvSpPr/>
          <p:nvPr/>
        </p:nvSpPr>
        <p:spPr>
          <a:xfrm>
            <a:off x="6629400" y="3145536"/>
            <a:ext cx="1280160" cy="283464"/>
          </a:xfrm>
          <a:prstGeom prst="rect">
            <a:avLst/>
          </a:prstGeom>
          <a:noFill/>
          <a:ln/>
        </p:spPr>
        <p:txBody>
          <a:bodyPr wrap="square" lIns="0" tIns="0" rIns="0" bIns="0" rtlCol="0" anchor="ctr"/>
          <a:lstStyle/>
          <a:p>
            <a:pPr marL="0" indent="0">
              <a:buNone/>
            </a:pPr>
            <a:r>
              <a:rPr lang="en-US" sz="750" b="1" dirty="0">
                <a:solidFill>
                  <a:srgbClr val="C9A96E"/>
                </a:solidFill>
                <a:latin typeface="Calibri" pitchFamily="34" charset="0"/>
                <a:ea typeface="Calibri" pitchFamily="34" charset="-122"/>
                <a:cs typeface="Calibri" pitchFamily="34" charset="-120"/>
              </a:rPr>
              <a:t>PRIMARY</a:t>
            </a:r>
            <a:endParaRPr lang="en-US" sz="750" dirty="0"/>
          </a:p>
        </p:txBody>
      </p:sp>
      <p:sp>
        <p:nvSpPr>
          <p:cNvPr id="59" name="Shape 57"/>
          <p:cNvSpPr/>
          <p:nvPr/>
        </p:nvSpPr>
        <p:spPr>
          <a:xfrm>
            <a:off x="7955280" y="3127248"/>
            <a:ext cx="3931920" cy="320040"/>
          </a:xfrm>
          <a:prstGeom prst="rect">
            <a:avLst/>
          </a:prstGeom>
          <a:solidFill>
            <a:srgbClr val="0A0A0F"/>
          </a:solidFill>
          <a:ln w="3810">
            <a:solidFill>
              <a:srgbClr val="2A2A38"/>
            </a:solidFill>
            <a:prstDash val="solid"/>
          </a:ln>
        </p:spPr>
        <p:txBody>
          <a:bodyPr/>
          <a:lstStyle/>
          <a:p>
            <a:endParaRPr lang="en-US"/>
          </a:p>
        </p:txBody>
      </p:sp>
      <p:sp>
        <p:nvSpPr>
          <p:cNvPr id="60" name="Text 58"/>
          <p:cNvSpPr/>
          <p:nvPr/>
        </p:nvSpPr>
        <p:spPr>
          <a:xfrm>
            <a:off x="8001000" y="3145536"/>
            <a:ext cx="384048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kering.com 2023 annual results</a:t>
            </a:r>
            <a:endParaRPr lang="en-US" sz="750" dirty="0"/>
          </a:p>
        </p:txBody>
      </p:sp>
      <p:sp>
        <p:nvSpPr>
          <p:cNvPr id="61" name="Shape 59"/>
          <p:cNvSpPr/>
          <p:nvPr/>
        </p:nvSpPr>
        <p:spPr>
          <a:xfrm>
            <a:off x="365760" y="3465576"/>
            <a:ext cx="2926080" cy="320040"/>
          </a:xfrm>
          <a:prstGeom prst="rect">
            <a:avLst/>
          </a:prstGeom>
          <a:solidFill>
            <a:srgbClr val="1A1A22"/>
          </a:solidFill>
          <a:ln w="3810">
            <a:solidFill>
              <a:srgbClr val="2A2A38"/>
            </a:solidFill>
            <a:prstDash val="solid"/>
          </a:ln>
        </p:spPr>
        <p:txBody>
          <a:bodyPr/>
          <a:lstStyle/>
          <a:p>
            <a:endParaRPr lang="en-US"/>
          </a:p>
        </p:txBody>
      </p:sp>
      <p:sp>
        <p:nvSpPr>
          <p:cNvPr id="62" name="Text 60"/>
          <p:cNvSpPr/>
          <p:nvPr/>
        </p:nvSpPr>
        <p:spPr>
          <a:xfrm>
            <a:off x="411480" y="3483864"/>
            <a:ext cx="283464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Inditex 2023 Annual Report</a:t>
            </a:r>
            <a:endParaRPr lang="en-US" sz="750" dirty="0"/>
          </a:p>
        </p:txBody>
      </p:sp>
      <p:sp>
        <p:nvSpPr>
          <p:cNvPr id="63" name="Shape 61"/>
          <p:cNvSpPr/>
          <p:nvPr/>
        </p:nvSpPr>
        <p:spPr>
          <a:xfrm>
            <a:off x="3291840" y="3465576"/>
            <a:ext cx="3291840" cy="320040"/>
          </a:xfrm>
          <a:prstGeom prst="rect">
            <a:avLst/>
          </a:prstGeom>
          <a:solidFill>
            <a:srgbClr val="1A1A22"/>
          </a:solidFill>
          <a:ln w="3810">
            <a:solidFill>
              <a:srgbClr val="2A2A38"/>
            </a:solidFill>
            <a:prstDash val="solid"/>
          </a:ln>
        </p:spPr>
        <p:txBody>
          <a:bodyPr/>
          <a:lstStyle/>
          <a:p>
            <a:endParaRPr lang="en-US"/>
          </a:p>
        </p:txBody>
      </p:sp>
      <p:sp>
        <p:nvSpPr>
          <p:cNvPr id="64" name="Text 62"/>
          <p:cNvSpPr/>
          <p:nvPr/>
        </p:nvSpPr>
        <p:spPr>
          <a:xfrm>
            <a:off x="3337560" y="3483864"/>
            <a:ext cx="320040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Total revenue €35.9B; Zara est. 63%</a:t>
            </a:r>
            <a:endParaRPr lang="en-US" sz="750" dirty="0"/>
          </a:p>
        </p:txBody>
      </p:sp>
      <p:sp>
        <p:nvSpPr>
          <p:cNvPr id="65" name="Shape 63"/>
          <p:cNvSpPr/>
          <p:nvPr/>
        </p:nvSpPr>
        <p:spPr>
          <a:xfrm>
            <a:off x="6583680" y="3465576"/>
            <a:ext cx="1371600" cy="320040"/>
          </a:xfrm>
          <a:prstGeom prst="rect">
            <a:avLst/>
          </a:prstGeom>
          <a:solidFill>
            <a:srgbClr val="1A1A22"/>
          </a:solidFill>
          <a:ln w="3810">
            <a:solidFill>
              <a:srgbClr val="2A2A38"/>
            </a:solidFill>
            <a:prstDash val="solid"/>
          </a:ln>
        </p:spPr>
        <p:txBody>
          <a:bodyPr/>
          <a:lstStyle/>
          <a:p>
            <a:endParaRPr lang="en-US"/>
          </a:p>
        </p:txBody>
      </p:sp>
      <p:sp>
        <p:nvSpPr>
          <p:cNvPr id="66" name="Text 64"/>
          <p:cNvSpPr/>
          <p:nvPr/>
        </p:nvSpPr>
        <p:spPr>
          <a:xfrm>
            <a:off x="6629400" y="3483864"/>
            <a:ext cx="1280160" cy="283464"/>
          </a:xfrm>
          <a:prstGeom prst="rect">
            <a:avLst/>
          </a:prstGeom>
          <a:noFill/>
          <a:ln/>
        </p:spPr>
        <p:txBody>
          <a:bodyPr wrap="square" lIns="0" tIns="0" rIns="0" bIns="0" rtlCol="0" anchor="ctr"/>
          <a:lstStyle/>
          <a:p>
            <a:pPr marL="0" indent="0">
              <a:buNone/>
            </a:pPr>
            <a:r>
              <a:rPr lang="en-US" sz="750" b="1" dirty="0">
                <a:solidFill>
                  <a:srgbClr val="C9A96E"/>
                </a:solidFill>
                <a:latin typeface="Calibri" pitchFamily="34" charset="0"/>
                <a:ea typeface="Calibri" pitchFamily="34" charset="-122"/>
                <a:cs typeface="Calibri" pitchFamily="34" charset="-120"/>
              </a:rPr>
              <a:t>PRIMARY / DERIVED</a:t>
            </a:r>
            <a:endParaRPr lang="en-US" sz="750" dirty="0"/>
          </a:p>
        </p:txBody>
      </p:sp>
      <p:sp>
        <p:nvSpPr>
          <p:cNvPr id="67" name="Shape 65"/>
          <p:cNvSpPr/>
          <p:nvPr/>
        </p:nvSpPr>
        <p:spPr>
          <a:xfrm>
            <a:off x="7955280" y="3465576"/>
            <a:ext cx="3931920" cy="320040"/>
          </a:xfrm>
          <a:prstGeom prst="rect">
            <a:avLst/>
          </a:prstGeom>
          <a:solidFill>
            <a:srgbClr val="1A1A22"/>
          </a:solidFill>
          <a:ln w="3810">
            <a:solidFill>
              <a:srgbClr val="2A2A38"/>
            </a:solidFill>
            <a:prstDash val="solid"/>
          </a:ln>
        </p:spPr>
        <p:txBody>
          <a:bodyPr/>
          <a:lstStyle/>
          <a:p>
            <a:endParaRPr lang="en-US"/>
          </a:p>
        </p:txBody>
      </p:sp>
      <p:sp>
        <p:nvSpPr>
          <p:cNvPr id="68" name="Text 66"/>
          <p:cNvSpPr/>
          <p:nvPr/>
        </p:nvSpPr>
        <p:spPr>
          <a:xfrm>
            <a:off x="8001000" y="3483864"/>
            <a:ext cx="384048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inditex.com annual report</a:t>
            </a:r>
            <a:endParaRPr lang="en-US" sz="750" dirty="0"/>
          </a:p>
        </p:txBody>
      </p:sp>
      <p:sp>
        <p:nvSpPr>
          <p:cNvPr id="69" name="Shape 67"/>
          <p:cNvSpPr/>
          <p:nvPr/>
        </p:nvSpPr>
        <p:spPr>
          <a:xfrm>
            <a:off x="365760" y="3803904"/>
            <a:ext cx="2926080" cy="320040"/>
          </a:xfrm>
          <a:prstGeom prst="rect">
            <a:avLst/>
          </a:prstGeom>
          <a:solidFill>
            <a:srgbClr val="0A0A0F"/>
          </a:solidFill>
          <a:ln w="3810">
            <a:solidFill>
              <a:srgbClr val="2A2A38"/>
            </a:solidFill>
            <a:prstDash val="solid"/>
          </a:ln>
        </p:spPr>
        <p:txBody>
          <a:bodyPr/>
          <a:lstStyle/>
          <a:p>
            <a:endParaRPr lang="en-US"/>
          </a:p>
        </p:txBody>
      </p:sp>
      <p:sp>
        <p:nvSpPr>
          <p:cNvPr id="70" name="Text 68"/>
          <p:cNvSpPr/>
          <p:nvPr/>
        </p:nvSpPr>
        <p:spPr>
          <a:xfrm>
            <a:off x="411480" y="3822192"/>
            <a:ext cx="283464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H&amp;M Group 2023 Annual Report</a:t>
            </a:r>
            <a:endParaRPr lang="en-US" sz="750" dirty="0"/>
          </a:p>
        </p:txBody>
      </p:sp>
      <p:sp>
        <p:nvSpPr>
          <p:cNvPr id="71" name="Shape 69"/>
          <p:cNvSpPr/>
          <p:nvPr/>
        </p:nvSpPr>
        <p:spPr>
          <a:xfrm>
            <a:off x="3291840" y="3803904"/>
            <a:ext cx="3291840" cy="320040"/>
          </a:xfrm>
          <a:prstGeom prst="rect">
            <a:avLst/>
          </a:prstGeom>
          <a:solidFill>
            <a:srgbClr val="0A0A0F"/>
          </a:solidFill>
          <a:ln w="3810">
            <a:solidFill>
              <a:srgbClr val="2A2A38"/>
            </a:solidFill>
            <a:prstDash val="solid"/>
          </a:ln>
        </p:spPr>
        <p:txBody>
          <a:bodyPr/>
          <a:lstStyle/>
          <a:p>
            <a:endParaRPr lang="en-US"/>
          </a:p>
        </p:txBody>
      </p:sp>
      <p:sp>
        <p:nvSpPr>
          <p:cNvPr id="72" name="Text 70"/>
          <p:cNvSpPr/>
          <p:nvPr/>
        </p:nvSpPr>
        <p:spPr>
          <a:xfrm>
            <a:off x="3337560" y="3822192"/>
            <a:ext cx="320040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Revenue SEK 236B (~€20.9B)</a:t>
            </a:r>
            <a:endParaRPr lang="en-US" sz="750" dirty="0"/>
          </a:p>
        </p:txBody>
      </p:sp>
      <p:sp>
        <p:nvSpPr>
          <p:cNvPr id="73" name="Shape 71"/>
          <p:cNvSpPr/>
          <p:nvPr/>
        </p:nvSpPr>
        <p:spPr>
          <a:xfrm>
            <a:off x="6583680" y="3803904"/>
            <a:ext cx="1371600" cy="320040"/>
          </a:xfrm>
          <a:prstGeom prst="rect">
            <a:avLst/>
          </a:prstGeom>
          <a:solidFill>
            <a:srgbClr val="0A0A0F"/>
          </a:solidFill>
          <a:ln w="3810">
            <a:solidFill>
              <a:srgbClr val="2A2A38"/>
            </a:solidFill>
            <a:prstDash val="solid"/>
          </a:ln>
        </p:spPr>
        <p:txBody>
          <a:bodyPr/>
          <a:lstStyle/>
          <a:p>
            <a:endParaRPr lang="en-US"/>
          </a:p>
        </p:txBody>
      </p:sp>
      <p:sp>
        <p:nvSpPr>
          <p:cNvPr id="74" name="Text 72"/>
          <p:cNvSpPr/>
          <p:nvPr/>
        </p:nvSpPr>
        <p:spPr>
          <a:xfrm>
            <a:off x="6629400" y="3822192"/>
            <a:ext cx="1280160" cy="283464"/>
          </a:xfrm>
          <a:prstGeom prst="rect">
            <a:avLst/>
          </a:prstGeom>
          <a:noFill/>
          <a:ln/>
        </p:spPr>
        <p:txBody>
          <a:bodyPr wrap="square" lIns="0" tIns="0" rIns="0" bIns="0" rtlCol="0" anchor="ctr"/>
          <a:lstStyle/>
          <a:p>
            <a:pPr marL="0" indent="0">
              <a:buNone/>
            </a:pPr>
            <a:r>
              <a:rPr lang="en-US" sz="750" b="1" dirty="0">
                <a:solidFill>
                  <a:srgbClr val="C9A96E"/>
                </a:solidFill>
                <a:latin typeface="Calibri" pitchFamily="34" charset="0"/>
                <a:ea typeface="Calibri" pitchFamily="34" charset="-122"/>
                <a:cs typeface="Calibri" pitchFamily="34" charset="-120"/>
              </a:rPr>
              <a:t>PRIMARY</a:t>
            </a:r>
            <a:endParaRPr lang="en-US" sz="750" dirty="0"/>
          </a:p>
        </p:txBody>
      </p:sp>
      <p:sp>
        <p:nvSpPr>
          <p:cNvPr id="75" name="Shape 73"/>
          <p:cNvSpPr/>
          <p:nvPr/>
        </p:nvSpPr>
        <p:spPr>
          <a:xfrm>
            <a:off x="7955280" y="3803904"/>
            <a:ext cx="3931920" cy="320040"/>
          </a:xfrm>
          <a:prstGeom prst="rect">
            <a:avLst/>
          </a:prstGeom>
          <a:solidFill>
            <a:srgbClr val="0A0A0F"/>
          </a:solidFill>
          <a:ln w="3810">
            <a:solidFill>
              <a:srgbClr val="2A2A38"/>
            </a:solidFill>
            <a:prstDash val="solid"/>
          </a:ln>
        </p:spPr>
        <p:txBody>
          <a:bodyPr/>
          <a:lstStyle/>
          <a:p>
            <a:endParaRPr lang="en-US"/>
          </a:p>
        </p:txBody>
      </p:sp>
      <p:sp>
        <p:nvSpPr>
          <p:cNvPr id="76" name="Text 74"/>
          <p:cNvSpPr/>
          <p:nvPr/>
        </p:nvSpPr>
        <p:spPr>
          <a:xfrm>
            <a:off x="8001000" y="3822192"/>
            <a:ext cx="384048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hmgroup.com annual report 2023</a:t>
            </a:r>
            <a:endParaRPr lang="en-US" sz="750" dirty="0"/>
          </a:p>
        </p:txBody>
      </p:sp>
      <p:sp>
        <p:nvSpPr>
          <p:cNvPr id="77" name="Shape 75"/>
          <p:cNvSpPr/>
          <p:nvPr/>
        </p:nvSpPr>
        <p:spPr>
          <a:xfrm>
            <a:off x="365760" y="4142232"/>
            <a:ext cx="2926080" cy="320040"/>
          </a:xfrm>
          <a:prstGeom prst="rect">
            <a:avLst/>
          </a:prstGeom>
          <a:solidFill>
            <a:srgbClr val="1A1A22"/>
          </a:solidFill>
          <a:ln w="3810">
            <a:solidFill>
              <a:srgbClr val="2A2A38"/>
            </a:solidFill>
            <a:prstDash val="solid"/>
          </a:ln>
        </p:spPr>
        <p:txBody>
          <a:bodyPr/>
          <a:lstStyle/>
          <a:p>
            <a:endParaRPr lang="en-US"/>
          </a:p>
        </p:txBody>
      </p:sp>
      <p:sp>
        <p:nvSpPr>
          <p:cNvPr id="78" name="Text 76"/>
          <p:cNvSpPr/>
          <p:nvPr/>
        </p:nvSpPr>
        <p:spPr>
          <a:xfrm>
            <a:off x="411480" y="4160520"/>
            <a:ext cx="283464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Backlinko / Business of Apps</a:t>
            </a:r>
            <a:endParaRPr lang="en-US" sz="750" dirty="0"/>
          </a:p>
        </p:txBody>
      </p:sp>
      <p:sp>
        <p:nvSpPr>
          <p:cNvPr id="79" name="Shape 77"/>
          <p:cNvSpPr/>
          <p:nvPr/>
        </p:nvSpPr>
        <p:spPr>
          <a:xfrm>
            <a:off x="3291840" y="4142232"/>
            <a:ext cx="3291840" cy="320040"/>
          </a:xfrm>
          <a:prstGeom prst="rect">
            <a:avLst/>
          </a:prstGeom>
          <a:solidFill>
            <a:srgbClr val="1A1A22"/>
          </a:solidFill>
          <a:ln w="3810">
            <a:solidFill>
              <a:srgbClr val="2A2A38"/>
            </a:solidFill>
            <a:prstDash val="solid"/>
          </a:ln>
        </p:spPr>
        <p:txBody>
          <a:bodyPr/>
          <a:lstStyle/>
          <a:p>
            <a:endParaRPr lang="en-US"/>
          </a:p>
        </p:txBody>
      </p:sp>
      <p:sp>
        <p:nvSpPr>
          <p:cNvPr id="80" name="Text 78"/>
          <p:cNvSpPr/>
          <p:nvPr/>
        </p:nvSpPr>
        <p:spPr>
          <a:xfrm>
            <a:off x="3337560" y="4160520"/>
            <a:ext cx="320040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Shein 2023 revenue ~$32.2B</a:t>
            </a:r>
            <a:endParaRPr lang="en-US" sz="750" dirty="0"/>
          </a:p>
        </p:txBody>
      </p:sp>
      <p:sp>
        <p:nvSpPr>
          <p:cNvPr id="81" name="Shape 79"/>
          <p:cNvSpPr/>
          <p:nvPr/>
        </p:nvSpPr>
        <p:spPr>
          <a:xfrm>
            <a:off x="6583680" y="4142232"/>
            <a:ext cx="1371600" cy="320040"/>
          </a:xfrm>
          <a:prstGeom prst="rect">
            <a:avLst/>
          </a:prstGeom>
          <a:solidFill>
            <a:srgbClr val="1A1A22"/>
          </a:solidFill>
          <a:ln w="3810">
            <a:solidFill>
              <a:srgbClr val="2A2A38"/>
            </a:solidFill>
            <a:prstDash val="solid"/>
          </a:ln>
        </p:spPr>
        <p:txBody>
          <a:bodyPr/>
          <a:lstStyle/>
          <a:p>
            <a:endParaRPr lang="en-US"/>
          </a:p>
        </p:txBody>
      </p:sp>
      <p:sp>
        <p:nvSpPr>
          <p:cNvPr id="82" name="Text 80"/>
          <p:cNvSpPr/>
          <p:nvPr/>
        </p:nvSpPr>
        <p:spPr>
          <a:xfrm>
            <a:off x="6629400" y="4160520"/>
            <a:ext cx="1280160" cy="283464"/>
          </a:xfrm>
          <a:prstGeom prst="rect">
            <a:avLst/>
          </a:prstGeom>
          <a:noFill/>
          <a:ln/>
        </p:spPr>
        <p:txBody>
          <a:bodyPr wrap="square" lIns="0" tIns="0" rIns="0" bIns="0" rtlCol="0" anchor="ctr"/>
          <a:lstStyle/>
          <a:p>
            <a:pPr marL="0" indent="0">
              <a:buNone/>
            </a:pPr>
            <a:r>
              <a:rPr lang="en-US" sz="750" b="1" dirty="0">
                <a:solidFill>
                  <a:srgbClr val="9898B0"/>
                </a:solidFill>
                <a:latin typeface="Calibri" pitchFamily="34" charset="0"/>
                <a:ea typeface="Calibri" pitchFamily="34" charset="-122"/>
                <a:cs typeface="Calibri" pitchFamily="34" charset="-120"/>
              </a:rPr>
              <a:t>AGGREGATED</a:t>
            </a:r>
            <a:endParaRPr lang="en-US" sz="750" dirty="0"/>
          </a:p>
        </p:txBody>
      </p:sp>
      <p:sp>
        <p:nvSpPr>
          <p:cNvPr id="83" name="Shape 81"/>
          <p:cNvSpPr/>
          <p:nvPr/>
        </p:nvSpPr>
        <p:spPr>
          <a:xfrm>
            <a:off x="7955280" y="4142232"/>
            <a:ext cx="3931920" cy="320040"/>
          </a:xfrm>
          <a:prstGeom prst="rect">
            <a:avLst/>
          </a:prstGeom>
          <a:solidFill>
            <a:srgbClr val="1A1A22"/>
          </a:solidFill>
          <a:ln w="3810">
            <a:solidFill>
              <a:srgbClr val="2A2A38"/>
            </a:solidFill>
            <a:prstDash val="solid"/>
          </a:ln>
        </p:spPr>
        <p:txBody>
          <a:bodyPr/>
          <a:lstStyle/>
          <a:p>
            <a:endParaRPr lang="en-US"/>
          </a:p>
        </p:txBody>
      </p:sp>
      <p:sp>
        <p:nvSpPr>
          <p:cNvPr id="84" name="Text 82"/>
          <p:cNvSpPr/>
          <p:nvPr/>
        </p:nvSpPr>
        <p:spPr>
          <a:xfrm>
            <a:off x="8001000" y="4160520"/>
            <a:ext cx="384048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backlinko.com/shein-stats</a:t>
            </a:r>
            <a:endParaRPr lang="en-US" sz="750" dirty="0"/>
          </a:p>
        </p:txBody>
      </p:sp>
      <p:sp>
        <p:nvSpPr>
          <p:cNvPr id="85" name="Shape 83"/>
          <p:cNvSpPr/>
          <p:nvPr/>
        </p:nvSpPr>
        <p:spPr>
          <a:xfrm>
            <a:off x="365760" y="4480560"/>
            <a:ext cx="2926080" cy="320040"/>
          </a:xfrm>
          <a:prstGeom prst="rect">
            <a:avLst/>
          </a:prstGeom>
          <a:solidFill>
            <a:srgbClr val="0A0A0F"/>
          </a:solidFill>
          <a:ln w="3810">
            <a:solidFill>
              <a:srgbClr val="2A2A38"/>
            </a:solidFill>
            <a:prstDash val="solid"/>
          </a:ln>
        </p:spPr>
        <p:txBody>
          <a:bodyPr/>
          <a:lstStyle/>
          <a:p>
            <a:endParaRPr lang="en-US"/>
          </a:p>
        </p:txBody>
      </p:sp>
      <p:sp>
        <p:nvSpPr>
          <p:cNvPr id="86" name="Text 84"/>
          <p:cNvSpPr/>
          <p:nvPr/>
        </p:nvSpPr>
        <p:spPr>
          <a:xfrm>
            <a:off x="411480" y="4498848"/>
            <a:ext cx="283464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Fashion Revolution FTI 2023</a:t>
            </a:r>
            <a:endParaRPr lang="en-US" sz="750" dirty="0"/>
          </a:p>
        </p:txBody>
      </p:sp>
      <p:sp>
        <p:nvSpPr>
          <p:cNvPr id="87" name="Shape 85"/>
          <p:cNvSpPr/>
          <p:nvPr/>
        </p:nvSpPr>
        <p:spPr>
          <a:xfrm>
            <a:off x="3291840" y="4480560"/>
            <a:ext cx="3291840" cy="320040"/>
          </a:xfrm>
          <a:prstGeom prst="rect">
            <a:avLst/>
          </a:prstGeom>
          <a:solidFill>
            <a:srgbClr val="0A0A0F"/>
          </a:solidFill>
          <a:ln w="3810">
            <a:solidFill>
              <a:srgbClr val="2A2A38"/>
            </a:solidFill>
            <a:prstDash val="solid"/>
          </a:ln>
        </p:spPr>
        <p:txBody>
          <a:bodyPr/>
          <a:lstStyle/>
          <a:p>
            <a:endParaRPr lang="en-US"/>
          </a:p>
        </p:txBody>
      </p:sp>
      <p:sp>
        <p:nvSpPr>
          <p:cNvPr id="88" name="Text 86"/>
          <p:cNvSpPr/>
          <p:nvPr/>
        </p:nvSpPr>
        <p:spPr>
          <a:xfrm>
            <a:off x="3337560" y="4498848"/>
            <a:ext cx="320040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Transparency Index scores (250 largest brands)</a:t>
            </a:r>
            <a:endParaRPr lang="en-US" sz="750" dirty="0"/>
          </a:p>
        </p:txBody>
      </p:sp>
      <p:sp>
        <p:nvSpPr>
          <p:cNvPr id="89" name="Shape 87"/>
          <p:cNvSpPr/>
          <p:nvPr/>
        </p:nvSpPr>
        <p:spPr>
          <a:xfrm>
            <a:off x="6583680" y="4480560"/>
            <a:ext cx="1371600" cy="320040"/>
          </a:xfrm>
          <a:prstGeom prst="rect">
            <a:avLst/>
          </a:prstGeom>
          <a:solidFill>
            <a:srgbClr val="0A0A0F"/>
          </a:solidFill>
          <a:ln w="3810">
            <a:solidFill>
              <a:srgbClr val="2A2A38"/>
            </a:solidFill>
            <a:prstDash val="solid"/>
          </a:ln>
        </p:spPr>
        <p:txBody>
          <a:bodyPr/>
          <a:lstStyle/>
          <a:p>
            <a:endParaRPr lang="en-US"/>
          </a:p>
        </p:txBody>
      </p:sp>
      <p:sp>
        <p:nvSpPr>
          <p:cNvPr id="90" name="Text 88"/>
          <p:cNvSpPr/>
          <p:nvPr/>
        </p:nvSpPr>
        <p:spPr>
          <a:xfrm>
            <a:off x="6629400" y="4498848"/>
            <a:ext cx="1280160" cy="283464"/>
          </a:xfrm>
          <a:prstGeom prst="rect">
            <a:avLst/>
          </a:prstGeom>
          <a:noFill/>
          <a:ln/>
        </p:spPr>
        <p:txBody>
          <a:bodyPr wrap="square" lIns="0" tIns="0" rIns="0" bIns="0" rtlCol="0" anchor="ctr"/>
          <a:lstStyle/>
          <a:p>
            <a:pPr marL="0" indent="0">
              <a:buNone/>
            </a:pPr>
            <a:r>
              <a:rPr lang="en-US" sz="750" b="1" dirty="0">
                <a:solidFill>
                  <a:srgbClr val="C9A96E"/>
                </a:solidFill>
                <a:latin typeface="Calibri" pitchFamily="34" charset="0"/>
                <a:ea typeface="Calibri" pitchFamily="34" charset="-122"/>
                <a:cs typeface="Calibri" pitchFamily="34" charset="-120"/>
              </a:rPr>
              <a:t>PRIMARY</a:t>
            </a:r>
            <a:endParaRPr lang="en-US" sz="750" dirty="0"/>
          </a:p>
        </p:txBody>
      </p:sp>
      <p:sp>
        <p:nvSpPr>
          <p:cNvPr id="91" name="Shape 89"/>
          <p:cNvSpPr/>
          <p:nvPr/>
        </p:nvSpPr>
        <p:spPr>
          <a:xfrm>
            <a:off x="7955280" y="4480560"/>
            <a:ext cx="3931920" cy="320040"/>
          </a:xfrm>
          <a:prstGeom prst="rect">
            <a:avLst/>
          </a:prstGeom>
          <a:solidFill>
            <a:srgbClr val="0A0A0F"/>
          </a:solidFill>
          <a:ln w="3810">
            <a:solidFill>
              <a:srgbClr val="2A2A38"/>
            </a:solidFill>
            <a:prstDash val="solid"/>
          </a:ln>
        </p:spPr>
        <p:txBody>
          <a:bodyPr/>
          <a:lstStyle/>
          <a:p>
            <a:endParaRPr lang="en-US"/>
          </a:p>
        </p:txBody>
      </p:sp>
      <p:sp>
        <p:nvSpPr>
          <p:cNvPr id="92" name="Text 90"/>
          <p:cNvSpPr/>
          <p:nvPr/>
        </p:nvSpPr>
        <p:spPr>
          <a:xfrm>
            <a:off x="8001000" y="4498848"/>
            <a:ext cx="384048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fashionrevolution.org/fashion-transparency-index-2023</a:t>
            </a:r>
            <a:endParaRPr lang="en-US" sz="750" dirty="0"/>
          </a:p>
        </p:txBody>
      </p:sp>
      <p:sp>
        <p:nvSpPr>
          <p:cNvPr id="93" name="Shape 91"/>
          <p:cNvSpPr/>
          <p:nvPr/>
        </p:nvSpPr>
        <p:spPr>
          <a:xfrm>
            <a:off x="365760" y="4818888"/>
            <a:ext cx="2926080" cy="320040"/>
          </a:xfrm>
          <a:prstGeom prst="rect">
            <a:avLst/>
          </a:prstGeom>
          <a:solidFill>
            <a:srgbClr val="1A1A22"/>
          </a:solidFill>
          <a:ln w="3810">
            <a:solidFill>
              <a:srgbClr val="2A2A38"/>
            </a:solidFill>
            <a:prstDash val="solid"/>
          </a:ln>
        </p:spPr>
        <p:txBody>
          <a:bodyPr/>
          <a:lstStyle/>
          <a:p>
            <a:endParaRPr lang="en-US"/>
          </a:p>
        </p:txBody>
      </p:sp>
      <p:sp>
        <p:nvSpPr>
          <p:cNvPr id="94" name="Text 92"/>
          <p:cNvSpPr/>
          <p:nvPr/>
        </p:nvSpPr>
        <p:spPr>
          <a:xfrm>
            <a:off x="411480" y="4837176"/>
            <a:ext cx="283464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Vestiaire Collective Q4 2024</a:t>
            </a:r>
            <a:endParaRPr lang="en-US" sz="750" dirty="0"/>
          </a:p>
        </p:txBody>
      </p:sp>
      <p:sp>
        <p:nvSpPr>
          <p:cNvPr id="95" name="Shape 93"/>
          <p:cNvSpPr/>
          <p:nvPr/>
        </p:nvSpPr>
        <p:spPr>
          <a:xfrm>
            <a:off x="3291840" y="4818888"/>
            <a:ext cx="3291840" cy="320040"/>
          </a:xfrm>
          <a:prstGeom prst="rect">
            <a:avLst/>
          </a:prstGeom>
          <a:solidFill>
            <a:srgbClr val="1A1A22"/>
          </a:solidFill>
          <a:ln w="3810">
            <a:solidFill>
              <a:srgbClr val="2A2A38"/>
            </a:solidFill>
            <a:prstDash val="solid"/>
          </a:ln>
        </p:spPr>
        <p:txBody>
          <a:bodyPr/>
          <a:lstStyle/>
          <a:p>
            <a:endParaRPr lang="en-US"/>
          </a:p>
        </p:txBody>
      </p:sp>
      <p:sp>
        <p:nvSpPr>
          <p:cNvPr id="96" name="Text 94"/>
          <p:cNvSpPr/>
          <p:nvPr/>
        </p:nvSpPr>
        <p:spPr>
          <a:xfrm>
            <a:off x="3337560" y="4837176"/>
            <a:ext cx="320040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Resale retention and brand rankings</a:t>
            </a:r>
            <a:endParaRPr lang="en-US" sz="750" dirty="0"/>
          </a:p>
        </p:txBody>
      </p:sp>
      <p:sp>
        <p:nvSpPr>
          <p:cNvPr id="97" name="Shape 95"/>
          <p:cNvSpPr/>
          <p:nvPr/>
        </p:nvSpPr>
        <p:spPr>
          <a:xfrm>
            <a:off x="6583680" y="4818888"/>
            <a:ext cx="1371600" cy="320040"/>
          </a:xfrm>
          <a:prstGeom prst="rect">
            <a:avLst/>
          </a:prstGeom>
          <a:solidFill>
            <a:srgbClr val="1A1A22"/>
          </a:solidFill>
          <a:ln w="3810">
            <a:solidFill>
              <a:srgbClr val="2A2A38"/>
            </a:solidFill>
            <a:prstDash val="solid"/>
          </a:ln>
        </p:spPr>
        <p:txBody>
          <a:bodyPr/>
          <a:lstStyle/>
          <a:p>
            <a:endParaRPr lang="en-US"/>
          </a:p>
        </p:txBody>
      </p:sp>
      <p:sp>
        <p:nvSpPr>
          <p:cNvPr id="98" name="Text 96"/>
          <p:cNvSpPr/>
          <p:nvPr/>
        </p:nvSpPr>
        <p:spPr>
          <a:xfrm>
            <a:off x="6629400" y="4837176"/>
            <a:ext cx="1280160" cy="283464"/>
          </a:xfrm>
          <a:prstGeom prst="rect">
            <a:avLst/>
          </a:prstGeom>
          <a:noFill/>
          <a:ln/>
        </p:spPr>
        <p:txBody>
          <a:bodyPr wrap="square" lIns="0" tIns="0" rIns="0" bIns="0" rtlCol="0" anchor="ctr"/>
          <a:lstStyle/>
          <a:p>
            <a:pPr marL="0" indent="0">
              <a:buNone/>
            </a:pPr>
            <a:r>
              <a:rPr lang="en-US" sz="750" b="1" dirty="0">
                <a:solidFill>
                  <a:srgbClr val="9898B0"/>
                </a:solidFill>
                <a:latin typeface="Calibri" pitchFamily="34" charset="0"/>
                <a:ea typeface="Calibri" pitchFamily="34" charset="-122"/>
                <a:cs typeface="Calibri" pitchFamily="34" charset="-120"/>
              </a:rPr>
              <a:t>AGGREGATED</a:t>
            </a:r>
            <a:endParaRPr lang="en-US" sz="750" dirty="0"/>
          </a:p>
        </p:txBody>
      </p:sp>
      <p:sp>
        <p:nvSpPr>
          <p:cNvPr id="99" name="Shape 97"/>
          <p:cNvSpPr/>
          <p:nvPr/>
        </p:nvSpPr>
        <p:spPr>
          <a:xfrm>
            <a:off x="7955280" y="4818888"/>
            <a:ext cx="3931920" cy="320040"/>
          </a:xfrm>
          <a:prstGeom prst="rect">
            <a:avLst/>
          </a:prstGeom>
          <a:solidFill>
            <a:srgbClr val="1A1A22"/>
          </a:solidFill>
          <a:ln w="3810">
            <a:solidFill>
              <a:srgbClr val="2A2A38"/>
            </a:solidFill>
            <a:prstDash val="solid"/>
          </a:ln>
        </p:spPr>
        <p:txBody>
          <a:bodyPr/>
          <a:lstStyle/>
          <a:p>
            <a:endParaRPr lang="en-US"/>
          </a:p>
        </p:txBody>
      </p:sp>
      <p:sp>
        <p:nvSpPr>
          <p:cNvPr id="100" name="Text 98"/>
          <p:cNvSpPr/>
          <p:nvPr/>
        </p:nvSpPr>
        <p:spPr>
          <a:xfrm>
            <a:off x="8001000" y="4837176"/>
            <a:ext cx="384048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vestiairecollective.com/journal/resale-buying-guide</a:t>
            </a:r>
            <a:endParaRPr lang="en-US" sz="750" dirty="0"/>
          </a:p>
        </p:txBody>
      </p:sp>
      <p:sp>
        <p:nvSpPr>
          <p:cNvPr id="101" name="Shape 99"/>
          <p:cNvSpPr/>
          <p:nvPr/>
        </p:nvSpPr>
        <p:spPr>
          <a:xfrm>
            <a:off x="365760" y="5157216"/>
            <a:ext cx="2926080" cy="320040"/>
          </a:xfrm>
          <a:prstGeom prst="rect">
            <a:avLst/>
          </a:prstGeom>
          <a:solidFill>
            <a:srgbClr val="0A0A0F"/>
          </a:solidFill>
          <a:ln w="3810">
            <a:solidFill>
              <a:srgbClr val="2A2A38"/>
            </a:solidFill>
            <a:prstDash val="solid"/>
          </a:ln>
        </p:spPr>
        <p:txBody>
          <a:bodyPr/>
          <a:lstStyle/>
          <a:p>
            <a:endParaRPr lang="en-US"/>
          </a:p>
        </p:txBody>
      </p:sp>
      <p:sp>
        <p:nvSpPr>
          <p:cNvPr id="102" name="Text 100"/>
          <p:cNvSpPr/>
          <p:nvPr/>
        </p:nvSpPr>
        <p:spPr>
          <a:xfrm>
            <a:off x="411480" y="5175504"/>
            <a:ext cx="283464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Grailed sold listings 2023–2024</a:t>
            </a:r>
            <a:endParaRPr lang="en-US" sz="750" dirty="0"/>
          </a:p>
        </p:txBody>
      </p:sp>
      <p:sp>
        <p:nvSpPr>
          <p:cNvPr id="103" name="Shape 101"/>
          <p:cNvSpPr/>
          <p:nvPr/>
        </p:nvSpPr>
        <p:spPr>
          <a:xfrm>
            <a:off x="3291840" y="5157216"/>
            <a:ext cx="3291840" cy="320040"/>
          </a:xfrm>
          <a:prstGeom prst="rect">
            <a:avLst/>
          </a:prstGeom>
          <a:solidFill>
            <a:srgbClr val="0A0A0F"/>
          </a:solidFill>
          <a:ln w="3810">
            <a:solidFill>
              <a:srgbClr val="2A2A38"/>
            </a:solidFill>
            <a:prstDash val="solid"/>
          </a:ln>
        </p:spPr>
        <p:txBody>
          <a:bodyPr/>
          <a:lstStyle/>
          <a:p>
            <a:endParaRPr lang="en-US"/>
          </a:p>
        </p:txBody>
      </p:sp>
      <p:sp>
        <p:nvSpPr>
          <p:cNvPr id="104" name="Text 102"/>
          <p:cNvSpPr/>
          <p:nvPr/>
        </p:nvSpPr>
        <p:spPr>
          <a:xfrm>
            <a:off x="3337560" y="5175504"/>
            <a:ext cx="320040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Archive premium estimates</a:t>
            </a:r>
            <a:endParaRPr lang="en-US" sz="750" dirty="0"/>
          </a:p>
        </p:txBody>
      </p:sp>
      <p:sp>
        <p:nvSpPr>
          <p:cNvPr id="105" name="Shape 103"/>
          <p:cNvSpPr/>
          <p:nvPr/>
        </p:nvSpPr>
        <p:spPr>
          <a:xfrm>
            <a:off x="6583680" y="5157216"/>
            <a:ext cx="1371600" cy="320040"/>
          </a:xfrm>
          <a:prstGeom prst="rect">
            <a:avLst/>
          </a:prstGeom>
          <a:solidFill>
            <a:srgbClr val="0A0A0F"/>
          </a:solidFill>
          <a:ln w="3810">
            <a:solidFill>
              <a:srgbClr val="2A2A38"/>
            </a:solidFill>
            <a:prstDash val="solid"/>
          </a:ln>
        </p:spPr>
        <p:txBody>
          <a:bodyPr/>
          <a:lstStyle/>
          <a:p>
            <a:endParaRPr lang="en-US"/>
          </a:p>
        </p:txBody>
      </p:sp>
      <p:sp>
        <p:nvSpPr>
          <p:cNvPr id="106" name="Text 104"/>
          <p:cNvSpPr/>
          <p:nvPr/>
        </p:nvSpPr>
        <p:spPr>
          <a:xfrm>
            <a:off x="6629400" y="5175504"/>
            <a:ext cx="1280160" cy="283464"/>
          </a:xfrm>
          <a:prstGeom prst="rect">
            <a:avLst/>
          </a:prstGeom>
          <a:noFill/>
          <a:ln/>
        </p:spPr>
        <p:txBody>
          <a:bodyPr wrap="square" lIns="0" tIns="0" rIns="0" bIns="0" rtlCol="0" anchor="ctr"/>
          <a:lstStyle/>
          <a:p>
            <a:pPr marL="0" indent="0">
              <a:buNone/>
            </a:pPr>
            <a:r>
              <a:rPr lang="en-US" sz="750" b="1" dirty="0">
                <a:solidFill>
                  <a:srgbClr val="9898B0"/>
                </a:solidFill>
                <a:latin typeface="Calibri" pitchFamily="34" charset="0"/>
                <a:ea typeface="Calibri" pitchFamily="34" charset="-122"/>
                <a:cs typeface="Calibri" pitchFamily="34" charset="-120"/>
              </a:rPr>
              <a:t>AGGREGATED</a:t>
            </a:r>
            <a:endParaRPr lang="en-US" sz="750" dirty="0"/>
          </a:p>
        </p:txBody>
      </p:sp>
      <p:sp>
        <p:nvSpPr>
          <p:cNvPr id="107" name="Shape 105"/>
          <p:cNvSpPr/>
          <p:nvPr/>
        </p:nvSpPr>
        <p:spPr>
          <a:xfrm>
            <a:off x="7955280" y="5157216"/>
            <a:ext cx="3931920" cy="320040"/>
          </a:xfrm>
          <a:prstGeom prst="rect">
            <a:avLst/>
          </a:prstGeom>
          <a:solidFill>
            <a:srgbClr val="0A0A0F"/>
          </a:solidFill>
          <a:ln w="3810">
            <a:solidFill>
              <a:srgbClr val="2A2A38"/>
            </a:solidFill>
            <a:prstDash val="solid"/>
          </a:ln>
        </p:spPr>
        <p:txBody>
          <a:bodyPr/>
          <a:lstStyle/>
          <a:p>
            <a:endParaRPr lang="en-US"/>
          </a:p>
        </p:txBody>
      </p:sp>
      <p:sp>
        <p:nvSpPr>
          <p:cNvPr id="108" name="Text 106"/>
          <p:cNvSpPr/>
          <p:nvPr/>
        </p:nvSpPr>
        <p:spPr>
          <a:xfrm>
            <a:off x="8001000" y="5175504"/>
            <a:ext cx="384048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grailed.com</a:t>
            </a:r>
            <a:endParaRPr lang="en-US" sz="750" dirty="0"/>
          </a:p>
        </p:txBody>
      </p:sp>
      <p:sp>
        <p:nvSpPr>
          <p:cNvPr id="109" name="Shape 107"/>
          <p:cNvSpPr/>
          <p:nvPr/>
        </p:nvSpPr>
        <p:spPr>
          <a:xfrm>
            <a:off x="365760" y="5495544"/>
            <a:ext cx="2926080" cy="320040"/>
          </a:xfrm>
          <a:prstGeom prst="rect">
            <a:avLst/>
          </a:prstGeom>
          <a:solidFill>
            <a:srgbClr val="1A1A22"/>
          </a:solidFill>
          <a:ln w="3810">
            <a:solidFill>
              <a:srgbClr val="2A2A38"/>
            </a:solidFill>
            <a:prstDash val="solid"/>
          </a:ln>
        </p:spPr>
        <p:txBody>
          <a:bodyPr/>
          <a:lstStyle/>
          <a:p>
            <a:endParaRPr lang="en-US"/>
          </a:p>
        </p:txBody>
      </p:sp>
      <p:sp>
        <p:nvSpPr>
          <p:cNvPr id="110" name="Text 108"/>
          <p:cNvSpPr/>
          <p:nvPr/>
        </p:nvSpPr>
        <p:spPr>
          <a:xfrm>
            <a:off x="411480" y="5513832"/>
            <a:ext cx="283464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Sotheby's Martin Margiela 2019</a:t>
            </a:r>
            <a:endParaRPr lang="en-US" sz="750" dirty="0"/>
          </a:p>
        </p:txBody>
      </p:sp>
      <p:sp>
        <p:nvSpPr>
          <p:cNvPr id="111" name="Shape 109"/>
          <p:cNvSpPr/>
          <p:nvPr/>
        </p:nvSpPr>
        <p:spPr>
          <a:xfrm>
            <a:off x="3291840" y="5495544"/>
            <a:ext cx="3291840" cy="320040"/>
          </a:xfrm>
          <a:prstGeom prst="rect">
            <a:avLst/>
          </a:prstGeom>
          <a:solidFill>
            <a:srgbClr val="1A1A22"/>
          </a:solidFill>
          <a:ln w="3810">
            <a:solidFill>
              <a:srgbClr val="2A2A38"/>
            </a:solidFill>
            <a:prstDash val="solid"/>
          </a:ln>
        </p:spPr>
        <p:txBody>
          <a:bodyPr/>
          <a:lstStyle/>
          <a:p>
            <a:endParaRPr lang="en-US"/>
          </a:p>
        </p:txBody>
      </p:sp>
      <p:sp>
        <p:nvSpPr>
          <p:cNvPr id="112" name="Text 110"/>
          <p:cNvSpPr/>
          <p:nvPr/>
        </p:nvSpPr>
        <p:spPr>
          <a:xfrm>
            <a:off x="3337560" y="5513832"/>
            <a:ext cx="320040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220 pieces; €341,750 realized</a:t>
            </a:r>
            <a:endParaRPr lang="en-US" sz="750" dirty="0"/>
          </a:p>
        </p:txBody>
      </p:sp>
      <p:sp>
        <p:nvSpPr>
          <p:cNvPr id="113" name="Shape 111"/>
          <p:cNvSpPr/>
          <p:nvPr/>
        </p:nvSpPr>
        <p:spPr>
          <a:xfrm>
            <a:off x="6583680" y="5495544"/>
            <a:ext cx="1371600" cy="320040"/>
          </a:xfrm>
          <a:prstGeom prst="rect">
            <a:avLst/>
          </a:prstGeom>
          <a:solidFill>
            <a:srgbClr val="1A1A22"/>
          </a:solidFill>
          <a:ln w="3810">
            <a:solidFill>
              <a:srgbClr val="2A2A38"/>
            </a:solidFill>
            <a:prstDash val="solid"/>
          </a:ln>
        </p:spPr>
        <p:txBody>
          <a:bodyPr/>
          <a:lstStyle/>
          <a:p>
            <a:endParaRPr lang="en-US"/>
          </a:p>
        </p:txBody>
      </p:sp>
      <p:sp>
        <p:nvSpPr>
          <p:cNvPr id="114" name="Text 112"/>
          <p:cNvSpPr/>
          <p:nvPr/>
        </p:nvSpPr>
        <p:spPr>
          <a:xfrm>
            <a:off x="6629400" y="5513832"/>
            <a:ext cx="1280160" cy="283464"/>
          </a:xfrm>
          <a:prstGeom prst="rect">
            <a:avLst/>
          </a:prstGeom>
          <a:noFill/>
          <a:ln/>
        </p:spPr>
        <p:txBody>
          <a:bodyPr wrap="square" lIns="0" tIns="0" rIns="0" bIns="0" rtlCol="0" anchor="ctr"/>
          <a:lstStyle/>
          <a:p>
            <a:pPr marL="0" indent="0">
              <a:buNone/>
            </a:pPr>
            <a:r>
              <a:rPr lang="en-US" sz="750" b="1" dirty="0">
                <a:solidFill>
                  <a:srgbClr val="C9A96E"/>
                </a:solidFill>
                <a:latin typeface="Calibri" pitchFamily="34" charset="0"/>
                <a:ea typeface="Calibri" pitchFamily="34" charset="-122"/>
                <a:cs typeface="Calibri" pitchFamily="34" charset="-120"/>
              </a:rPr>
              <a:t>PRIMARY</a:t>
            </a:r>
            <a:endParaRPr lang="en-US" sz="750" dirty="0"/>
          </a:p>
        </p:txBody>
      </p:sp>
      <p:sp>
        <p:nvSpPr>
          <p:cNvPr id="115" name="Shape 113"/>
          <p:cNvSpPr/>
          <p:nvPr/>
        </p:nvSpPr>
        <p:spPr>
          <a:xfrm>
            <a:off x="7955280" y="5495544"/>
            <a:ext cx="3931920" cy="320040"/>
          </a:xfrm>
          <a:prstGeom prst="rect">
            <a:avLst/>
          </a:prstGeom>
          <a:solidFill>
            <a:srgbClr val="1A1A22"/>
          </a:solidFill>
          <a:ln w="3810">
            <a:solidFill>
              <a:srgbClr val="2A2A38"/>
            </a:solidFill>
            <a:prstDash val="solid"/>
          </a:ln>
        </p:spPr>
        <p:txBody>
          <a:bodyPr/>
          <a:lstStyle/>
          <a:p>
            <a:endParaRPr lang="en-US"/>
          </a:p>
        </p:txBody>
      </p:sp>
      <p:sp>
        <p:nvSpPr>
          <p:cNvPr id="116" name="Text 114"/>
          <p:cNvSpPr/>
          <p:nvPr/>
        </p:nvSpPr>
        <p:spPr>
          <a:xfrm>
            <a:off x="8001000" y="5513832"/>
            <a:ext cx="3840480" cy="283464"/>
          </a:xfrm>
          <a:prstGeom prst="rect">
            <a:avLst/>
          </a:prstGeom>
          <a:noFill/>
          <a:ln/>
        </p:spPr>
        <p:txBody>
          <a:bodyPr wrap="square" lIns="0" tIns="0" rIns="0" bIns="0" rtlCol="0" anchor="ctr"/>
          <a:lstStyle/>
          <a:p>
            <a:pPr marL="0" indent="0">
              <a:buNone/>
            </a:pPr>
            <a:r>
              <a:rPr lang="en-US" sz="750" dirty="0">
                <a:solidFill>
                  <a:srgbClr val="9898B0"/>
                </a:solidFill>
                <a:latin typeface="Calibri" pitchFamily="34" charset="0"/>
                <a:ea typeface="Calibri" pitchFamily="34" charset="-122"/>
                <a:cs typeface="Calibri" pitchFamily="34" charset="-120"/>
              </a:rPr>
              <a:t>sothebys.com/en/sell/luxury-collectibles/maison-margiela</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96E"/>
          </a:solidFill>
          <a:ln w="12700">
            <a:solidFill>
              <a:srgbClr val="C9A96E"/>
            </a:solidFill>
            <a:prstDash val="solid"/>
          </a:ln>
        </p:spPr>
        <p:txBody>
          <a:bodyPr/>
          <a:lstStyle/>
          <a:p>
            <a:endParaRPr lang="en-US"/>
          </a:p>
        </p:txBody>
      </p:sp>
      <p:sp>
        <p:nvSpPr>
          <p:cNvPr id="3" name="Shape 1"/>
          <p:cNvSpPr/>
          <p:nvPr/>
        </p:nvSpPr>
        <p:spPr>
          <a:xfrm>
            <a:off x="5486400" y="-1828800"/>
            <a:ext cx="8229600" cy="8229600"/>
          </a:xfrm>
          <a:prstGeom prst="ellipse">
            <a:avLst/>
          </a:prstGeom>
          <a:solidFill>
            <a:srgbClr val="1A1A22">
              <a:alpha val="30000"/>
            </a:srgbClr>
          </a:solidFill>
          <a:ln w="12700">
            <a:solidFill>
              <a:srgbClr val="2A2A38"/>
            </a:solidFill>
            <a:prstDash val="solid"/>
          </a:ln>
        </p:spPr>
        <p:txBody>
          <a:bodyPr/>
          <a:lstStyle/>
          <a:p>
            <a:endParaRPr lang="en-US"/>
          </a:p>
        </p:txBody>
      </p:sp>
      <p:sp>
        <p:nvSpPr>
          <p:cNvPr id="4" name="Text 2"/>
          <p:cNvSpPr/>
          <p:nvPr/>
        </p:nvSpPr>
        <p:spPr>
          <a:xfrm>
            <a:off x="502920" y="1097280"/>
            <a:ext cx="9144000" cy="411480"/>
          </a:xfrm>
          <a:prstGeom prst="rect">
            <a:avLst/>
          </a:prstGeom>
          <a:noFill/>
          <a:ln/>
        </p:spPr>
        <p:txBody>
          <a:bodyPr wrap="square" lIns="0" tIns="0" rIns="0" bIns="0" rtlCol="0" anchor="ctr"/>
          <a:lstStyle/>
          <a:p>
            <a:pPr marL="0" indent="0">
              <a:buNone/>
            </a:pPr>
            <a:r>
              <a:rPr lang="en-US" sz="1000" kern="0" spc="400" dirty="0">
                <a:solidFill>
                  <a:srgbClr val="C9A96E"/>
                </a:solidFill>
                <a:latin typeface="Consolas" pitchFamily="34" charset="0"/>
                <a:ea typeface="Consolas" pitchFamily="34" charset="-122"/>
                <a:cs typeface="Consolas" pitchFamily="34" charset="-120"/>
              </a:rPr>
              <a:t>THE CONCLUSION</a:t>
            </a:r>
            <a:endParaRPr lang="en-US" sz="1000" dirty="0"/>
          </a:p>
        </p:txBody>
      </p:sp>
      <p:sp>
        <p:nvSpPr>
          <p:cNvPr id="5" name="Text 3"/>
          <p:cNvSpPr/>
          <p:nvPr/>
        </p:nvSpPr>
        <p:spPr>
          <a:xfrm>
            <a:off x="502920" y="1691640"/>
            <a:ext cx="10058400" cy="1828800"/>
          </a:xfrm>
          <a:prstGeom prst="rect">
            <a:avLst/>
          </a:prstGeom>
          <a:noFill/>
          <a:ln/>
        </p:spPr>
        <p:txBody>
          <a:bodyPr wrap="square" lIns="0" tIns="0" rIns="0" bIns="0" rtlCol="0" anchor="ctr"/>
          <a:lstStyle/>
          <a:p>
            <a:pPr marL="0" indent="0">
              <a:buNone/>
            </a:pPr>
            <a:r>
              <a:rPr lang="en-US" sz="2600" i="1" dirty="0">
                <a:solidFill>
                  <a:srgbClr val="E8E8F0"/>
                </a:solidFill>
                <a:latin typeface="Georgia" pitchFamily="34" charset="0"/>
                <a:ea typeface="Georgia" pitchFamily="34" charset="-122"/>
                <a:cs typeface="Georgia" pitchFamily="34" charset="-120"/>
              </a:rPr>
              <a:t>"Mass appeal is not a prerequisite for endurance.</a:t>
            </a:r>
            <a:endParaRPr lang="en-US" sz="2600" dirty="0"/>
          </a:p>
          <a:p>
            <a:pPr marL="0" indent="0">
              <a:buNone/>
            </a:pPr>
            <a:r>
              <a:rPr lang="en-US" sz="2600" i="1" dirty="0">
                <a:solidFill>
                  <a:srgbClr val="E8E8F0"/>
                </a:solidFill>
                <a:latin typeface="Georgia" pitchFamily="34" charset="0"/>
                <a:ea typeface="Georgia" pitchFamily="34" charset="-122"/>
                <a:cs typeface="Georgia" pitchFamily="34" charset="-120"/>
              </a:rPr>
              <a:t>Scarcity is not a constraint… it is the product."</a:t>
            </a:r>
            <a:endParaRPr lang="en-US" sz="2600" dirty="0"/>
          </a:p>
        </p:txBody>
      </p:sp>
      <p:sp>
        <p:nvSpPr>
          <p:cNvPr id="6" name="Shape 4"/>
          <p:cNvSpPr/>
          <p:nvPr/>
        </p:nvSpPr>
        <p:spPr>
          <a:xfrm>
            <a:off x="502920" y="3703320"/>
            <a:ext cx="5486400" cy="27432"/>
          </a:xfrm>
          <a:prstGeom prst="rect">
            <a:avLst/>
          </a:prstGeom>
          <a:solidFill>
            <a:srgbClr val="2A2A38"/>
          </a:solidFill>
          <a:ln w="12700">
            <a:solidFill>
              <a:srgbClr val="2A2A38"/>
            </a:solidFill>
            <a:prstDash val="solid"/>
          </a:ln>
        </p:spPr>
        <p:txBody>
          <a:bodyPr/>
          <a:lstStyle/>
          <a:p>
            <a:endParaRPr lang="en-US"/>
          </a:p>
        </p:txBody>
      </p:sp>
      <p:sp>
        <p:nvSpPr>
          <p:cNvPr id="7" name="Text 5"/>
          <p:cNvSpPr/>
          <p:nvPr/>
        </p:nvSpPr>
        <p:spPr>
          <a:xfrm>
            <a:off x="502920" y="3840480"/>
            <a:ext cx="10058400" cy="1371600"/>
          </a:xfrm>
          <a:prstGeom prst="rect">
            <a:avLst/>
          </a:prstGeom>
          <a:noFill/>
          <a:ln/>
        </p:spPr>
        <p:txBody>
          <a:bodyPr wrap="square" lIns="0" tIns="0" rIns="0" bIns="0" rtlCol="0" anchor="ctr"/>
          <a:lstStyle/>
          <a:p>
            <a:pPr marL="0" indent="0">
              <a:buNone/>
            </a:pPr>
            <a:r>
              <a:rPr lang="en-US" sz="1200" dirty="0">
                <a:solidFill>
                  <a:srgbClr val="9898B0"/>
                </a:solidFill>
                <a:latin typeface="Calibri" pitchFamily="34" charset="0"/>
                <a:ea typeface="Calibri" pitchFamily="34" charset="-122"/>
                <a:cs typeface="Calibri" pitchFamily="34" charset="-120"/>
              </a:rPr>
              <a:t>Rick Owens built a €125M business with no advertising. Helmut Lang's archive appreciates 20 years after he stopped designing. Comme des Garçons has operated independently for 56 years without conglomerate acquisition. The data is unambiguous: the scarcity model is not a niche curiosity; it is one of the most durable business models in fashion.</a:t>
            </a:r>
            <a:endParaRPr lang="en-US" sz="1200" dirty="0"/>
          </a:p>
        </p:txBody>
      </p:sp>
      <p:sp>
        <p:nvSpPr>
          <p:cNvPr id="8" name="Text 6"/>
          <p:cNvSpPr/>
          <p:nvPr/>
        </p:nvSpPr>
        <p:spPr>
          <a:xfrm>
            <a:off x="502920" y="5989320"/>
            <a:ext cx="8229600" cy="274320"/>
          </a:xfrm>
          <a:prstGeom prst="rect">
            <a:avLst/>
          </a:prstGeom>
          <a:noFill/>
          <a:ln/>
        </p:spPr>
        <p:txBody>
          <a:bodyPr wrap="square" lIns="0" tIns="0" rIns="0" bIns="0" rtlCol="0" anchor="ctr"/>
          <a:lstStyle/>
          <a:p>
            <a:pPr marL="0" indent="0">
              <a:buNone/>
            </a:pPr>
            <a:r>
              <a:rPr lang="en-US" sz="1000" dirty="0">
                <a:solidFill>
                  <a:srgbClr val="5A5A72"/>
                </a:solidFill>
                <a:latin typeface="Calibri" pitchFamily="34" charset="0"/>
                <a:ea typeface="Calibri" pitchFamily="34" charset="-122"/>
                <a:cs typeface="Calibri" pitchFamily="34" charset="-120"/>
              </a:rPr>
              <a:t>Omar Oudrari   ·   James Madison University   </a:t>
            </a:r>
            <a:endParaRPr lang="en-US" sz="1000" dirty="0"/>
          </a:p>
        </p:txBody>
      </p:sp>
      <p:sp>
        <p:nvSpPr>
          <p:cNvPr id="9" name="Text 7"/>
          <p:cNvSpPr/>
          <p:nvPr/>
        </p:nvSpPr>
        <p:spPr>
          <a:xfrm>
            <a:off x="502920" y="6291072"/>
            <a:ext cx="4572000" cy="228600"/>
          </a:xfrm>
          <a:prstGeom prst="rect">
            <a:avLst/>
          </a:prstGeom>
          <a:noFill/>
          <a:ln/>
        </p:spPr>
        <p:txBody>
          <a:bodyPr wrap="square" lIns="0" tIns="0" rIns="0" bIns="0" rtlCol="0" anchor="ctr"/>
          <a:lstStyle/>
          <a:p>
            <a:pPr marL="0" indent="0">
              <a:buNone/>
            </a:pPr>
            <a:r>
              <a:rPr lang="en-US" sz="900" dirty="0">
                <a:solidFill>
                  <a:srgbClr val="C9A96E"/>
                </a:solidFill>
                <a:latin typeface="Consolas" pitchFamily="34" charset="0"/>
                <a:ea typeface="Consolas" pitchFamily="34" charset="-122"/>
                <a:cs typeface="Consolas" pitchFamily="34" charset="-120"/>
              </a:rPr>
              <a:t>github.com/yrgomar</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2031</Words>
  <Application>Microsoft Office PowerPoint</Application>
  <PresentationFormat>Widescreen</PresentationFormat>
  <Paragraphs>243</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Durability Paradox</dc:title>
  <dc:subject>PptxGenJS Presentation</dc:subject>
  <dc:creator>Omar Oudrari</dc:creator>
  <cp:lastModifiedBy>Omar Oudrari</cp:lastModifiedBy>
  <cp:revision>2</cp:revision>
  <dcterms:created xsi:type="dcterms:W3CDTF">2026-03-16T00:40:53Z</dcterms:created>
  <dcterms:modified xsi:type="dcterms:W3CDTF">2026-03-16T01:18:39Z</dcterms:modified>
</cp:coreProperties>
</file>